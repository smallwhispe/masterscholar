
<file path=[Content_Types].xml><?xml version="1.0" encoding="utf-8"?>
<Types xmlns="http://schemas.openxmlformats.org/package/2006/content-types">
  <Default Extension="jpeg" ContentType="image/jpeg"/>
  <Default Extension="JPG" ContentType="image/.jp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321" r:id="rId5"/>
    <p:sldId id="315" r:id="rId6"/>
    <p:sldId id="329" r:id="rId7"/>
    <p:sldId id="323" r:id="rId8"/>
    <p:sldId id="325" r:id="rId9"/>
    <p:sldId id="318" r:id="rId10"/>
    <p:sldId id="319" r:id="rId11"/>
    <p:sldId id="326" r:id="rId12"/>
    <p:sldId id="327" r:id="rId13"/>
    <p:sldId id="320" r:id="rId14"/>
    <p:sldId id="309" r:id="rId15"/>
    <p:sldId id="328" r:id="rId16"/>
    <p:sldId id="330" r:id="rId17"/>
    <p:sldId id="291" r:id="rId18"/>
  </p:sldIdLst>
  <p:sldSz cx="12192000" cy="6858000"/>
  <p:notesSz cx="6858000" cy="9144000"/>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CC5FD"/>
    <a:srgbClr val="3A6695"/>
    <a:srgbClr val="134263"/>
    <a:srgbClr val="1E2B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3963" autoAdjust="0"/>
  </p:normalViewPr>
  <p:slideViewPr>
    <p:cSldViewPr snapToGrid="0">
      <p:cViewPr>
        <p:scale>
          <a:sx n="50" d="100"/>
          <a:sy n="50" d="100"/>
        </p:scale>
        <p:origin x="1260" y="35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gs" Target="tags/tag70.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CE4261-0CDD-45A3-84C2-311859DE5B0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F711DA-82CB-44C8-99EC-9CE596A896FB}"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各位老师、同学，大家好。我今天汇报的内容是论文《基于知识图谱的</a:t>
            </a:r>
            <a:r>
              <a:rPr lang="en-US" altLang="zh-CN"/>
              <a:t> OPC UA </a:t>
            </a:r>
            <a:r>
              <a:rPr lang="zh-CN" altLang="en-US"/>
              <a:t>信息模型自动构建方法》这篇论文面向实际工业现场的异构设备集成问题，提出了一个完整的自动化信息模型构建流程。</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当前制造业设备高度异构。不同厂家的机床、机器人、贴片机、焊接设备等通常使用不同的接口协议，不同的数据帧结构。这些异构特性给企业的信息化系统带来了明显的接入难度。为了让设备实现互联互通，工业界普遍使用</a:t>
            </a:r>
            <a:r>
              <a:rPr lang="en-US" altLang="zh-CN"/>
              <a:t> OPC UA </a:t>
            </a:r>
            <a:r>
              <a:rPr lang="zh-CN" altLang="en-US"/>
              <a:t>作为统一标准。</a:t>
            </a:r>
            <a:r>
              <a:rPr lang="en-US" altLang="zh-CN"/>
              <a:t>OPC UA </a:t>
            </a:r>
            <a:r>
              <a:rPr lang="zh-CN" altLang="en-US"/>
              <a:t>不仅是一种信息通讯协议，还包含一套完整的信息模型体系，用来描述设备的结构、属性、能力和数据。要让某台设备接入数字化系统，必须先为它构建</a:t>
            </a:r>
            <a:r>
              <a:rPr lang="en-US" altLang="zh-CN"/>
              <a:t> OPC UA </a:t>
            </a:r>
            <a:r>
              <a:rPr lang="zh-CN" altLang="en-US"/>
              <a:t>信息模型。</a:t>
            </a:r>
            <a:endParaRPr lang="zh-CN" altLang="en-US"/>
          </a:p>
          <a:p>
            <a:r>
              <a:rPr lang="zh-CN" altLang="en-US"/>
              <a:t>然而，传统建立</a:t>
            </a:r>
            <a:r>
              <a:rPr lang="en-US" altLang="zh-CN"/>
              <a:t> OPC UA </a:t>
            </a:r>
            <a:r>
              <a:rPr lang="zh-CN" altLang="en-US"/>
              <a:t>信息模型的方法主要依赖人工。工程师必须查阅设备手册、解析协议字段、理解设备结构，然后在建模工具中手动创建节点、变量和引用关系。这种方式存在明显的问题：第一，耗时长；第二，易出错；第三，难以复用；第四，无法适应大量设备快速上线的需求。因此，工业界需要一种自动化的信息模型构建方法，让设备接入过程更加高效、标准化和可复用。</a:t>
            </a:r>
            <a:endParaRPr lang="zh-CN" altLang="en-US"/>
          </a:p>
          <a:p>
            <a:r>
              <a:rPr lang="zh-CN" altLang="en-US"/>
              <a:t>另一方面，</a:t>
            </a:r>
            <a:r>
              <a:rPr lang="en-US" altLang="zh-CN"/>
              <a:t>OPC UA</a:t>
            </a:r>
            <a:r>
              <a:rPr lang="zh-CN" altLang="en-US"/>
              <a:t>信息模型本质上是一个三元组知识库，由代表节点之间关系的节点和边组成，信息模型具有与</a:t>
            </a:r>
            <a:r>
              <a:rPr lang="en-US" altLang="zh-CN"/>
              <a:t>KG</a:t>
            </a:r>
            <a:r>
              <a:rPr lang="zh-CN" altLang="en-US"/>
              <a:t>相似的数据组织，基于上述动机，提出了一种基于</a:t>
            </a:r>
            <a:r>
              <a:rPr lang="en-US" altLang="zh-CN"/>
              <a:t>OPC UA</a:t>
            </a:r>
            <a:r>
              <a:rPr lang="zh-CN" altLang="en-US"/>
              <a:t>的异构设备集成三层架构，并提出了一种基于开放世界知识补全的</a:t>
            </a:r>
            <a:r>
              <a:rPr lang="en-US" altLang="zh-CN"/>
              <a:t>OPC UA</a:t>
            </a:r>
            <a:r>
              <a:rPr lang="zh-CN" altLang="en-US"/>
              <a:t>信息模型自动构建方法。</a:t>
            </a:r>
            <a:endParaRPr lang="zh-CN" altLang="en-US"/>
          </a:p>
          <a:p>
            <a:r>
              <a:rPr lang="zh-CN" altLang="en-US"/>
              <a:t>论文提出的核心目标，就是实现</a:t>
            </a:r>
            <a:r>
              <a:rPr lang="en-US" altLang="zh-CN"/>
              <a:t> </a:t>
            </a:r>
            <a:r>
              <a:rPr lang="zh-CN" altLang="en-US"/>
              <a:t>基于知识图谱的</a:t>
            </a:r>
            <a:r>
              <a:rPr lang="en-US" altLang="zh-CN"/>
              <a:t> OPC UA </a:t>
            </a:r>
            <a:r>
              <a:rPr lang="zh-CN" altLang="en-US"/>
              <a:t>信息模型自动构建。论文希望在边缘智能网关上实现从</a:t>
            </a:r>
            <a:r>
              <a:rPr lang="en-US" altLang="zh-CN"/>
              <a:t>“</a:t>
            </a:r>
            <a:r>
              <a:rPr lang="zh-CN" altLang="en-US"/>
              <a:t>原始数据帧</a:t>
            </a:r>
            <a:r>
              <a:rPr lang="en-US" altLang="zh-CN"/>
              <a:t>”</a:t>
            </a:r>
            <a:r>
              <a:rPr lang="zh-CN" altLang="en-US"/>
              <a:t>到</a:t>
            </a:r>
            <a:r>
              <a:rPr lang="en-US" altLang="zh-CN"/>
              <a:t>“</a:t>
            </a:r>
            <a:r>
              <a:rPr lang="zh-CN" altLang="en-US"/>
              <a:t>完整</a:t>
            </a:r>
            <a:r>
              <a:rPr lang="en-US" altLang="zh-CN"/>
              <a:t> OPC UA </a:t>
            </a:r>
            <a:r>
              <a:rPr lang="zh-CN" altLang="en-US"/>
              <a:t>信息模型</a:t>
            </a:r>
            <a:r>
              <a:rPr lang="en-US" altLang="zh-CN"/>
              <a:t>”</a:t>
            </a:r>
            <a:r>
              <a:rPr lang="zh-CN" altLang="en-US"/>
              <a:t>的全流程自动化处理。具体包括三个关键任务：</a:t>
            </a:r>
            <a:endParaRPr lang="zh-CN" altLang="en-US"/>
          </a:p>
          <a:p>
            <a:r>
              <a:rPr lang="zh-CN" altLang="en-US"/>
              <a:t>第一，自动识别设备类型。不同设备有不同的知识图谱，设备类型决定了后续建模所使用的知识图谱结构，所以需要首先确定设备的类别。</a:t>
            </a:r>
            <a:endParaRPr lang="zh-CN" altLang="en-US"/>
          </a:p>
          <a:p>
            <a:r>
              <a:rPr lang="zh-CN" altLang="en-US"/>
              <a:t>第二，基于知识图谱完成开放世界知识补全。未知设备的数据帧中包含许多知识图谱中未出现过的实体，需要自动判断它们应该挂在图谱中的哪个父节点下。</a:t>
            </a:r>
            <a:endParaRPr lang="zh-CN" altLang="en-US"/>
          </a:p>
          <a:p>
            <a:r>
              <a:rPr lang="zh-CN" altLang="en-US"/>
              <a:t>第三，自动生成</a:t>
            </a:r>
            <a:r>
              <a:rPr lang="en-US" altLang="zh-CN"/>
              <a:t> OPC UA </a:t>
            </a:r>
            <a:r>
              <a:rPr lang="zh-CN" altLang="en-US"/>
              <a:t>节点集</a:t>
            </a:r>
            <a:r>
              <a:rPr lang="en-US" altLang="zh-CN"/>
              <a:t> XML </a:t>
            </a:r>
            <a:r>
              <a:rPr lang="zh-CN" altLang="en-US"/>
              <a:t>文件，并构造</a:t>
            </a:r>
            <a:r>
              <a:rPr lang="en-US" altLang="zh-CN"/>
              <a:t> OPC UA </a:t>
            </a:r>
            <a:r>
              <a:rPr lang="zh-CN" altLang="en-US"/>
              <a:t>服务器的地址空间。</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OPC UA </a:t>
            </a:r>
            <a:r>
              <a:rPr lang="zh-CN" altLang="en-US"/>
              <a:t>信息模型是一种面向对象的语义建模结构。其核心由两部分组成：节点（</a:t>
            </a:r>
            <a:r>
              <a:rPr lang="en-US" altLang="zh-CN"/>
              <a:t>Node</a:t>
            </a:r>
            <a:r>
              <a:rPr lang="zh-CN" altLang="en-US"/>
              <a:t>）和引用（</a:t>
            </a:r>
            <a:r>
              <a:rPr lang="en-US" altLang="zh-CN"/>
              <a:t>Reference</a:t>
            </a:r>
            <a:r>
              <a:rPr lang="zh-CN" altLang="en-US"/>
              <a:t>）。节点用于表示系统中的各种信息实体，引用则用于描述节点之间的语义关系。这样构建的信息模型不仅能完整表达设备的层次结构和属性关系，还支持类型复用和自动实例化，实现了从物理资产到数字模型的统一语义映射。</a:t>
            </a:r>
            <a:r>
              <a:rPr lang="en-US" altLang="zh-CN"/>
              <a:t>OPC UA</a:t>
            </a:r>
            <a:r>
              <a:rPr lang="zh-CN" altLang="en-US"/>
              <a:t>信息模型在形式上被视为</a:t>
            </a:r>
            <a:r>
              <a:rPr lang="en-US" altLang="zh-CN"/>
              <a:t>KG</a:t>
            </a:r>
            <a:r>
              <a:rPr lang="zh-CN" altLang="en-US"/>
              <a:t>的一种特殊类型，称为信息模型知识图谱</a:t>
            </a:r>
            <a:r>
              <a:rPr lang="en-US" altLang="zh-CN"/>
              <a:t>(IMKG)</a:t>
            </a:r>
            <a:r>
              <a:rPr lang="zh-CN" altLang="en-US"/>
              <a:t>。然后，利用开放世界知识补全任务，将新接入设备的看不见的组件和属性链接到相应的</a:t>
            </a:r>
            <a:r>
              <a:rPr lang="en-US" altLang="zh-CN"/>
              <a:t>IMKG,</a:t>
            </a:r>
            <a:r>
              <a:rPr lang="zh-CN" altLang="en-US"/>
              <a:t>实现在开放制造环境下，对新接入的设备自动在线构建</a:t>
            </a:r>
            <a:r>
              <a:rPr lang="en-US" altLang="zh-CN"/>
              <a:t>OPC UA</a:t>
            </a:r>
            <a:r>
              <a:rPr lang="zh-CN" altLang="en-US"/>
              <a:t>信息模型。</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我们刚刚提到开放世界知识补全，实际上基于</a:t>
            </a:r>
            <a:r>
              <a:rPr lang="en-US" altLang="zh-CN"/>
              <a:t>OPC UA</a:t>
            </a:r>
            <a:r>
              <a:rPr lang="zh-CN" altLang="en-US"/>
              <a:t>知识图谱补全的研究已经有一些了，但是大多集中于封闭世界知识补全，也就是说在已经存在的实体和关系上进行新建模板的操作，一方面部分需要人工建模，另一方面自动化不足，需要对新接入设备的先验知识。</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论文提出了一套三层架构，包括设备层、边缘层和应用层。设备层包含实际的工业设备，例如数控机床、工业机器人、贴片机等，它们通过各种协议将状态数据发送到系统中。应用层包括</a:t>
            </a:r>
            <a:r>
              <a:rPr lang="en-US" altLang="zh-CN"/>
              <a:t> MES</a:t>
            </a:r>
            <a:r>
              <a:rPr lang="zh-CN" altLang="en-US"/>
              <a:t>、</a:t>
            </a:r>
            <a:r>
              <a:rPr lang="en-US" altLang="zh-CN"/>
              <a:t>ERP</a:t>
            </a:r>
            <a:r>
              <a:rPr lang="zh-CN" altLang="en-US"/>
              <a:t>、云平台等，它们通过</a:t>
            </a:r>
            <a:r>
              <a:rPr lang="en-US" altLang="zh-CN"/>
              <a:t> OPC UA </a:t>
            </a:r>
            <a:r>
              <a:rPr lang="zh-CN" altLang="en-US"/>
              <a:t>接口访问设备信息。</a:t>
            </a:r>
            <a:endParaRPr lang="zh-CN" altLang="en-US"/>
          </a:p>
          <a:p>
            <a:r>
              <a:rPr lang="zh-CN" altLang="en-US"/>
              <a:t>最重要的部分在中间的边缘层。边缘层包含一个</a:t>
            </a:r>
            <a:r>
              <a:rPr lang="en-US" altLang="zh-CN"/>
              <a:t>“</a:t>
            </a:r>
            <a:r>
              <a:rPr lang="zh-CN" altLang="en-US"/>
              <a:t>边缘智能网关</a:t>
            </a:r>
            <a:r>
              <a:rPr lang="en-US" altLang="zh-CN"/>
              <a:t>”</a:t>
            </a:r>
            <a:r>
              <a:rPr lang="zh-CN" altLang="en-US"/>
              <a:t>，它承担全部自动构建任务。网关内部包含五个模块：数据采集模块、设备类型识别模块、开放世界知识补全模块、</a:t>
            </a:r>
            <a:r>
              <a:rPr lang="en-US" altLang="zh-CN"/>
              <a:t>IMKG </a:t>
            </a:r>
            <a:r>
              <a:rPr lang="zh-CN" altLang="en-US"/>
              <a:t>模块和</a:t>
            </a:r>
            <a:r>
              <a:rPr lang="en-US" altLang="zh-CN"/>
              <a:t> OPC UA </a:t>
            </a:r>
            <a:r>
              <a:rPr lang="zh-CN" altLang="en-US"/>
              <a:t>服务器模块。</a:t>
            </a:r>
            <a:endParaRPr lang="zh-CN" altLang="en-US"/>
          </a:p>
          <a:p>
            <a:r>
              <a:rPr lang="zh-CN" altLang="en-US"/>
              <a:t>数据采集模块负责与设备通信，接收设备数据帧，并使用内置的协议解析器将各种格式的帧解析成</a:t>
            </a:r>
            <a:r>
              <a:rPr lang="en-US" altLang="zh-CN"/>
              <a:t> JSON </a:t>
            </a:r>
            <a:r>
              <a:rPr lang="zh-CN" altLang="en-US"/>
              <a:t>数据帧。解析后的</a:t>
            </a:r>
            <a:r>
              <a:rPr lang="en-US" altLang="zh-CN"/>
              <a:t> JSON </a:t>
            </a:r>
            <a:r>
              <a:rPr lang="zh-CN" altLang="en-US"/>
              <a:t>中包含键值对，其中键较为稳定，而值会随设备实时状态变化。论文明确指出，在后续处理中，只使用键，因为键更能反映设备结构信息。</a:t>
            </a:r>
            <a:endParaRPr lang="zh-CN" altLang="en-US"/>
          </a:p>
          <a:p>
            <a:r>
              <a:rPr lang="zh-CN" altLang="en-US"/>
              <a:t>设备类型识别模块使用深度学习模型</a:t>
            </a:r>
            <a:r>
              <a:rPr lang="en-US" altLang="zh-CN"/>
              <a:t> CTCNN</a:t>
            </a:r>
            <a:r>
              <a:rPr lang="zh-CN" altLang="en-US"/>
              <a:t>，根据键的序列判断设备类别。识别准确后，系统会选择对应设备类型的</a:t>
            </a:r>
            <a:r>
              <a:rPr lang="en-US" altLang="zh-CN"/>
              <a:t> IMKG</a:t>
            </a:r>
            <a:r>
              <a:rPr lang="zh-CN" altLang="en-US"/>
              <a:t>，即信息模型知识图谱。每种设备类型一个独立图谱，以增强推理效率。</a:t>
            </a:r>
            <a:endParaRPr lang="zh-CN" altLang="en-US"/>
          </a:p>
          <a:p>
            <a:r>
              <a:rPr lang="zh-CN" altLang="en-US"/>
              <a:t>知识补全模块负责将数据帧中的新实体补全到</a:t>
            </a:r>
            <a:r>
              <a:rPr lang="en-US" altLang="zh-CN"/>
              <a:t> IMKG </a:t>
            </a:r>
            <a:r>
              <a:rPr lang="zh-CN" altLang="en-US"/>
              <a:t>中。论文使用</a:t>
            </a:r>
            <a:r>
              <a:rPr lang="en-US" altLang="zh-CN"/>
              <a:t> ComplEx </a:t>
            </a:r>
            <a:r>
              <a:rPr lang="zh-CN" altLang="en-US"/>
              <a:t>图嵌入模型，并提出字符级词嵌入方法，使模型能处理缩写和不标准命名。</a:t>
            </a:r>
            <a:endParaRPr lang="zh-CN" altLang="en-US"/>
          </a:p>
          <a:p>
            <a:r>
              <a:rPr lang="en-US" altLang="zh-CN"/>
              <a:t>IMKG </a:t>
            </a:r>
            <a:r>
              <a:rPr lang="zh-CN" altLang="en-US"/>
              <a:t>模块存储所有设备类型的知识图谱，以图结构形式表达</a:t>
            </a:r>
            <a:r>
              <a:rPr lang="en-US" altLang="zh-CN"/>
              <a:t> OPC UA </a:t>
            </a:r>
            <a:r>
              <a:rPr lang="zh-CN" altLang="en-US"/>
              <a:t>的逻辑。</a:t>
            </a:r>
            <a:endParaRPr lang="zh-CN" altLang="en-US"/>
          </a:p>
          <a:p>
            <a:r>
              <a:rPr lang="zh-CN" altLang="en-US"/>
              <a:t>最后，</a:t>
            </a:r>
            <a:r>
              <a:rPr lang="en-US" altLang="zh-CN"/>
              <a:t>OPC UA </a:t>
            </a:r>
            <a:r>
              <a:rPr lang="zh-CN" altLang="en-US"/>
              <a:t>服务器模块将生成的节点集合加载到服务器，实现统一访问。</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所以整体流程框架就是首先通过设备类型识别模块识别设备类别</a:t>
            </a:r>
            <a:r>
              <a:rPr lang="en-US" altLang="zh-CN"/>
              <a:t>(</a:t>
            </a:r>
            <a:r>
              <a:rPr lang="zh-CN" altLang="en-US"/>
              <a:t>即后文中</a:t>
            </a:r>
            <a:r>
              <a:rPr lang="en-US" altLang="zh-CN"/>
              <a:t>IMKG)</a:t>
            </a:r>
            <a:endParaRPr lang="en-US" altLang="zh-CN"/>
          </a:p>
          <a:p>
            <a:r>
              <a:rPr lang="zh-CN" altLang="en-US"/>
              <a:t>然后知识补全模块通过</a:t>
            </a:r>
            <a:r>
              <a:rPr lang="en-US" altLang="zh-CN"/>
              <a:t>CBOW</a:t>
            </a:r>
            <a:r>
              <a:rPr lang="zh-CN" altLang="en-US"/>
              <a:t>模型将未知设备或设备信息转化为向量等待补全和建模</a:t>
            </a:r>
            <a:endParaRPr lang="zh-CN" altLang="en-US"/>
          </a:p>
          <a:p>
            <a:r>
              <a:rPr lang="zh-CN" altLang="en-US"/>
              <a:t>最后知识补全模块对目标向量进行匹配，匹配结束进行</a:t>
            </a:r>
            <a:r>
              <a:rPr lang="en-US" altLang="zh-CN"/>
              <a:t>OPC UA</a:t>
            </a:r>
            <a:r>
              <a:rPr lang="zh-CN" altLang="en-US"/>
              <a:t>模板生成</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设备类型识别任务的输入是</a:t>
            </a:r>
            <a:r>
              <a:rPr lang="en-US" altLang="zh-CN"/>
              <a:t> JSON </a:t>
            </a:r>
            <a:r>
              <a:rPr lang="zh-CN" altLang="en-US"/>
              <a:t>数据帧中的键序列，输出是设备所属类别。论文选择字符级深度学习模型</a:t>
            </a:r>
            <a:r>
              <a:rPr lang="en-US" altLang="zh-CN"/>
              <a:t> CTCNN</a:t>
            </a:r>
            <a:r>
              <a:rPr lang="zh-CN" altLang="en-US"/>
              <a:t>。原因包括：第一，工业设备字段名称通常是缩写组合，词级语义不清晰；第二，词向量难以覆盖大量专业缩写；第三，字符级方法可以直接利用每个字符的信息。</a:t>
            </a:r>
            <a:endParaRPr lang="zh-CN" altLang="en-US"/>
          </a:p>
          <a:p>
            <a:r>
              <a:rPr lang="zh-CN" altLang="en-US"/>
              <a:t>模型的具体结构是，首先基于数据帧语料库创建一个字母表，初始化每个字符的</a:t>
            </a:r>
            <a:r>
              <a:rPr lang="en-US" altLang="zh-CN"/>
              <a:t>embedding</a:t>
            </a:r>
            <a:r>
              <a:rPr lang="zh-CN" altLang="en-US"/>
              <a:t>，然后将数据帧的键序列视为一个长的字符序列，输入模型。接着，采用多种大小的卷积核抽取不同长度的局部特征。随后，通过池化层做最大池化得到固定维度的向量表示。最后，通过全连接层和激活函数等等得到类型分类结果。</a:t>
            </a:r>
            <a:endParaRPr lang="zh-CN" altLang="en-US"/>
          </a:p>
          <a:p>
            <a:r>
              <a:rPr lang="zh-CN" altLang="en-US"/>
              <a:t>设备类型识别模块的输出是一个设备类型类别。例如识别结果为</a:t>
            </a:r>
            <a:r>
              <a:rPr lang="en-US" altLang="zh-CN"/>
              <a:t> CNC</a:t>
            </a:r>
            <a:r>
              <a:rPr lang="zh-CN" altLang="en-US"/>
              <a:t>，则系统会选择</a:t>
            </a:r>
            <a:r>
              <a:rPr lang="en-US" altLang="zh-CN"/>
              <a:t> CNC </a:t>
            </a:r>
            <a:r>
              <a:rPr lang="zh-CN" altLang="en-US"/>
              <a:t>设备的</a:t>
            </a:r>
            <a:r>
              <a:rPr lang="en-US" altLang="zh-CN"/>
              <a:t> IMKG</a:t>
            </a:r>
            <a:r>
              <a:rPr lang="zh-CN" altLang="en-US"/>
              <a:t>，之后在对应种类设备图谱上进行补全。识别结果直接决定后续使用哪个知识图谱进行补全，因此这是整个自动建模流程的入口模块。</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论文中的</a:t>
            </a:r>
            <a:r>
              <a:rPr lang="en-US" altLang="zh-CN"/>
              <a:t> IMKG </a:t>
            </a:r>
            <a:r>
              <a:rPr lang="zh-CN" altLang="en-US"/>
              <a:t>不是从零开始自动生成的，而是基于</a:t>
            </a:r>
            <a:r>
              <a:rPr lang="en-US" altLang="zh-CN"/>
              <a:t> OPC UA </a:t>
            </a:r>
            <a:r>
              <a:rPr lang="zh-CN" altLang="en-US"/>
              <a:t>官方参考信息模型和设备说明书预先构建的。每种设备类型都有一个独立的</a:t>
            </a:r>
            <a:r>
              <a:rPr lang="en-US" altLang="zh-CN"/>
              <a:t> IMKG </a:t>
            </a:r>
            <a:r>
              <a:rPr lang="zh-CN" altLang="en-US"/>
              <a:t>框架。对新设备进行建模时，系统首先通过</a:t>
            </a:r>
            <a:r>
              <a:rPr lang="en-US" altLang="zh-CN"/>
              <a:t> CTCNN </a:t>
            </a:r>
            <a:r>
              <a:rPr lang="zh-CN" altLang="en-US"/>
              <a:t>识别设备类型，从而决定应该使用哪个</a:t>
            </a:r>
            <a:r>
              <a:rPr lang="en-US" altLang="zh-CN"/>
              <a:t> IMKG</a:t>
            </a:r>
            <a:r>
              <a:rPr lang="zh-CN" altLang="en-US"/>
              <a:t>。识别后的设备数据帧中的未知字段再通过知识补全模块自动补充到该</a:t>
            </a:r>
            <a:r>
              <a:rPr lang="en-US" altLang="zh-CN"/>
              <a:t> IMKG </a:t>
            </a:r>
            <a:r>
              <a:rPr lang="zh-CN" altLang="en-US"/>
              <a:t>中。</a:t>
            </a:r>
            <a:endParaRPr lang="zh-CN" altLang="en-US"/>
          </a:p>
          <a:p>
            <a:r>
              <a:rPr lang="zh-CN" altLang="en-US"/>
              <a:t>识别设备类型后，系统会选择对应的</a:t>
            </a:r>
            <a:r>
              <a:rPr lang="en-US" altLang="zh-CN"/>
              <a:t> IMKG</a:t>
            </a:r>
            <a:r>
              <a:rPr lang="zh-CN" altLang="en-US"/>
              <a:t>。</a:t>
            </a:r>
            <a:r>
              <a:rPr lang="en-US" altLang="zh-CN"/>
              <a:t>IMKG </a:t>
            </a:r>
            <a:r>
              <a:rPr lang="zh-CN" altLang="en-US"/>
              <a:t>的构建基于</a:t>
            </a:r>
            <a:r>
              <a:rPr lang="en-US" altLang="zh-CN"/>
              <a:t> OPC </a:t>
            </a:r>
            <a:r>
              <a:rPr lang="zh-CN" altLang="en-US"/>
              <a:t>基金会提供的参考信息模型。</a:t>
            </a:r>
            <a:r>
              <a:rPr lang="en-US" altLang="zh-CN"/>
              <a:t>IMKG </a:t>
            </a:r>
            <a:r>
              <a:rPr lang="zh-CN" altLang="en-US"/>
              <a:t>是一个三元组图谱，实体为各种组件、功能模块、属性等；关系主要为</a:t>
            </a:r>
            <a:r>
              <a:rPr lang="en-US" altLang="zh-CN"/>
              <a:t> OPC UA </a:t>
            </a:r>
            <a:r>
              <a:rPr lang="zh-CN" altLang="en-US"/>
              <a:t>中的</a:t>
            </a:r>
            <a:r>
              <a:rPr lang="en-US" altLang="zh-CN"/>
              <a:t> HasComponent </a:t>
            </a:r>
            <a:r>
              <a:rPr lang="zh-CN" altLang="en-US"/>
              <a:t>和</a:t>
            </a:r>
            <a:r>
              <a:rPr lang="en-US" altLang="zh-CN"/>
              <a:t> HasProperty </a:t>
            </a:r>
            <a:r>
              <a:rPr lang="zh-CN" altLang="en-US"/>
              <a:t>等引用结构。</a:t>
            </a:r>
            <a:endParaRPr lang="zh-CN" altLang="en-US"/>
          </a:p>
          <a:p>
            <a:r>
              <a:rPr lang="zh-CN" altLang="en-US"/>
              <a:t>在处理未知设备时，数据帧中常常包含</a:t>
            </a:r>
            <a:r>
              <a:rPr lang="en-US" altLang="zh-CN"/>
              <a:t> IMKG </a:t>
            </a:r>
            <a:r>
              <a:rPr lang="zh-CN" altLang="en-US"/>
              <a:t>中未出现过的新键。系统必须自动判断这些键应该挂在</a:t>
            </a:r>
            <a:r>
              <a:rPr lang="en-US" altLang="zh-CN"/>
              <a:t> IMKG </a:t>
            </a:r>
            <a:r>
              <a:rPr lang="zh-CN" altLang="en-US"/>
              <a:t>的哪个父节点下，这属于开放世界知识补全问题。论文将补全任务表述为预测三元组中的头实体。例如补全</a:t>
            </a:r>
            <a:r>
              <a:rPr lang="en-US" altLang="zh-CN"/>
              <a:t> (?, HasComponent, tail) </a:t>
            </a:r>
            <a:r>
              <a:rPr lang="zh-CN" altLang="en-US"/>
              <a:t>中的</a:t>
            </a:r>
            <a:r>
              <a:rPr lang="en-US" altLang="zh-CN"/>
              <a:t> head</a:t>
            </a:r>
            <a:r>
              <a:rPr lang="zh-CN" altLang="en-US"/>
              <a:t>。</a:t>
            </a:r>
            <a:endParaRPr lang="zh-CN" altLang="en-US"/>
          </a:p>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论文提出的另一个重要点是字符级实体嵌入。</a:t>
            </a:r>
            <a:r>
              <a:rPr lang="en-US" altLang="zh-CN">
                <a:sym typeface="+mn-ea"/>
              </a:rPr>
              <a:t>IMKG </a:t>
            </a:r>
            <a:r>
              <a:rPr lang="zh-CN" altLang="en-US">
                <a:sym typeface="+mn-ea"/>
              </a:rPr>
              <a:t>中的实体名称往往是专业缩写，不适合直接使用词级模型。因此，论文使用字符级</a:t>
            </a:r>
            <a:r>
              <a:rPr lang="en-US" altLang="zh-CN">
                <a:sym typeface="+mn-ea"/>
              </a:rPr>
              <a:t> CBOW </a:t>
            </a:r>
            <a:r>
              <a:rPr lang="zh-CN" altLang="en-US">
                <a:sym typeface="+mn-ea"/>
              </a:rPr>
              <a:t>模型学习实体名的字符嵌入，能够更好地捕捉名称内部结构。然后，使用</a:t>
            </a:r>
            <a:r>
              <a:rPr lang="en-US" altLang="zh-CN">
                <a:sym typeface="+mn-ea"/>
              </a:rPr>
              <a:t> MLP </a:t>
            </a:r>
            <a:r>
              <a:rPr lang="zh-CN" altLang="en-US">
                <a:sym typeface="+mn-ea"/>
              </a:rPr>
              <a:t>作为空间变换函数，将字符嵌入空间映射到</a:t>
            </a:r>
            <a:r>
              <a:rPr lang="en-US" altLang="zh-CN">
                <a:sym typeface="+mn-ea"/>
              </a:rPr>
              <a:t> ComplEx </a:t>
            </a:r>
            <a:r>
              <a:rPr lang="zh-CN" altLang="en-US">
                <a:sym typeface="+mn-ea"/>
              </a:rPr>
              <a:t>的</a:t>
            </a:r>
            <a:r>
              <a:rPr lang="en-US" altLang="zh-CN">
                <a:sym typeface="+mn-ea"/>
              </a:rPr>
              <a:t> KG </a:t>
            </a:r>
            <a:r>
              <a:rPr lang="zh-CN" altLang="en-US">
                <a:sym typeface="+mn-ea"/>
              </a:rPr>
              <a:t>嵌入空间。</a:t>
            </a:r>
            <a:endParaRPr lang="zh-CN" altLang="en-US"/>
          </a:p>
          <a:p>
            <a:r>
              <a:rPr lang="zh-CN" altLang="en-US">
                <a:sym typeface="+mn-ea"/>
              </a:rPr>
              <a:t>最终，系统枚举所有可能的头实体，通过</a:t>
            </a:r>
            <a:r>
              <a:rPr lang="en-US" altLang="zh-CN">
                <a:sym typeface="+mn-ea"/>
              </a:rPr>
              <a:t> ComplEx </a:t>
            </a:r>
            <a:r>
              <a:rPr lang="zh-CN" altLang="en-US">
                <a:sym typeface="+mn-ea"/>
              </a:rPr>
              <a:t>打分选择得分最高的节点作为补全结果。补全完成后，新设备对应的信息模型子图就可以从</a:t>
            </a:r>
            <a:r>
              <a:rPr lang="en-US" altLang="zh-CN">
                <a:sym typeface="+mn-ea"/>
              </a:rPr>
              <a:t> IMKG </a:t>
            </a:r>
            <a:r>
              <a:rPr lang="zh-CN" altLang="en-US">
                <a:sym typeface="+mn-ea"/>
              </a:rPr>
              <a:t>中抽取，为后续生成</a:t>
            </a:r>
            <a:r>
              <a:rPr lang="en-US" altLang="zh-CN">
                <a:sym typeface="+mn-ea"/>
              </a:rPr>
              <a:t> OPC UA Nodeset XML </a:t>
            </a:r>
            <a:r>
              <a:rPr lang="zh-CN" altLang="en-US">
                <a:sym typeface="+mn-ea"/>
              </a:rPr>
              <a:t>做准备。</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论文选择</a:t>
            </a:r>
            <a:r>
              <a:rPr lang="en-US" altLang="zh-CN">
                <a:sym typeface="+mn-ea"/>
              </a:rPr>
              <a:t> ComplEx </a:t>
            </a:r>
            <a:r>
              <a:rPr lang="zh-CN" altLang="en-US">
                <a:sym typeface="+mn-ea"/>
              </a:rPr>
              <a:t>模型作为知识图谱嵌入方法。理由包括：</a:t>
            </a:r>
            <a:r>
              <a:rPr lang="en-US" altLang="zh-CN">
                <a:sym typeface="+mn-ea"/>
              </a:rPr>
              <a:t>IMKG </a:t>
            </a:r>
            <a:r>
              <a:rPr lang="zh-CN" altLang="en-US">
                <a:sym typeface="+mn-ea"/>
              </a:rPr>
              <a:t>中存在大量</a:t>
            </a:r>
            <a:r>
              <a:rPr lang="en-US" altLang="zh-CN">
                <a:sym typeface="+mn-ea"/>
              </a:rPr>
              <a:t> 1-n </a:t>
            </a:r>
            <a:r>
              <a:rPr lang="zh-CN" altLang="en-US">
                <a:sym typeface="+mn-ea"/>
              </a:rPr>
              <a:t>关系和非对称关系，例如一个组件下可能有多个属性，而</a:t>
            </a:r>
            <a:r>
              <a:rPr lang="en-US" altLang="zh-CN">
                <a:sym typeface="+mn-ea"/>
              </a:rPr>
              <a:t> HasComponent </a:t>
            </a:r>
            <a:r>
              <a:rPr lang="zh-CN" altLang="en-US">
                <a:sym typeface="+mn-ea"/>
              </a:rPr>
              <a:t>是非对称关系。</a:t>
            </a:r>
            <a:r>
              <a:rPr lang="en-US" altLang="zh-CN">
                <a:sym typeface="+mn-ea"/>
              </a:rPr>
              <a:t>ComplEx </a:t>
            </a:r>
            <a:r>
              <a:rPr lang="zh-CN" altLang="en-US">
                <a:sym typeface="+mn-ea"/>
              </a:rPr>
              <a:t>使用复数向量，可以表达非对称关系，比</a:t>
            </a:r>
            <a:r>
              <a:rPr lang="en-US" altLang="zh-CN">
                <a:sym typeface="+mn-ea"/>
              </a:rPr>
              <a:t> TransE </a:t>
            </a:r>
            <a:r>
              <a:rPr lang="zh-CN" altLang="en-US">
                <a:sym typeface="+mn-ea"/>
              </a:rPr>
              <a:t>和</a:t>
            </a:r>
            <a:r>
              <a:rPr lang="en-US" altLang="zh-CN">
                <a:sym typeface="+mn-ea"/>
              </a:rPr>
              <a:t> DistMult </a:t>
            </a:r>
            <a:r>
              <a:rPr lang="zh-CN" altLang="en-US">
                <a:sym typeface="+mn-ea"/>
              </a:rPr>
              <a:t>更适合这种结构。</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在完成</a:t>
            </a:r>
            <a:r>
              <a:rPr lang="en-US" altLang="zh-CN"/>
              <a:t> IMKG </a:t>
            </a:r>
            <a:r>
              <a:rPr lang="zh-CN" altLang="en-US"/>
              <a:t>的知识补全之后，新设备相关的所有实体和关系都已经包含在知识图谱中。接下来需要将这部分语义信息转换成</a:t>
            </a:r>
            <a:r>
              <a:rPr lang="en-US" altLang="zh-CN"/>
              <a:t> OPC UA </a:t>
            </a:r>
            <a:r>
              <a:rPr lang="zh-CN" altLang="en-US"/>
              <a:t>可加载的信息模型模板。具体流程分为三步：第一步，从</a:t>
            </a:r>
            <a:r>
              <a:rPr lang="en-US" altLang="zh-CN"/>
              <a:t> Neo4j </a:t>
            </a:r>
            <a:r>
              <a:rPr lang="zh-CN" altLang="en-US"/>
              <a:t>中抽取该设备对应的子图，即所有与该设备相关的三元组；第二步，利用</a:t>
            </a:r>
            <a:r>
              <a:rPr lang="en-US" altLang="zh-CN"/>
              <a:t> Apache Jena </a:t>
            </a:r>
            <a:r>
              <a:rPr lang="zh-CN" altLang="en-US"/>
              <a:t>将这些三元组转换为</a:t>
            </a:r>
            <a:r>
              <a:rPr lang="en-US" altLang="zh-CN"/>
              <a:t> OWL </a:t>
            </a:r>
            <a:r>
              <a:rPr lang="zh-CN" altLang="en-US"/>
              <a:t>本体模型，并进一步解析为包含设备信息的中间</a:t>
            </a:r>
            <a:r>
              <a:rPr lang="en-US" altLang="zh-CN"/>
              <a:t> XML </a:t>
            </a:r>
            <a:r>
              <a:rPr lang="zh-CN" altLang="en-US"/>
              <a:t>文件；第三步，将中间</a:t>
            </a:r>
            <a:r>
              <a:rPr lang="en-US" altLang="zh-CN"/>
              <a:t> XML </a:t>
            </a:r>
            <a:r>
              <a:rPr lang="zh-CN" altLang="en-US"/>
              <a:t>输入</a:t>
            </a:r>
            <a:r>
              <a:rPr lang="en-US" altLang="zh-CN"/>
              <a:t> OPC </a:t>
            </a:r>
            <a:r>
              <a:rPr lang="zh-CN" altLang="en-US"/>
              <a:t>基金会提供的</a:t>
            </a:r>
            <a:r>
              <a:rPr lang="en-US" altLang="zh-CN"/>
              <a:t> UA-ModelCompiler </a:t>
            </a:r>
            <a:r>
              <a:rPr lang="zh-CN" altLang="en-US"/>
              <a:t>工具，生成符合</a:t>
            </a:r>
            <a:r>
              <a:rPr lang="en-US" altLang="zh-CN"/>
              <a:t> Nodeset XML </a:t>
            </a:r>
            <a:r>
              <a:rPr lang="zh-CN" altLang="en-US"/>
              <a:t>规范的</a:t>
            </a:r>
            <a:r>
              <a:rPr lang="en-US" altLang="zh-CN"/>
              <a:t> OPC UA </a:t>
            </a:r>
            <a:r>
              <a:rPr lang="zh-CN" altLang="en-US"/>
              <a:t>信息模型文件。该文件可以直接被</a:t>
            </a:r>
            <a:r>
              <a:rPr lang="en-US" altLang="zh-CN"/>
              <a:t> OPC UA </a:t>
            </a:r>
            <a:r>
              <a:rPr lang="zh-CN" altLang="en-US"/>
              <a:t>服务器加载，用于构建该设备的地址空间。</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论文进行了两类实验：设备类型识别实验和知识补全实验。</a:t>
            </a:r>
            <a:endParaRPr lang="zh-CN" altLang="en-US"/>
          </a:p>
          <a:p>
            <a:r>
              <a:rPr lang="zh-CN" altLang="en-US"/>
              <a:t>在类型识别实验中，数据来源于</a:t>
            </a:r>
            <a:r>
              <a:rPr lang="en-US" altLang="zh-CN"/>
              <a:t> 28 </a:t>
            </a:r>
            <a:r>
              <a:rPr lang="zh-CN" altLang="en-US"/>
              <a:t>台典型设备，涵盖六类设备，共</a:t>
            </a:r>
            <a:r>
              <a:rPr lang="en-US" altLang="zh-CN"/>
              <a:t> 1870 </a:t>
            </a:r>
            <a:r>
              <a:rPr lang="zh-CN" altLang="en-US"/>
              <a:t>条样本。</a:t>
            </a:r>
            <a:r>
              <a:rPr lang="en-US" altLang="zh-CN"/>
              <a:t>CTCNN </a:t>
            </a:r>
            <a:r>
              <a:rPr lang="zh-CN" altLang="en-US"/>
              <a:t>的</a:t>
            </a:r>
            <a:r>
              <a:rPr lang="en-US" altLang="zh-CN"/>
              <a:t> F1 </a:t>
            </a:r>
            <a:r>
              <a:rPr lang="zh-CN" altLang="en-US"/>
              <a:t>达到</a:t>
            </a:r>
            <a:r>
              <a:rPr lang="en-US" altLang="zh-CN"/>
              <a:t> 0.992</a:t>
            </a:r>
            <a:r>
              <a:rPr lang="zh-CN" altLang="en-US"/>
              <a:t>，显著高于</a:t>
            </a:r>
            <a:r>
              <a:rPr lang="en-US" altLang="zh-CN"/>
              <a:t> TextRNN </a:t>
            </a:r>
            <a:r>
              <a:rPr lang="zh-CN" altLang="en-US"/>
              <a:t>和</a:t>
            </a:r>
            <a:r>
              <a:rPr lang="en-US" altLang="zh-CN"/>
              <a:t> DPCNN</a:t>
            </a:r>
            <a:r>
              <a:rPr lang="zh-CN" altLang="en-US"/>
              <a:t>等传统文本模型。这证明字符级卷积网络非常适合处理工业数据帧的键序列，能够准确识别设备类型。一方面是字符级</a:t>
            </a:r>
            <a:r>
              <a:rPr lang="en-US" altLang="zh-CN"/>
              <a:t>CNN</a:t>
            </a:r>
            <a:r>
              <a:rPr lang="zh-CN" altLang="en-US"/>
              <a:t>更适合对数据帧直接分析，另一方面体量较小更适合融入到接下来的零代码平台等系统中</a:t>
            </a:r>
            <a:endParaRPr lang="zh-CN" altLang="en-US"/>
          </a:p>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sym typeface="+mn-ea"/>
              </a:rPr>
              <a:t>在知识补全实验中，论文基于</a:t>
            </a:r>
            <a:r>
              <a:rPr lang="en-US" altLang="zh-CN">
                <a:sym typeface="+mn-ea"/>
              </a:rPr>
              <a:t> CNC </a:t>
            </a:r>
            <a:r>
              <a:rPr lang="zh-CN" altLang="en-US">
                <a:sym typeface="+mn-ea"/>
              </a:rPr>
              <a:t>的信息模型构建了一个包含</a:t>
            </a:r>
            <a:r>
              <a:rPr lang="en-US" altLang="zh-CN">
                <a:sym typeface="+mn-ea"/>
              </a:rPr>
              <a:t> 2597 </a:t>
            </a:r>
            <a:r>
              <a:rPr lang="zh-CN" altLang="en-US">
                <a:sym typeface="+mn-ea"/>
              </a:rPr>
              <a:t>个实体的</a:t>
            </a:r>
            <a:r>
              <a:rPr lang="en-US" altLang="zh-CN">
                <a:sym typeface="+mn-ea"/>
              </a:rPr>
              <a:t> IMKG</a:t>
            </a:r>
            <a:r>
              <a:rPr lang="zh-CN" altLang="en-US">
                <a:sym typeface="+mn-ea"/>
              </a:rPr>
              <a:t>。测试集中所有头实体均为未出现实体，模拟开放世界场景。对比两种嵌入方式和三种变换方法，字符嵌入</a:t>
            </a:r>
            <a:r>
              <a:rPr lang="en-US" altLang="zh-CN">
                <a:sym typeface="+mn-ea"/>
              </a:rPr>
              <a:t> + MLP </a:t>
            </a:r>
            <a:r>
              <a:rPr lang="zh-CN" altLang="en-US">
                <a:sym typeface="+mn-ea"/>
              </a:rPr>
              <a:t>效果最好，在</a:t>
            </a:r>
            <a:r>
              <a:rPr lang="en-US" altLang="zh-CN">
                <a:sym typeface="+mn-ea"/>
              </a:rPr>
              <a:t> CNC </a:t>
            </a:r>
            <a:r>
              <a:rPr lang="zh-CN" altLang="en-US">
                <a:sym typeface="+mn-ea"/>
              </a:rPr>
              <a:t>数据集上，</a:t>
            </a:r>
            <a:r>
              <a:rPr lang="en-US" altLang="zh-CN">
                <a:sym typeface="+mn-ea"/>
              </a:rPr>
              <a:t>hit@1 </a:t>
            </a:r>
            <a:r>
              <a:rPr lang="zh-CN" altLang="en-US">
                <a:sym typeface="+mn-ea"/>
              </a:rPr>
              <a:t>达到</a:t>
            </a:r>
            <a:r>
              <a:rPr lang="en-US" altLang="zh-CN">
                <a:sym typeface="+mn-ea"/>
              </a:rPr>
              <a:t> 58%</a:t>
            </a:r>
            <a:r>
              <a:rPr lang="zh-CN" altLang="en-US">
                <a:sym typeface="+mn-ea"/>
              </a:rPr>
              <a:t>，</a:t>
            </a:r>
            <a:r>
              <a:rPr lang="en-US" altLang="zh-CN">
                <a:sym typeface="+mn-ea"/>
              </a:rPr>
              <a:t>hit@3 </a:t>
            </a:r>
            <a:r>
              <a:rPr lang="zh-CN" altLang="en-US">
                <a:sym typeface="+mn-ea"/>
              </a:rPr>
              <a:t>达到</a:t>
            </a:r>
            <a:r>
              <a:rPr lang="en-US" altLang="zh-CN">
                <a:sym typeface="+mn-ea"/>
              </a:rPr>
              <a:t> 94% </a:t>
            </a:r>
            <a:r>
              <a:rPr lang="zh-CN" altLang="en-US">
                <a:sym typeface="+mn-ea"/>
              </a:rPr>
              <a:t>以上，说明模型能可靠完成开放世界知识补全。</a:t>
            </a:r>
            <a:endParaRPr lang="zh-CN" altLang="en-US"/>
          </a:p>
          <a:p>
            <a:r>
              <a:rPr lang="zh-CN" altLang="en-US">
                <a:sym typeface="+mn-ea"/>
              </a:rPr>
              <a:t>此外，论文还展示了一个完整的实际设备案例，包括从数据帧输入，到类型识别、知识补全、</a:t>
            </a:r>
            <a:r>
              <a:rPr lang="en-US" altLang="zh-CN">
                <a:sym typeface="+mn-ea"/>
              </a:rPr>
              <a:t>XML </a:t>
            </a:r>
            <a:r>
              <a:rPr lang="zh-CN" altLang="en-US">
                <a:sym typeface="+mn-ea"/>
              </a:rPr>
              <a:t>生成，再到</a:t>
            </a:r>
            <a:r>
              <a:rPr lang="en-US" altLang="zh-CN">
                <a:sym typeface="+mn-ea"/>
              </a:rPr>
              <a:t> OPC UA </a:t>
            </a:r>
            <a:r>
              <a:rPr lang="zh-CN" altLang="en-US">
                <a:sym typeface="+mn-ea"/>
              </a:rPr>
              <a:t>服务器实时监控界面，验证了方法在工业场景中的可用性。</a:t>
            </a:r>
            <a:endParaRPr lang="zh-CN" altLang="en-US"/>
          </a:p>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论文提出了一种完整的基于知识图谱的</a:t>
            </a:r>
            <a:r>
              <a:rPr lang="en-US" altLang="zh-CN"/>
              <a:t> OPC UA </a:t>
            </a:r>
            <a:r>
              <a:rPr lang="zh-CN" altLang="en-US"/>
              <a:t>信息模型自动构建方法，实现了从数据帧到信息模型的端到端自动化处理。该方法具有三个主要优势：第一，使用字符级</a:t>
            </a:r>
            <a:r>
              <a:rPr lang="en-US" altLang="zh-CN"/>
              <a:t> CTCNN </a:t>
            </a:r>
            <a:r>
              <a:rPr lang="zh-CN" altLang="en-US"/>
              <a:t>高效识别设备类型；第二，使用</a:t>
            </a:r>
            <a:r>
              <a:rPr lang="en-US" altLang="zh-CN"/>
              <a:t> ComplEx </a:t>
            </a:r>
            <a:r>
              <a:rPr lang="zh-CN" altLang="en-US"/>
              <a:t>和字符级嵌入完成开放世界知识补全；第三，自动生成符合</a:t>
            </a:r>
            <a:r>
              <a:rPr lang="en-US" altLang="zh-CN"/>
              <a:t> OPC UA </a:t>
            </a:r>
            <a:r>
              <a:rPr lang="zh-CN" altLang="en-US"/>
              <a:t>规范的</a:t>
            </a:r>
            <a:r>
              <a:rPr lang="en-US" altLang="zh-CN"/>
              <a:t> XML </a:t>
            </a:r>
            <a:r>
              <a:rPr lang="zh-CN" altLang="en-US"/>
              <a:t>文件，能够快速部署。</a:t>
            </a:r>
            <a:endParaRPr lang="zh-CN" altLang="en-US"/>
          </a:p>
          <a:p>
            <a:r>
              <a:rPr lang="zh-CN" altLang="en-US"/>
              <a:t>未来我的计划是分两条路去走，一部分是尝试增加构建过程中的智能化，目前我在看一些关于多</a:t>
            </a:r>
            <a:r>
              <a:rPr lang="en-US" altLang="zh-CN"/>
              <a:t>Agent</a:t>
            </a:r>
            <a:r>
              <a:rPr lang="zh-CN" altLang="en-US"/>
              <a:t>自动化构建</a:t>
            </a:r>
            <a:r>
              <a:rPr lang="en-US" altLang="zh-CN"/>
              <a:t>OPC UA</a:t>
            </a:r>
            <a:r>
              <a:rPr lang="zh-CN" altLang="en-US"/>
              <a:t>模型的研究，比如</a:t>
            </a:r>
            <a:endParaRPr lang="zh-CN" altLang="en-US"/>
          </a:p>
          <a:p>
            <a:r>
              <a:rPr lang="zh-CN" altLang="en-US"/>
              <a:t>另一部分是扩展构建系统的语料，比如不仅仅通过设备数据帧去构建模型，而是利用一些非结构化的工业文本</a:t>
            </a:r>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EF711DA-82CB-44C8-99EC-9CE596A896FB}"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94536CA-A6C4-4358-AF93-5CCBD70D248C}"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8537B7A-7510-410A-AA53-45D600DA0276}"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36CA-A6C4-4358-AF93-5CCBD70D248C}"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537B7A-7510-410A-AA53-45D600DA0276}" type="slidenum">
              <a:rPr lang="zh-CN" altLang="en-US" smtClean="0"/>
            </a:fld>
            <a:endParaRPr lang="zh-CN" altLang="en-US"/>
          </a:p>
        </p:txBody>
      </p:sp>
      <p:sp>
        <p:nvSpPr>
          <p:cNvPr id="7" name="矩形 6"/>
          <p:cNvSpPr/>
          <p:nvPr userDrawn="1"/>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image" Target="../media/image2.png"/><Relationship Id="rId7" Type="http://schemas.microsoft.com/office/2007/relationships/media" Target="../media/media1.mp3"/><Relationship Id="rId6" Type="http://schemas.openxmlformats.org/officeDocument/2006/relationships/audio" Target="../media/media1.mp3"/><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1.png"/><Relationship Id="rId11" Type="http://schemas.openxmlformats.org/officeDocument/2006/relationships/notesSlide" Target="../notesSlides/notesSlide1.xml"/><Relationship Id="rId10" Type="http://schemas.openxmlformats.org/officeDocument/2006/relationships/slideLayout" Target="../slideLayouts/slideLayout7.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0" Type="http://schemas.openxmlformats.org/officeDocument/2006/relationships/notesSlide" Target="../notesSlides/notesSlide2.xml"/><Relationship Id="rId3" Type="http://schemas.openxmlformats.org/officeDocument/2006/relationships/tags" Target="../tags/tag7.xml"/><Relationship Id="rId29" Type="http://schemas.openxmlformats.org/officeDocument/2006/relationships/slideLayout" Target="../slideLayouts/slideLayout7.xml"/><Relationship Id="rId28" Type="http://schemas.openxmlformats.org/officeDocument/2006/relationships/tags" Target="../tags/tag31.xml"/><Relationship Id="rId27" Type="http://schemas.openxmlformats.org/officeDocument/2006/relationships/tags" Target="../tags/tag30.xml"/><Relationship Id="rId26" Type="http://schemas.openxmlformats.org/officeDocument/2006/relationships/tags" Target="../tags/tag29.xml"/><Relationship Id="rId25" Type="http://schemas.openxmlformats.org/officeDocument/2006/relationships/tags" Target="../tags/tag28.xml"/><Relationship Id="rId24" Type="http://schemas.openxmlformats.org/officeDocument/2006/relationships/tags" Target="../tags/tag27.xml"/><Relationship Id="rId23" Type="http://schemas.openxmlformats.org/officeDocument/2006/relationships/tags" Target="../tags/tag26.xml"/><Relationship Id="rId22" Type="http://schemas.openxmlformats.org/officeDocument/2006/relationships/tags" Target="../tags/tag25.xml"/><Relationship Id="rId21" Type="http://schemas.openxmlformats.org/officeDocument/2006/relationships/tags" Target="../tags/tag24.xml"/><Relationship Id="rId20" Type="http://schemas.openxmlformats.org/officeDocument/2006/relationships/image" Target="../media/image3.png"/><Relationship Id="rId2" Type="http://schemas.openxmlformats.org/officeDocument/2006/relationships/tags" Target="../tags/tag6.xml"/><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7.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42.xml"/><Relationship Id="rId7" Type="http://schemas.openxmlformats.org/officeDocument/2006/relationships/tags" Target="../tags/tag41.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image" Target="../media/image9.png"/><Relationship Id="rId2" Type="http://schemas.openxmlformats.org/officeDocument/2006/relationships/image" Target="../media/image8.png"/><Relationship Id="rId10" Type="http://schemas.openxmlformats.org/officeDocument/2006/relationships/notesSlide" Target="../notesSlides/notesSlide7.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48.xml"/><Relationship Id="rId7" Type="http://schemas.openxmlformats.org/officeDocument/2006/relationships/tags" Target="../tags/tag47.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3" Type="http://schemas.openxmlformats.org/officeDocument/2006/relationships/tags" Target="../tags/tag43.xml"/><Relationship Id="rId2" Type="http://schemas.openxmlformats.org/officeDocument/2006/relationships/image" Target="../media/image10.png"/><Relationship Id="rId10" Type="http://schemas.openxmlformats.org/officeDocument/2006/relationships/notesSlide" Target="../notesSlides/notesSlide8.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7.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7.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7.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9" Type="http://schemas.openxmlformats.org/officeDocument/2006/relationships/tags" Target="../tags/tag56.xml"/><Relationship Id="rId8" Type="http://schemas.openxmlformats.org/officeDocument/2006/relationships/tags" Target="../tags/tag55.xml"/><Relationship Id="rId7" Type="http://schemas.openxmlformats.org/officeDocument/2006/relationships/tags" Target="../tags/tag54.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0" Type="http://schemas.openxmlformats.org/officeDocument/2006/relationships/notesSlide" Target="../notesSlides/notesSlide14.xml"/><Relationship Id="rId2" Type="http://schemas.openxmlformats.org/officeDocument/2006/relationships/tags" Target="../tags/tag49.xml"/><Relationship Id="rId19" Type="http://schemas.openxmlformats.org/officeDocument/2006/relationships/slideLayout" Target="../slideLayouts/slideLayout7.xml"/><Relationship Id="rId18" Type="http://schemas.openxmlformats.org/officeDocument/2006/relationships/tags" Target="../tags/tag65.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 Type="http://schemas.openxmlformats.org/officeDocument/2006/relationships/tags" Target="../tags/tag61.xml"/><Relationship Id="rId13" Type="http://schemas.openxmlformats.org/officeDocument/2006/relationships/tags" Target="../tags/tag60.xml"/><Relationship Id="rId12" Type="http://schemas.openxmlformats.org/officeDocument/2006/relationships/tags" Target="../tags/tag59.xml"/><Relationship Id="rId11" Type="http://schemas.openxmlformats.org/officeDocument/2006/relationships/tags" Target="../tags/tag58.xml"/><Relationship Id="rId10" Type="http://schemas.openxmlformats.org/officeDocument/2006/relationships/tags" Target="../tags/tag57.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7.xml"/><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image" Target="../media/image3.png"/><Relationship Id="rId3" Type="http://schemas.openxmlformats.org/officeDocument/2006/relationships/tags" Target="../tags/tag67.xml"/><Relationship Id="rId2" Type="http://schemas.openxmlformats.org/officeDocument/2006/relationships/image" Target="../media/image1.png"/><Relationship Id="rId1" Type="http://schemas.openxmlformats.org/officeDocument/2006/relationships/tags" Target="../tags/tag6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2"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3"/>
            </p:custDataLst>
          </p:nvPr>
        </p:nvPicPr>
        <p:blipFill>
          <a:blip r:embed="rId2"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1760855"/>
            <a:ext cx="12192000" cy="330517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67335" y="2200910"/>
            <a:ext cx="11657965" cy="1014730"/>
          </a:xfrm>
          <a:prstGeom prst="rect">
            <a:avLst/>
          </a:prstGeom>
          <a:noFill/>
        </p:spPr>
        <p:txBody>
          <a:bodyPr wrap="square" rtlCol="0">
            <a:spAutoFit/>
          </a:bodyPr>
          <a:lstStyle/>
          <a:p>
            <a:pPr indent="0" algn="ctr" fontAlgn="auto"/>
            <a:r>
              <a:rPr lang="zh-CN" altLang="en-US" sz="6000" b="1" dirty="0">
                <a:solidFill>
                  <a:schemeClr val="bg1">
                    <a:lumMod val="95000"/>
                  </a:schemeClr>
                </a:solidFill>
                <a:latin typeface="微软雅黑" panose="020B0503020204020204" pitchFamily="34" charset="-122"/>
                <a:ea typeface="微软雅黑" panose="020B0503020204020204" pitchFamily="34" charset="-122"/>
              </a:rPr>
              <a:t>企业知识语义复用的工业建模研究</a:t>
            </a:r>
            <a:endParaRPr lang="zh-CN" altLang="en-US" sz="6000" b="1" dirty="0">
              <a:solidFill>
                <a:schemeClr val="bg1">
                  <a:lumMod val="95000"/>
                </a:schemeClr>
              </a:solidFill>
              <a:latin typeface="微软雅黑" panose="020B0503020204020204" pitchFamily="34" charset="-122"/>
              <a:ea typeface="微软雅黑" panose="020B0503020204020204" pitchFamily="34" charset="-122"/>
            </a:endParaRPr>
          </a:p>
        </p:txBody>
      </p:sp>
      <p:sp>
        <p:nvSpPr>
          <p:cNvPr id="16" name="TextBox 10"/>
          <p:cNvSpPr txBox="1"/>
          <p:nvPr/>
        </p:nvSpPr>
        <p:spPr>
          <a:xfrm>
            <a:off x="3924300" y="3529965"/>
            <a:ext cx="8001000" cy="1382395"/>
          </a:xfrm>
          <a:prstGeom prst="rect">
            <a:avLst/>
          </a:prstGeom>
          <a:noFill/>
        </p:spPr>
        <p:txBody>
          <a:bodyPr wrap="square" lIns="91416" tIns="45708" rIns="91416" bIns="45708"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algn="r"/>
            <a:r>
              <a:rPr lang="en-US" altLang="zh-CN" sz="2800">
                <a:sym typeface="+mn-ea"/>
              </a:rPr>
              <a:t>Knowledge graph based OPC UA information model automatic construction method for heterogeneous devices integration</a:t>
            </a:r>
            <a:endParaRPr lang="en-US" altLang="zh-CN" sz="2800">
              <a:sym typeface="+mn-ea"/>
            </a:endParaRPr>
          </a:p>
        </p:txBody>
      </p:sp>
      <p:sp>
        <p:nvSpPr>
          <p:cNvPr id="13" name="TextBox 6"/>
          <p:cNvSpPr txBox="1"/>
          <p:nvPr>
            <p:custDataLst>
              <p:tags r:id="rId4"/>
            </p:custDataLst>
          </p:nvPr>
        </p:nvSpPr>
        <p:spPr>
          <a:xfrm>
            <a:off x="4148436" y="5644929"/>
            <a:ext cx="1959610" cy="397510"/>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070C0"/>
                </a:solidFill>
                <a:latin typeface="微软雅黑" panose="020B0503020204020204" pitchFamily="34" charset="-122"/>
                <a:ea typeface="微软雅黑" panose="020B0503020204020204" pitchFamily="34" charset="-122"/>
              </a:rPr>
              <a:t>报告人</a:t>
            </a:r>
            <a:r>
              <a:rPr lang="zh-CN" altLang="en-US" dirty="0" smtClean="0">
                <a:solidFill>
                  <a:srgbClr val="0070C0"/>
                </a:solidFill>
                <a:latin typeface="微软雅黑" panose="020B0503020204020204" pitchFamily="34" charset="-122"/>
                <a:ea typeface="微软雅黑" panose="020B0503020204020204" pitchFamily="34" charset="-122"/>
              </a:rPr>
              <a:t>：</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刁浩宇</a:t>
            </a:r>
            <a:endParaRPr lang="zh-CN" altLang="en-US" dirty="0" smtClean="0">
              <a:solidFill>
                <a:srgbClr val="0070C0"/>
              </a:solidFill>
              <a:latin typeface="微软雅黑" panose="020B0503020204020204" pitchFamily="34" charset="-122"/>
              <a:ea typeface="微软雅黑" panose="020B0503020204020204" pitchFamily="34" charset="-122"/>
            </a:endParaRPr>
          </a:p>
        </p:txBody>
      </p:sp>
      <p:sp>
        <p:nvSpPr>
          <p:cNvPr id="14" name="TextBox 7"/>
          <p:cNvSpPr txBox="1"/>
          <p:nvPr>
            <p:custDataLst>
              <p:tags r:id="rId5"/>
            </p:custDataLst>
          </p:nvPr>
        </p:nvSpPr>
        <p:spPr>
          <a:xfrm>
            <a:off x="7083263" y="5644929"/>
            <a:ext cx="2184400" cy="397510"/>
          </a:xfrm>
          <a:prstGeom prst="rect">
            <a:avLst/>
          </a:prstGeom>
          <a:noFill/>
        </p:spPr>
        <p:txBody>
          <a:bodyPr wrap="none" lIns="91416" tIns="45708" rIns="91416" bIns="45708" rtlCol="0">
            <a:spAutoFit/>
          </a:bodyPr>
          <a:lstStyle/>
          <a:p>
            <a:pPr algn="ctr"/>
            <a:r>
              <a:rPr lang="zh-CN" altLang="en-US" sz="2000" b="1" dirty="0">
                <a:solidFill>
                  <a:srgbClr val="0070C0"/>
                </a:solidFill>
                <a:latin typeface="微软雅黑" panose="020B0503020204020204" pitchFamily="34" charset="-122"/>
                <a:ea typeface="微软雅黑" panose="020B0503020204020204" pitchFamily="34" charset="-122"/>
              </a:rPr>
              <a:t>报告时间</a:t>
            </a:r>
            <a:r>
              <a:rPr lang="zh-CN" altLang="en-US" sz="2000" dirty="0">
                <a:solidFill>
                  <a:srgbClr val="0070C0"/>
                </a:solidFill>
                <a:latin typeface="微软雅黑" panose="020B0503020204020204" pitchFamily="34" charset="-122"/>
                <a:ea typeface="微软雅黑" panose="020B0503020204020204" pitchFamily="34" charset="-122"/>
              </a:rPr>
              <a:t>：</a:t>
            </a:r>
            <a:r>
              <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rPr>
              <a:t>11.22</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4" name="Florian Bur - The Way">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609600" y="6311900"/>
            <a:ext cx="406400" cy="406400"/>
          </a:xfrm>
          <a:prstGeom prst="rect">
            <a:avLst/>
          </a:prstGeom>
        </p:spPr>
      </p:pic>
      <p:pic>
        <p:nvPicPr>
          <p:cNvPr id="2" name="图片 1" descr="校徽"/>
          <p:cNvPicPr>
            <a:picLocks noChangeAspect="1"/>
          </p:cNvPicPr>
          <p:nvPr/>
        </p:nvPicPr>
        <p:blipFill>
          <a:blip r:embed="rId9"/>
          <a:stretch>
            <a:fillRect/>
          </a:stretch>
        </p:blipFill>
        <p:spPr>
          <a:xfrm>
            <a:off x="3371215" y="83820"/>
            <a:ext cx="5438775" cy="15144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childTnLst>
            <p:audio>
              <p:cMediaNode vol="100000" numSld="100">
                <p:cTn id="2" repeatCount="indefinite" fill="hold" display="0">
                  <p:stCondLst>
                    <p:cond delay="indefinite"/>
                  </p:stCondLst>
                  <p:endCondLst>
                    <p:cond evt="onStopAudio" delay="0">
                      <p:tgtEl>
                        <p:sldTgt/>
                      </p:tgtEl>
                    </p:cond>
                  </p:endCondLst>
                </p:cTn>
                <p:tgtEl>
                  <p:spTgt spid="4"/>
                </p:tgtEl>
              </p:cMediaNode>
            </p:audio>
          </p:childTnLst>
        </p:cTn>
      </p:par>
    </p:tnLst>
    <p:bldLst>
      <p:bldP spid="8" grpId="0" bldLvl="0" animBg="1"/>
      <p:bldP spid="15" grpId="0"/>
      <p:bldP spid="16" grpId="0"/>
      <p:bldP spid="13"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custDataLst>
              <p:tags r:id="rId1"/>
            </p:custDataLst>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custDataLst>
              <p:tags r:id="rId2"/>
            </p:custDataLst>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custDataLst>
              <p:tags r:id="rId3"/>
            </p:custDataLst>
          </p:nvPr>
        </p:nvSpPr>
        <p:spPr>
          <a:xfrm>
            <a:off x="3231850"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custDataLst>
              <p:tags r:id="rId4"/>
            </p:custDataLst>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custDataLst>
              <p:tags r:id="rId5"/>
            </p:custDataLst>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rPr>
              <a:t>研究背景</a:t>
            </a:r>
            <a:endParaRPr lang="zh-CN" altLang="en-US" sz="1600" b="1" dirty="0">
              <a:solidFill>
                <a:schemeClr val="bg1"/>
              </a:solidFill>
              <a:latin typeface="微软雅黑" panose="020B0503020204020204" pitchFamily="34" charset="-122"/>
              <a:ea typeface="微软雅黑" panose="020B0503020204020204" pitchFamily="34" charset="-122"/>
            </a:endParaRPr>
          </a:p>
          <a:p>
            <a:pPr algn="ctr"/>
            <a:r>
              <a:rPr lang="zh-CN" altLang="en-US" sz="1600" b="1" dirty="0">
                <a:solidFill>
                  <a:schemeClr val="bg1"/>
                </a:solidFill>
                <a:latin typeface="微软雅黑" panose="020B0503020204020204" pitchFamily="34" charset="-122"/>
                <a:ea typeface="微软雅黑" panose="020B0503020204020204" pitchFamily="34" charset="-122"/>
              </a:rPr>
              <a:t>与动机</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7" name="TextBox 7"/>
          <p:cNvSpPr txBox="1"/>
          <p:nvPr>
            <p:custDataLst>
              <p:tags r:id="rId6"/>
            </p:custDataLst>
          </p:nvPr>
        </p:nvSpPr>
        <p:spPr>
          <a:xfrm>
            <a:off x="5051984" y="80649"/>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理论基础与相关研究</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8" name="TextBox 9"/>
          <p:cNvSpPr txBox="1"/>
          <p:nvPr>
            <p:custDataLst>
              <p:tags r:id="rId7"/>
            </p:custDataLst>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rPr>
              <a:t>研究总体框架</a:t>
            </a:r>
            <a:endParaRPr lang="zh-CN" altLang="en-US" sz="1600" b="1" dirty="0" smtClean="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custDataLst>
              <p:tags r:id="rId8"/>
            </p:custDataLst>
          </p:nvPr>
        </p:nvSpPr>
        <p:spPr>
          <a:xfrm>
            <a:off x="8478444" y="80649"/>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模型验证</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和评估</a:t>
            </a:r>
            <a:endParaRPr lang="zh-CN" altLang="en-US" sz="1600" b="1" dirty="0" smtClean="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TextBox 11"/>
          <p:cNvSpPr txBox="1"/>
          <p:nvPr>
            <p:custDataLst>
              <p:tags r:id="rId9"/>
            </p:custDataLst>
          </p:nvPr>
        </p:nvSpPr>
        <p:spPr>
          <a:xfrm>
            <a:off x="10387330" y="215900"/>
            <a:ext cx="14649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未来展望</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custDataLst>
              <p:tags r:id="rId10"/>
            </p:custDataLst>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custDataLst>
              <p:tags r:id="rId11"/>
            </p:custDataLst>
          </p:nvPr>
        </p:nvCxnSpPr>
        <p:spPr>
          <a:xfrm>
            <a:off x="4080812" y="4129165"/>
            <a:ext cx="1420495" cy="88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5" name="TextBox 6"/>
          <p:cNvSpPr txBox="1"/>
          <p:nvPr>
            <p:custDataLst>
              <p:tags r:id="rId12"/>
            </p:custDataLst>
          </p:nvPr>
        </p:nvSpPr>
        <p:spPr>
          <a:xfrm>
            <a:off x="4199890" y="3709035"/>
            <a:ext cx="1247775" cy="382270"/>
          </a:xfrm>
          <a:prstGeom prst="rect">
            <a:avLst/>
          </a:prstGeom>
          <a:noFill/>
        </p:spPr>
        <p:txBody>
          <a:bodyPr wrap="square" lIns="0" tIns="48000" rIns="0" bIns="48000" rtlCol="0">
            <a:spAutoFit/>
          </a:bodyPr>
          <a:lstStyle/>
          <a:p>
            <a:pPr algn="ct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865"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52" name="学论网-矩形 1"/>
          <p:cNvSpPr/>
          <p:nvPr>
            <p:custDataLst>
              <p:tags r:id="rId13"/>
            </p:custDataLst>
          </p:nvPr>
        </p:nvSpPr>
        <p:spPr>
          <a:xfrm>
            <a:off x="655955" y="909955"/>
            <a:ext cx="3133090" cy="187261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3" name="学论网-矩形 1"/>
          <p:cNvSpPr/>
          <p:nvPr>
            <p:custDataLst>
              <p:tags r:id="rId14"/>
            </p:custDataLst>
          </p:nvPr>
        </p:nvSpPr>
        <p:spPr>
          <a:xfrm>
            <a:off x="656590" y="2920365"/>
            <a:ext cx="3131820" cy="187452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4" name="学论网-矩形 1"/>
          <p:cNvSpPr/>
          <p:nvPr>
            <p:custDataLst>
              <p:tags r:id="rId15"/>
            </p:custDataLst>
          </p:nvPr>
        </p:nvSpPr>
        <p:spPr>
          <a:xfrm>
            <a:off x="655320" y="4932680"/>
            <a:ext cx="3133725" cy="187325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5" name="学论网-www.xuelun.me"/>
          <p:cNvSpPr txBox="1"/>
          <p:nvPr>
            <p:custDataLst>
              <p:tags r:id="rId16"/>
            </p:custDataLst>
          </p:nvPr>
        </p:nvSpPr>
        <p:spPr>
          <a:xfrm>
            <a:off x="749300" y="925830"/>
            <a:ext cx="2945130" cy="1717675"/>
          </a:xfrm>
          <a:prstGeom prst="rect">
            <a:avLst/>
          </a:prstGeom>
          <a:noFill/>
          <a:ln>
            <a:noFill/>
          </a:ln>
        </p:spPr>
        <p:txBody>
          <a:bodyPr wrap="square" lIns="0" tIns="0" rIns="0" bIns="0" rtlCol="0">
            <a:noAutofit/>
          </a:bodyPr>
          <a:lstStyle/>
          <a:p>
            <a:pPr algn="ctr">
              <a:lnSpc>
                <a:spcPct val="150000"/>
              </a:lnSpc>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rPr>
              <a:t>01</a:t>
            </a:r>
            <a:endPar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indent="406400" algn="l" fontAlgn="auto">
              <a:lnSpc>
                <a:spcPct val="150000"/>
              </a:lnSpc>
              <a:extLst>
                <a:ext uri="{35155182-B16C-46BC-9424-99874614C6A1}">
                  <wpsdc:indentchars xmlns:wpsdc="http://www.wps.cn/officeDocument/2017/drawingmlCustomData" val="200" checksum="1740828767"/>
                </a:ext>
              </a:extLst>
            </a:pPr>
            <a:r>
              <a:rPr sz="1600">
                <a:latin typeface="微软雅黑" panose="020B0503020204020204" pitchFamily="34" charset="-122"/>
                <a:ea typeface="微软雅黑" panose="020B0503020204020204" pitchFamily="34" charset="-122"/>
                <a:sym typeface="+mn-ea"/>
              </a:rPr>
              <a:t>企业知识分散于各系统，语义不统一，异构特性给企业的信息化系统带来了明显的接入难度</a:t>
            </a:r>
            <a:endParaRPr lang="zh-CN" altLang="en-US" sz="1600" dirty="0" smtClean="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56" name="学论网-www.xuelun.me"/>
          <p:cNvSpPr txBox="1"/>
          <p:nvPr>
            <p:custDataLst>
              <p:tags r:id="rId17"/>
            </p:custDataLst>
          </p:nvPr>
        </p:nvSpPr>
        <p:spPr>
          <a:xfrm>
            <a:off x="735965" y="2937510"/>
            <a:ext cx="2961640" cy="1717040"/>
          </a:xfrm>
          <a:prstGeom prst="rect">
            <a:avLst/>
          </a:prstGeom>
          <a:noFill/>
          <a:ln>
            <a:noFill/>
          </a:ln>
        </p:spPr>
        <p:txBody>
          <a:bodyPr wrap="square" lIns="0" tIns="0" rIns="0" bIns="0" rtlCol="0">
            <a:noAutofit/>
          </a:bodyPr>
          <a:lstStyle/>
          <a:p>
            <a:pPr algn="ctr">
              <a:lnSpc>
                <a:spcPct val="150000"/>
              </a:lnSpc>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rPr>
              <a:t>02</a:t>
            </a:r>
            <a:endPar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indent="457200" algn="l" fontAlgn="auto">
              <a:lnSpc>
                <a:spcPct val="150000"/>
              </a:lnSpc>
            </a:pPr>
            <a:r>
              <a:rPr sz="1600">
                <a:latin typeface="微软雅黑" panose="020B0503020204020204" pitchFamily="34" charset="-122"/>
                <a:ea typeface="微软雅黑" panose="020B0503020204020204" pitchFamily="34" charset="-122"/>
                <a:cs typeface="微软雅黑" panose="020B0503020204020204" pitchFamily="34" charset="-122"/>
                <a:sym typeface="+mn-ea"/>
              </a:rPr>
              <a:t>OPC UA 提供统一通信模型，但建模依赖人工。</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现有的方式都是基于对新接入设备的先验知识</a:t>
            </a:r>
            <a:endParaRPr lang="zh-CN"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7" name="学论网-www.xuelun.me"/>
          <p:cNvSpPr txBox="1"/>
          <p:nvPr>
            <p:custDataLst>
              <p:tags r:id="rId18"/>
            </p:custDataLst>
          </p:nvPr>
        </p:nvSpPr>
        <p:spPr>
          <a:xfrm>
            <a:off x="711835" y="5024120"/>
            <a:ext cx="2961640" cy="1642745"/>
          </a:xfrm>
          <a:prstGeom prst="rect">
            <a:avLst/>
          </a:prstGeom>
          <a:noFill/>
          <a:ln>
            <a:noFill/>
          </a:ln>
        </p:spPr>
        <p:txBody>
          <a:bodyPr wrap="square" lIns="0" tIns="0" rIns="0" bIns="0" rtlCol="0">
            <a:noAutofit/>
          </a:bodyPr>
          <a:lstStyle/>
          <a:p>
            <a:pPr algn="ctr">
              <a:lnSpc>
                <a:spcPct val="150000"/>
              </a:lnSpc>
            </a:pPr>
            <a:r>
              <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rPr>
              <a:t>03</a:t>
            </a:r>
            <a:endPar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indent="457200" algn="l" fontAlgn="auto">
              <a:lnSpc>
                <a:spcPct val="150000"/>
              </a:lnSpc>
              <a:buClrTx/>
              <a:buSzTx/>
              <a:buFontTx/>
            </a:pPr>
            <a:r>
              <a:rPr sz="1600">
                <a:latin typeface="微软雅黑" panose="020B0503020204020204" pitchFamily="34" charset="-122"/>
                <a:ea typeface="微软雅黑" panose="020B0503020204020204" pitchFamily="34" charset="-122"/>
                <a:cs typeface="微软雅黑" panose="020B0503020204020204" pitchFamily="34" charset="-122"/>
                <a:sym typeface="+mn-ea"/>
              </a:rPr>
              <a:t>知识图谱（EKG）具备语义统一潜力，同时OPC UA信息模型具有和KG相似的数据组织</a:t>
            </a:r>
            <a:endParaRPr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descr="校徽"/>
          <p:cNvPicPr>
            <a:picLocks noChangeAspect="1"/>
          </p:cNvPicPr>
          <p:nvPr>
            <p:custDataLst>
              <p:tags r:id="rId19"/>
            </p:custDataLst>
          </p:nvPr>
        </p:nvPicPr>
        <p:blipFill>
          <a:blip r:embed="rId20"/>
          <a:stretch>
            <a:fillRect/>
          </a:stretch>
        </p:blipFill>
        <p:spPr>
          <a:xfrm>
            <a:off x="281305" y="0"/>
            <a:ext cx="2687955" cy="749300"/>
          </a:xfrm>
          <a:prstGeom prst="rect">
            <a:avLst/>
          </a:prstGeom>
          <a:noFill/>
        </p:spPr>
      </p:pic>
      <p:sp>
        <p:nvSpPr>
          <p:cNvPr id="2" name="学论网-矩形 1"/>
          <p:cNvSpPr/>
          <p:nvPr>
            <p:custDataLst>
              <p:tags r:id="rId21"/>
            </p:custDataLst>
          </p:nvPr>
        </p:nvSpPr>
        <p:spPr>
          <a:xfrm>
            <a:off x="8115935" y="1289050"/>
            <a:ext cx="3268345" cy="199326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3" name="学论网-www.xuelun.me"/>
          <p:cNvSpPr txBox="1"/>
          <p:nvPr>
            <p:custDataLst>
              <p:tags r:id="rId22"/>
            </p:custDataLst>
          </p:nvPr>
        </p:nvSpPr>
        <p:spPr>
          <a:xfrm>
            <a:off x="8295005" y="1289050"/>
            <a:ext cx="2961640" cy="1691005"/>
          </a:xfrm>
          <a:prstGeom prst="rect">
            <a:avLst/>
          </a:prstGeom>
          <a:noFill/>
          <a:ln>
            <a:noFill/>
          </a:ln>
        </p:spPr>
        <p:txBody>
          <a:bodyPr wrap="square" lIns="0" tIns="0" rIns="0" bIns="0" rtlCol="0">
            <a:noAutofit/>
          </a:bodyPr>
          <a:lstStyle/>
          <a:p>
            <a:pPr indent="457200" algn="l" fontAlgn="auto">
              <a:lnSpc>
                <a:spcPct val="150000"/>
              </a:lnSpc>
              <a:buClrTx/>
              <a:buSzTx/>
              <a:buFontTx/>
            </a:pPr>
            <a:r>
              <a:rPr sz="1600">
                <a:latin typeface="微软雅黑" panose="020B0503020204020204" pitchFamily="34" charset="-122"/>
                <a:ea typeface="微软雅黑" panose="020B0503020204020204" pitchFamily="34" charset="-122"/>
                <a:cs typeface="微软雅黑" panose="020B0503020204020204" pitchFamily="34" charset="-122"/>
                <a:sym typeface="+mn-ea"/>
              </a:rPr>
              <a:t>实现 基于知识图谱的 OPC UA 信息模型自动构建。</a:t>
            </a:r>
            <a:endParaRPr sz="1600">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457200" algn="l" fontAlgn="auto">
              <a:lnSpc>
                <a:spcPct val="150000"/>
              </a:lnSpc>
              <a:buClrTx/>
              <a:buSzTx/>
              <a:buFontTx/>
            </a:pPr>
            <a:r>
              <a:rPr sz="1600">
                <a:latin typeface="微软雅黑" panose="020B0503020204020204" pitchFamily="34" charset="-122"/>
                <a:ea typeface="微软雅黑" panose="020B0503020204020204" pitchFamily="34" charset="-122"/>
                <a:cs typeface="微软雅黑" panose="020B0503020204020204" pitchFamily="34" charset="-122"/>
              </a:rPr>
              <a:t>实现从“原始数据帧”到“完整 OPC UA 信息模型”的全流程自动化处理</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 name="文本框 31"/>
          <p:cNvSpPr txBox="1"/>
          <p:nvPr>
            <p:custDataLst>
              <p:tags r:id="rId23"/>
            </p:custDataLst>
          </p:nvPr>
        </p:nvSpPr>
        <p:spPr>
          <a:xfrm>
            <a:off x="8419465" y="3745230"/>
            <a:ext cx="2701290" cy="466725"/>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sz="1600">
                <a:latin typeface="微软雅黑" panose="020B0503020204020204" pitchFamily="34" charset="-122"/>
                <a:ea typeface="微软雅黑" panose="020B0503020204020204" pitchFamily="34" charset="-122"/>
                <a:cs typeface="微软雅黑" panose="020B0503020204020204" pitchFamily="34" charset="-122"/>
              </a:rPr>
              <a:t>自动识别设备类型</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 name="文本框 6"/>
          <p:cNvSpPr txBox="1"/>
          <p:nvPr>
            <p:custDataLst>
              <p:tags r:id="rId24"/>
            </p:custDataLst>
          </p:nvPr>
        </p:nvSpPr>
        <p:spPr>
          <a:xfrm>
            <a:off x="8419465" y="4737100"/>
            <a:ext cx="2700020" cy="474345"/>
          </a:xfrm>
          <a:prstGeom prst="rect">
            <a:avLst/>
          </a:prstGeom>
          <a:solidFill>
            <a:schemeClr val="accent5">
              <a:lumMod val="40000"/>
              <a:lumOff val="60000"/>
            </a:schemeClr>
          </a:solidFill>
          <a:ln w="12700">
            <a:noFill/>
          </a:ln>
        </p:spPr>
        <p:txBody>
          <a:bodyPr wrap="square" rtlCol="0" anchor="ctr" anchorCtr="0">
            <a:noAutofit/>
          </a:bodyPr>
          <a:p>
            <a:pPr algn="ctr" fontAlgn="auto">
              <a:lnSpc>
                <a:spcPct val="100000"/>
              </a:lnSpc>
              <a:buClrTx/>
              <a:buSzTx/>
              <a:buFontTx/>
            </a:pPr>
            <a:r>
              <a:rPr sz="1600">
                <a:latin typeface="微软雅黑" panose="020B0503020204020204" pitchFamily="34" charset="-122"/>
                <a:ea typeface="微软雅黑" panose="020B0503020204020204" pitchFamily="34" charset="-122"/>
                <a:cs typeface="微软雅黑" panose="020B0503020204020204" pitchFamily="34" charset="-122"/>
              </a:rPr>
              <a:t>完成开放世界知识补全</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1" name="文本框 40"/>
          <p:cNvSpPr txBox="1"/>
          <p:nvPr>
            <p:custDataLst>
              <p:tags r:id="rId25"/>
            </p:custDataLst>
          </p:nvPr>
        </p:nvSpPr>
        <p:spPr>
          <a:xfrm>
            <a:off x="8418830" y="5789930"/>
            <a:ext cx="2700655" cy="467360"/>
          </a:xfrm>
          <a:prstGeom prst="rect">
            <a:avLst/>
          </a:prstGeom>
          <a:solidFill>
            <a:schemeClr val="accent5">
              <a:lumMod val="40000"/>
              <a:lumOff val="60000"/>
            </a:schemeClr>
          </a:solidFill>
          <a:ln w="12700">
            <a:noFill/>
          </a:ln>
        </p:spPr>
        <p:txBody>
          <a:bodyPr wrap="square" rtlCol="0" anchor="ctr" anchorCtr="0">
            <a:noAutofit/>
          </a:bodyPr>
          <a:p>
            <a:pPr algn="ctr">
              <a:lnSpc>
                <a:spcPct val="100000"/>
              </a:lnSpc>
              <a:buClrTx/>
              <a:buSzTx/>
              <a:buFontTx/>
            </a:pPr>
            <a:r>
              <a:rPr sz="1600">
                <a:latin typeface="微软雅黑" panose="020B0503020204020204" pitchFamily="34" charset="-122"/>
                <a:ea typeface="微软雅黑" panose="020B0503020204020204" pitchFamily="34" charset="-122"/>
                <a:cs typeface="微软雅黑" panose="020B0503020204020204" pitchFamily="34" charset="-122"/>
              </a:rPr>
              <a:t>构造XML文件及地址空间</a:t>
            </a:r>
            <a:endParaRPr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7" name="下箭头 76"/>
          <p:cNvSpPr/>
          <p:nvPr/>
        </p:nvSpPr>
        <p:spPr>
          <a:xfrm>
            <a:off x="9727565" y="427482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8" name="下箭头 77"/>
          <p:cNvSpPr/>
          <p:nvPr/>
        </p:nvSpPr>
        <p:spPr>
          <a:xfrm>
            <a:off x="9727565" y="532003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2" name="学论网-矩形 1"/>
          <p:cNvSpPr/>
          <p:nvPr>
            <p:custDataLst>
              <p:tags r:id="rId26"/>
            </p:custDataLst>
          </p:nvPr>
        </p:nvSpPr>
        <p:spPr>
          <a:xfrm>
            <a:off x="8121015" y="3562350"/>
            <a:ext cx="3266440" cy="284162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cxnSp>
        <p:nvCxnSpPr>
          <p:cNvPr id="13" name="直接连接符 12"/>
          <p:cNvCxnSpPr/>
          <p:nvPr>
            <p:custDataLst>
              <p:tags r:id="rId27"/>
            </p:custDataLst>
          </p:nvPr>
        </p:nvCxnSpPr>
        <p:spPr>
          <a:xfrm>
            <a:off x="6368082" y="4129165"/>
            <a:ext cx="1420495" cy="889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TextBox 6"/>
          <p:cNvSpPr txBox="1"/>
          <p:nvPr>
            <p:custDataLst>
              <p:tags r:id="rId28"/>
            </p:custDataLst>
          </p:nvPr>
        </p:nvSpPr>
        <p:spPr>
          <a:xfrm>
            <a:off x="6487160" y="3709035"/>
            <a:ext cx="1247775" cy="382270"/>
          </a:xfrm>
          <a:prstGeom prst="rect">
            <a:avLst/>
          </a:prstGeom>
          <a:noFill/>
        </p:spPr>
        <p:txBody>
          <a:bodyPr wrap="square" lIns="0" tIns="48000" rIns="0" bIns="48000" rtlCol="0">
            <a:spAutoFit/>
          </a:bodyPr>
          <a:lstStyle/>
          <a:p>
            <a:pPr algn="ct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研究</a:t>
            </a:r>
            <a:r>
              <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rPr>
              <a:t>目的</a:t>
            </a:r>
            <a:endParaRPr lang="zh-CN" altLang="en-US" sz="1865" b="1" dirty="0" smtClean="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5" name="下箭头 14"/>
          <p:cNvSpPr/>
          <p:nvPr/>
        </p:nvSpPr>
        <p:spPr>
          <a:xfrm rot="16200000">
            <a:off x="5925820" y="375539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6" grpId="0"/>
      <p:bldP spid="35" grpId="0"/>
      <p:bldP spid="52" grpId="0" bldLvl="0" animBg="1"/>
      <p:bldP spid="53" grpId="0" bldLvl="0" animBg="1"/>
      <p:bldP spid="54" grpId="0" bldLvl="0" animBg="1"/>
      <p:bldP spid="55" grpId="0"/>
      <p:bldP spid="56" grpId="0"/>
      <p:bldP spid="57" grpId="0"/>
      <p:bldP spid="2" grpId="0" bldLvl="0" animBg="1"/>
      <p:bldP spid="3" grpId="0"/>
      <p:bldP spid="12" grpId="0" bldLvl="0" animBg="1"/>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52695" y="87630"/>
            <a:ext cx="1344295" cy="557530"/>
          </a:xfrm>
          <a:prstGeom prst="rect">
            <a:avLst/>
          </a:prstGeom>
          <a:noFill/>
        </p:spPr>
        <p:txBody>
          <a:bodyPr wrap="square" lIns="0" tIns="48000" rIns="0" bIns="48000" rtlCol="0">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理论基础与相关研究</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a:p>
            <a:pPr algn="ct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研究总体框架</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79714" y="87634"/>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模型验证</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和评估</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sp>
        <p:nvSpPr>
          <p:cNvPr id="5" name="TextBox 11"/>
          <p:cNvSpPr txBox="1"/>
          <p:nvPr/>
        </p:nvSpPr>
        <p:spPr>
          <a:xfrm>
            <a:off x="10387330" y="215900"/>
            <a:ext cx="14649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608330" y="4533900"/>
            <a:ext cx="6781165" cy="1397000"/>
          </a:xfrm>
          <a:prstGeom prst="rect">
            <a:avLst/>
          </a:prstGeom>
        </p:spPr>
      </p:pic>
      <p:pic>
        <p:nvPicPr>
          <p:cNvPr id="20" name="图片 19"/>
          <p:cNvPicPr>
            <a:picLocks noChangeAspect="1"/>
          </p:cNvPicPr>
          <p:nvPr/>
        </p:nvPicPr>
        <p:blipFill>
          <a:blip r:embed="rId3"/>
          <a:stretch>
            <a:fillRect/>
          </a:stretch>
        </p:blipFill>
        <p:spPr>
          <a:xfrm>
            <a:off x="608330" y="1409700"/>
            <a:ext cx="6780530" cy="2019300"/>
          </a:xfrm>
          <a:prstGeom prst="rect">
            <a:avLst/>
          </a:prstGeom>
        </p:spPr>
      </p:pic>
      <p:sp>
        <p:nvSpPr>
          <p:cNvPr id="21" name="文本框 20"/>
          <p:cNvSpPr txBox="1"/>
          <p:nvPr/>
        </p:nvSpPr>
        <p:spPr>
          <a:xfrm>
            <a:off x="7909560" y="1236345"/>
            <a:ext cx="3347085" cy="2397760"/>
          </a:xfrm>
          <a:prstGeom prst="rect">
            <a:avLst/>
          </a:prstGeom>
          <a:solidFill>
            <a:schemeClr val="accent5">
              <a:lumMod val="40000"/>
              <a:lumOff val="60000"/>
            </a:schemeClr>
          </a:solidFill>
          <a:ln>
            <a:solidFill>
              <a:schemeClr val="accent1"/>
            </a:solidFill>
          </a:ln>
        </p:spPr>
        <p:txBody>
          <a:bodyPr wrap="square" rtlCol="0">
            <a:noAutofit/>
          </a:bodyPr>
          <a:p>
            <a:pPr indent="457200" algn="l" fontAlgn="auto">
              <a:lnSpc>
                <a:spcPct val="120000"/>
              </a:lnSpc>
              <a:buClrTx/>
              <a:buSzTx/>
              <a:buNone/>
              <a:extLst>
                <a:ext uri="{35155182-B16C-46BC-9424-99874614C6A1}">
                  <wpsdc:indentchars xmlns:wpsdc="http://www.wps.cn/officeDocument/2017/drawingmlCustomData" val="200" checksum="59296752"/>
                </a:ext>
              </a:extLst>
            </a:pP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信息模型的地址空间由</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Node</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Reference</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组成，</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Node</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为实际存在的物理资产；</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Reference</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为不同</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Node</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之间的关系，因此</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的数据模型实际上与知识图谱十分相似，</a:t>
            </a:r>
            <a:r>
              <a:rPr lang="en-US" altLang="zh-C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IMKG  </a:t>
            </a:r>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信息模型知识</a:t>
            </a:r>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图谱</a:t>
            </a:r>
            <a:endPar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0" name="文本框 29"/>
          <p:cNvSpPr txBox="1"/>
          <p:nvPr/>
        </p:nvSpPr>
        <p:spPr>
          <a:xfrm>
            <a:off x="7909560" y="4339590"/>
            <a:ext cx="3347085" cy="1816735"/>
          </a:xfrm>
          <a:prstGeom prst="rect">
            <a:avLst/>
          </a:prstGeom>
          <a:solidFill>
            <a:schemeClr val="accent5">
              <a:lumMod val="40000"/>
              <a:lumOff val="60000"/>
            </a:schemeClr>
          </a:solidFill>
          <a:ln>
            <a:solidFill>
              <a:schemeClr val="accent1"/>
            </a:solidFill>
          </a:ln>
        </p:spPr>
        <p:txBody>
          <a:bodyPr wrap="square" rtlCol="0">
            <a:noAutofit/>
          </a:bodyPr>
          <a:p>
            <a:pPr indent="457200" algn="l" fontAlgn="auto">
              <a:lnSpc>
                <a:spcPct val="120000"/>
              </a:lnSpc>
              <a:buClrTx/>
              <a:buSzTx/>
              <a:buNone/>
              <a:extLst>
                <a:ext uri="{35155182-B16C-46BC-9424-99874614C6A1}">
                  <wpsdc:indentchars xmlns:wpsdc="http://www.wps.cn/officeDocument/2017/drawingmlCustomData" val="200" checksum="59296752"/>
                </a:ext>
              </a:extLst>
            </a:pP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信息模型将空间的物理资产组织为</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Object</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，其中</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Variable</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是资产的变量属性等，</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Method</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为不同资产可以进行的工作</a:t>
            </a:r>
            <a:endPar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49336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52695" y="87630"/>
            <a:ext cx="1344295" cy="557530"/>
          </a:xfrm>
          <a:prstGeom prst="rect">
            <a:avLst/>
          </a:prstGeom>
          <a:noFill/>
        </p:spPr>
        <p:txBody>
          <a:bodyPr wrap="square" lIns="0" tIns="48000" rIns="0" bIns="48000" rtlCol="0">
            <a:noAutofit/>
          </a:bodyPr>
          <a:lstStyle/>
          <a:p>
            <a:pPr algn="ctr"/>
            <a:r>
              <a:rPr lang="zh-CN" altLang="en-US" sz="1600" b="1" dirty="0">
                <a:solidFill>
                  <a:schemeClr val="bg1"/>
                </a:solidFill>
                <a:latin typeface="微软雅黑" panose="020B0503020204020204" pitchFamily="34" charset="-122"/>
                <a:ea typeface="微软雅黑" panose="020B0503020204020204" pitchFamily="34" charset="-122"/>
                <a:sym typeface="+mn-ea"/>
              </a:rPr>
              <a:t>理论基础与相关研究</a:t>
            </a: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a:p>
            <a:pPr algn="ctr"/>
            <a:endParaRPr lang="zh-CN" altLang="en-US" sz="1600" b="1" dirty="0">
              <a:solidFill>
                <a:schemeClr val="bg1"/>
              </a:solidFill>
              <a:latin typeface="微软雅黑" panose="020B0503020204020204" pitchFamily="34" charset="-122"/>
              <a:ea typeface="微软雅黑" panose="020B0503020204020204" pitchFamily="34" charset="-122"/>
              <a:sym typeface="+mn-ea"/>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研究总体框架</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79714" y="87634"/>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模型验证</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和评估</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sp>
        <p:nvSpPr>
          <p:cNvPr id="5" name="TextBox 11"/>
          <p:cNvSpPr txBox="1"/>
          <p:nvPr/>
        </p:nvSpPr>
        <p:spPr>
          <a:xfrm>
            <a:off x="10387330" y="215900"/>
            <a:ext cx="14649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2" name="学论网-矩形 1"/>
          <p:cNvSpPr/>
          <p:nvPr>
            <p:custDataLst>
              <p:tags r:id="rId2"/>
            </p:custDataLst>
          </p:nvPr>
        </p:nvSpPr>
        <p:spPr>
          <a:xfrm>
            <a:off x="419735" y="2495550"/>
            <a:ext cx="2944495" cy="258254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3" name="学论网-矩形 1"/>
          <p:cNvSpPr/>
          <p:nvPr>
            <p:custDataLst>
              <p:tags r:id="rId3"/>
            </p:custDataLst>
          </p:nvPr>
        </p:nvSpPr>
        <p:spPr>
          <a:xfrm>
            <a:off x="8473440" y="2849880"/>
            <a:ext cx="2961005" cy="187452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4" name="学论网-www.xuelun.me"/>
          <p:cNvSpPr txBox="1"/>
          <p:nvPr>
            <p:custDataLst>
              <p:tags r:id="rId4"/>
            </p:custDataLst>
          </p:nvPr>
        </p:nvSpPr>
        <p:spPr>
          <a:xfrm>
            <a:off x="419100" y="2511425"/>
            <a:ext cx="2945130" cy="2458720"/>
          </a:xfrm>
          <a:prstGeom prst="rect">
            <a:avLst/>
          </a:prstGeom>
          <a:noFill/>
          <a:ln>
            <a:noFill/>
          </a:ln>
        </p:spPr>
        <p:txBody>
          <a:bodyPr wrap="square" lIns="0" tIns="0" rIns="0" bIns="0" rtlCol="0">
            <a:noAutofit/>
          </a:bodyPr>
          <a:lstStyle/>
          <a:p>
            <a:pPr indent="0" algn="ctr" fontAlgn="auto">
              <a:lnSpc>
                <a:spcPct val="150000"/>
              </a:lnSpc>
            </a:pP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rPr>
              <a:t>封闭世界知识补全</a:t>
            </a:r>
            <a:endPar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indent="406400" algn="l" fontAlgn="auto">
              <a:lnSpc>
                <a:spcPct val="150000"/>
              </a:lnSpc>
              <a:extLst>
                <a:ext uri="{35155182-B16C-46BC-9424-99874614C6A1}">
                  <wpsdc:indentchars xmlns:wpsdc="http://www.wps.cn/officeDocument/2017/drawingmlCustomData" val="200" checksum="1740828767"/>
                </a:ext>
              </a:extLst>
            </a:pPr>
            <a:r>
              <a:rPr lang="zh-CN" sz="1600">
                <a:latin typeface="微软雅黑" panose="020B0503020204020204" pitchFamily="34" charset="-122"/>
                <a:ea typeface="微软雅黑" panose="020B0503020204020204" pitchFamily="34" charset="-122"/>
                <a:sym typeface="+mn-ea"/>
              </a:rPr>
              <a:t>存在所有实体和关系，探索实体之间的潜在关系，也成为链路预测，目前来讲研究较多，</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现有的方式都是基于对新接入设备的先验知识</a:t>
            </a:r>
            <a:endParaRPr lang="zh-CN" sz="1600">
              <a:latin typeface="微软雅黑" panose="020B0503020204020204" pitchFamily="34" charset="-122"/>
              <a:ea typeface="微软雅黑" panose="020B0503020204020204" pitchFamily="34" charset="-122"/>
              <a:sym typeface="+mn-ea"/>
            </a:endParaRPr>
          </a:p>
        </p:txBody>
      </p:sp>
      <p:sp>
        <p:nvSpPr>
          <p:cNvPr id="16" name="学论网-www.xuelun.me"/>
          <p:cNvSpPr txBox="1"/>
          <p:nvPr>
            <p:custDataLst>
              <p:tags r:id="rId5"/>
            </p:custDataLst>
          </p:nvPr>
        </p:nvSpPr>
        <p:spPr>
          <a:xfrm>
            <a:off x="8472805" y="2867025"/>
            <a:ext cx="2961640" cy="1717040"/>
          </a:xfrm>
          <a:prstGeom prst="rect">
            <a:avLst/>
          </a:prstGeom>
          <a:noFill/>
          <a:ln>
            <a:noFill/>
          </a:ln>
        </p:spPr>
        <p:txBody>
          <a:bodyPr wrap="square" lIns="0" tIns="0" rIns="0" bIns="0" rtlCol="0">
            <a:noAutofit/>
          </a:bodyPr>
          <a:lstStyle/>
          <a:p>
            <a:pPr algn="ctr">
              <a:lnSpc>
                <a:spcPct val="150000"/>
              </a:lnSpc>
            </a:pPr>
            <a:r>
              <a:rPr lang="zh-CN" altLang="en-US" sz="2400" b="1" dirty="0" smtClean="0">
                <a:solidFill>
                  <a:schemeClr val="tx1">
                    <a:lumMod val="65000"/>
                    <a:lumOff val="35000"/>
                  </a:schemeClr>
                </a:solidFill>
                <a:latin typeface="微软雅黑" panose="020B0503020204020204" pitchFamily="34" charset="-122"/>
                <a:ea typeface="微软雅黑" panose="020B0503020204020204" pitchFamily="34" charset="-122"/>
              </a:rPr>
              <a:t>开放世界知识补全</a:t>
            </a:r>
            <a:endPar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indent="457200" algn="l" fontAlgn="auto">
              <a:lnSpc>
                <a:spcPct val="150000"/>
              </a:lnSpc>
            </a:pP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知识图谱不完整的、未来可能加入新实体的、新关系</a:t>
            </a:r>
            <a:r>
              <a:rPr lang="zh-CN" sz="1600">
                <a:latin typeface="微软雅黑" panose="020B0503020204020204" pitchFamily="34" charset="-122"/>
                <a:ea typeface="微软雅黑" panose="020B0503020204020204" pitchFamily="34" charset="-122"/>
                <a:cs typeface="微软雅黑" panose="020B0503020204020204" pitchFamily="34" charset="-122"/>
                <a:sym typeface="+mn-ea"/>
              </a:rPr>
              <a:t>能够建立的、</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新节点随时出现</a:t>
            </a:r>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的</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1" name="文本框 20"/>
          <p:cNvSpPr txBox="1"/>
          <p:nvPr/>
        </p:nvSpPr>
        <p:spPr>
          <a:xfrm>
            <a:off x="4226560" y="2915285"/>
            <a:ext cx="3383915" cy="1743710"/>
          </a:xfrm>
          <a:prstGeom prst="rect">
            <a:avLst/>
          </a:prstGeom>
          <a:solidFill>
            <a:schemeClr val="accent5">
              <a:lumMod val="40000"/>
              <a:lumOff val="60000"/>
            </a:schemeClr>
          </a:solidFill>
          <a:ln>
            <a:solidFill>
              <a:schemeClr val="accent1"/>
            </a:solidFill>
          </a:ln>
        </p:spPr>
        <p:txBody>
          <a:bodyPr wrap="square" rtlCol="0">
            <a:noAutofit/>
          </a:bodyPr>
          <a:p>
            <a:pPr indent="457200" algn="l" fontAlgn="auto">
              <a:lnSpc>
                <a:spcPct val="120000"/>
              </a:lnSpc>
              <a:buClrTx/>
              <a:buSzTx/>
              <a:buNone/>
              <a:extLst>
                <a:ext uri="{35155182-B16C-46BC-9424-99874614C6A1}">
                  <wpsdc:indentchars xmlns:wpsdc="http://www.wps.cn/officeDocument/2017/drawingmlCustomData" val="200" checksum="59296752"/>
                </a:ext>
              </a:extLst>
            </a:pP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现有自动化构建</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模型的方法大多聚焦于封闭世界知识补全，或者人工建模，一方面是自动化不足，一方面是无法</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支持新的建模开发</a:t>
            </a:r>
            <a:endPar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32" name="文本框 31"/>
          <p:cNvSpPr txBox="1"/>
          <p:nvPr>
            <p:custDataLst>
              <p:tags r:id="rId6"/>
            </p:custDataLst>
          </p:nvPr>
        </p:nvSpPr>
        <p:spPr>
          <a:xfrm>
            <a:off x="530860" y="5171440"/>
            <a:ext cx="2701290" cy="466725"/>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sz="1600">
                <a:latin typeface="微软雅黑" panose="020B0503020204020204" pitchFamily="34" charset="-122"/>
                <a:ea typeface="微软雅黑" panose="020B0503020204020204" pitchFamily="34" charset="-122"/>
                <a:cs typeface="微软雅黑" panose="020B0503020204020204" pitchFamily="34" charset="-122"/>
              </a:rPr>
              <a:t>补充的是缺失的</a:t>
            </a:r>
            <a:r>
              <a:rPr lang="zh-CN" sz="1600">
                <a:latin typeface="微软雅黑" panose="020B0503020204020204" pitchFamily="34" charset="-122"/>
                <a:ea typeface="微软雅黑" panose="020B0503020204020204" pitchFamily="34" charset="-122"/>
                <a:cs typeface="微软雅黑" panose="020B0503020204020204" pitchFamily="34" charset="-122"/>
              </a:rPr>
              <a:t>关系</a:t>
            </a:r>
            <a:endParaRPr lang="zh-CN"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文本框 1"/>
          <p:cNvSpPr txBox="1"/>
          <p:nvPr>
            <p:custDataLst>
              <p:tags r:id="rId7"/>
            </p:custDataLst>
          </p:nvPr>
        </p:nvSpPr>
        <p:spPr>
          <a:xfrm>
            <a:off x="8652510" y="5171440"/>
            <a:ext cx="2701290" cy="466725"/>
          </a:xfrm>
          <a:prstGeom prst="rect">
            <a:avLst/>
          </a:prstGeom>
          <a:solidFill>
            <a:schemeClr val="accent5">
              <a:lumMod val="40000"/>
              <a:lumOff val="60000"/>
            </a:schemeClr>
          </a:solidFill>
          <a:ln w="12700">
            <a:noFill/>
          </a:ln>
        </p:spPr>
        <p:txBody>
          <a:bodyPr wrap="square" rtlCol="0" anchor="ctr" anchorCtr="0">
            <a:noAutofit/>
          </a:bodyPr>
          <a:p>
            <a:pPr indent="0" algn="ctr" fontAlgn="auto">
              <a:lnSpc>
                <a:spcPct val="100000"/>
              </a:lnSpc>
              <a:buClrTx/>
              <a:buSzTx/>
              <a:buNone/>
            </a:pPr>
            <a:r>
              <a:rPr lang="zh-CN" sz="1600">
                <a:latin typeface="微软雅黑" panose="020B0503020204020204" pitchFamily="34" charset="-122"/>
                <a:ea typeface="微软雅黑" panose="020B0503020204020204" pitchFamily="34" charset="-122"/>
                <a:cs typeface="微软雅黑" panose="020B0503020204020204" pitchFamily="34" charset="-122"/>
              </a:rPr>
              <a:t>补充的是缺失的实体和</a:t>
            </a:r>
            <a:r>
              <a:rPr lang="zh-CN" sz="1600">
                <a:latin typeface="微软雅黑" panose="020B0503020204020204" pitchFamily="34" charset="-122"/>
                <a:ea typeface="微软雅黑" panose="020B0503020204020204" pitchFamily="34" charset="-122"/>
                <a:cs typeface="微软雅黑" panose="020B0503020204020204" pitchFamily="34" charset="-122"/>
              </a:rPr>
              <a:t>关系</a:t>
            </a:r>
            <a:endParaRPr lang="zh-CN" sz="160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617033"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92713"/>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46904" y="92714"/>
            <a:ext cx="1344000" cy="58737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理论基础与相关研究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研究总体框架</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sp>
        <p:nvSpPr>
          <p:cNvPr id="29" name="TextBox 10"/>
          <p:cNvSpPr txBox="1"/>
          <p:nvPr/>
        </p:nvSpPr>
        <p:spPr>
          <a:xfrm>
            <a:off x="8470824" y="92714"/>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模型验证</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和评估</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图片 9" descr="校徽"/>
          <p:cNvPicPr>
            <a:picLocks noChangeAspect="1"/>
          </p:cNvPicPr>
          <p:nvPr/>
        </p:nvPicPr>
        <p:blipFill>
          <a:blip r:embed="rId1"/>
          <a:stretch>
            <a:fillRect/>
          </a:stretch>
        </p:blipFill>
        <p:spPr>
          <a:xfrm>
            <a:off x="281305" y="0"/>
            <a:ext cx="2687955" cy="749300"/>
          </a:xfrm>
          <a:prstGeom prst="rect">
            <a:avLst/>
          </a:prstGeom>
          <a:noFill/>
        </p:spPr>
      </p:pic>
      <p:cxnSp>
        <p:nvCxnSpPr>
          <p:cNvPr id="11" name="直接连接符 10"/>
          <p:cNvCxnSpPr/>
          <p:nvPr/>
        </p:nvCxnSpPr>
        <p:spPr>
          <a:xfrm>
            <a:off x="4821649" y="27937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0387330" y="215900"/>
            <a:ext cx="14649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82550" y="918845"/>
            <a:ext cx="3150235" cy="5723890"/>
          </a:xfrm>
          <a:prstGeom prst="rect">
            <a:avLst/>
          </a:prstGeom>
          <a:noFill/>
        </p:spPr>
        <p:txBody>
          <a:bodyPr wrap="square" rtlCol="0" anchor="t">
            <a:spAutoFit/>
          </a:bodyPr>
          <a:p>
            <a:pPr indent="-228600" algn="l">
              <a:lnSpc>
                <a:spcPct val="130000"/>
              </a:lnSpc>
              <a:spcBef>
                <a:spcPts val="0"/>
              </a:spcBef>
              <a:spcAft>
                <a:spcPts val="1000"/>
              </a:spcAft>
              <a:buClrTx/>
              <a:buSzTx/>
              <a:buFont typeface="Arial" panose="020B0604020202020204" pitchFamily="34" charset="0"/>
              <a:buChar char="●"/>
            </a:pPr>
            <a:r>
              <a:rPr lang="zh-CN" altLang="en-US" sz="16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数据采集模块负责与设备通信，接收设备数据帧，解析成 JSON 数据帧。</a:t>
            </a:r>
            <a:endParaRPr lang="zh-CN" altLang="en-US" sz="16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228600" algn="l">
              <a:lnSpc>
                <a:spcPct val="130000"/>
              </a:lnSpc>
              <a:spcBef>
                <a:spcPts val="0"/>
              </a:spcBef>
              <a:spcAft>
                <a:spcPts val="1000"/>
              </a:spcAft>
              <a:buClrTx/>
              <a:buSzTx/>
              <a:buFont typeface="Arial" panose="020B0604020202020204" pitchFamily="34" charset="0"/>
              <a:buChar char="●"/>
            </a:pPr>
            <a:r>
              <a:rPr lang="zh-CN" altLang="en-US" sz="16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设备类型识别模块使用深度学习模型 CTCNN，根据键的序列判断设备类别。</a:t>
            </a:r>
            <a:endParaRPr lang="zh-CN" altLang="en-US" sz="16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228600" algn="l">
              <a:lnSpc>
                <a:spcPct val="130000"/>
              </a:lnSpc>
              <a:spcBef>
                <a:spcPts val="0"/>
              </a:spcBef>
              <a:spcAft>
                <a:spcPts val="1000"/>
              </a:spcAft>
              <a:buClrTx/>
              <a:buSzTx/>
              <a:buFont typeface="Arial" panose="020B0604020202020204" pitchFamily="34" charset="0"/>
              <a:buChar char="●"/>
            </a:pPr>
            <a:r>
              <a:rPr lang="zh-CN" altLang="en-US" sz="16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知识补全模块负责将数据帧中的新实体补全到 IMKG 中。论文使用 ComplEx 图嵌入模型，并提出字符级词嵌入方法，使模型能处理缩写和不标准命名。</a:t>
            </a:r>
            <a:endParaRPr lang="zh-CN" altLang="en-US" sz="16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228600" algn="l">
              <a:lnSpc>
                <a:spcPct val="130000"/>
              </a:lnSpc>
              <a:spcBef>
                <a:spcPts val="0"/>
              </a:spcBef>
              <a:spcAft>
                <a:spcPts val="1000"/>
              </a:spcAft>
              <a:buClrTx/>
              <a:buSzTx/>
              <a:buFont typeface="Arial" panose="020B0604020202020204" pitchFamily="34" charset="0"/>
              <a:buChar char="●"/>
            </a:pPr>
            <a:r>
              <a:rPr lang="zh-CN" altLang="en-US" sz="16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IMKG 模块存储所有设备类型的知识图谱</a:t>
            </a:r>
            <a:endParaRPr lang="zh-CN" altLang="en-US" sz="16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228600" algn="l">
              <a:lnSpc>
                <a:spcPct val="130000"/>
              </a:lnSpc>
              <a:spcBef>
                <a:spcPts val="0"/>
              </a:spcBef>
              <a:spcAft>
                <a:spcPts val="1000"/>
              </a:spcAft>
              <a:buClrTx/>
              <a:buSzTx/>
              <a:buFont typeface="Arial" panose="020B0604020202020204" pitchFamily="34" charset="0"/>
              <a:buChar char="●"/>
            </a:pPr>
            <a:r>
              <a:rPr lang="zh-CN" altLang="en-US" sz="16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OPC UA 服务器模块将生成的节点集合加载到服务器</a:t>
            </a:r>
            <a:endParaRPr lang="zh-CN" altLang="en-US" sz="16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2" name="图片 1"/>
          <p:cNvPicPr>
            <a:picLocks noChangeAspect="1"/>
          </p:cNvPicPr>
          <p:nvPr/>
        </p:nvPicPr>
        <p:blipFill>
          <a:blip r:embed="rId2"/>
          <a:stretch>
            <a:fillRect/>
          </a:stretch>
        </p:blipFill>
        <p:spPr>
          <a:xfrm>
            <a:off x="3331210" y="998855"/>
            <a:ext cx="8648700" cy="56222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617033"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92713"/>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46904" y="92714"/>
            <a:ext cx="1344000" cy="58737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理论基础与相关研究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研究总体框架</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sp>
        <p:nvSpPr>
          <p:cNvPr id="29" name="TextBox 10"/>
          <p:cNvSpPr txBox="1"/>
          <p:nvPr/>
        </p:nvSpPr>
        <p:spPr>
          <a:xfrm>
            <a:off x="8470824" y="92714"/>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模型验证</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和评估</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图片 9" descr="校徽"/>
          <p:cNvPicPr>
            <a:picLocks noChangeAspect="1"/>
          </p:cNvPicPr>
          <p:nvPr/>
        </p:nvPicPr>
        <p:blipFill>
          <a:blip r:embed="rId1"/>
          <a:stretch>
            <a:fillRect/>
          </a:stretch>
        </p:blipFill>
        <p:spPr>
          <a:xfrm>
            <a:off x="281305" y="0"/>
            <a:ext cx="2687955" cy="749300"/>
          </a:xfrm>
          <a:prstGeom prst="rect">
            <a:avLst/>
          </a:prstGeom>
          <a:noFill/>
        </p:spPr>
      </p:pic>
      <p:cxnSp>
        <p:nvCxnSpPr>
          <p:cNvPr id="11" name="直接连接符 10"/>
          <p:cNvCxnSpPr/>
          <p:nvPr/>
        </p:nvCxnSpPr>
        <p:spPr>
          <a:xfrm>
            <a:off x="4821649" y="27937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0387330" y="184150"/>
            <a:ext cx="14649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3557270" y="967105"/>
            <a:ext cx="8295005" cy="2993390"/>
          </a:xfrm>
          <a:prstGeom prst="rect">
            <a:avLst/>
          </a:prstGeom>
        </p:spPr>
      </p:pic>
      <p:sp>
        <p:nvSpPr>
          <p:cNvPr id="6" name="文本框 5"/>
          <p:cNvSpPr txBox="1"/>
          <p:nvPr/>
        </p:nvSpPr>
        <p:spPr>
          <a:xfrm>
            <a:off x="733425" y="4402455"/>
            <a:ext cx="10725150" cy="1914525"/>
          </a:xfrm>
          <a:prstGeom prst="rect">
            <a:avLst/>
          </a:prstGeom>
          <a:solidFill>
            <a:schemeClr val="accent5">
              <a:lumMod val="40000"/>
              <a:lumOff val="60000"/>
            </a:schemeClr>
          </a:solidFill>
          <a:ln>
            <a:solidFill>
              <a:schemeClr val="accent1"/>
            </a:solidFill>
          </a:ln>
        </p:spPr>
        <p:txBody>
          <a:bodyPr wrap="square" rtlCol="0">
            <a:spAutoFit/>
          </a:bodyPr>
          <a:p>
            <a:pPr indent="-228600" algn="l">
              <a:lnSpc>
                <a:spcPct val="130000"/>
              </a:lnSpc>
              <a:spcBef>
                <a:spcPts val="0"/>
              </a:spcBef>
              <a:spcAft>
                <a:spcPts val="1000"/>
              </a:spcAft>
              <a:buClrTx/>
              <a:buSzTx/>
              <a:buFont typeface="Arial" panose="020B0604020202020204" pitchFamily="34" charset="0"/>
              <a:buChar char="●"/>
            </a:pPr>
            <a:r>
              <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整体流程框架</a:t>
            </a:r>
            <a:endPar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lvl="1" indent="-228600" algn="l">
              <a:lnSpc>
                <a:spcPct val="130000"/>
              </a:lnSpc>
              <a:spcBef>
                <a:spcPts val="0"/>
              </a:spcBef>
              <a:spcAft>
                <a:spcPts val="1000"/>
              </a:spcAft>
              <a:buClrTx/>
              <a:buSzTx/>
              <a:buFont typeface="Arial" panose="020B0604020202020204" pitchFamily="34" charset="0"/>
              <a:buChar char="●"/>
            </a:pPr>
            <a:r>
              <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首先通过设备类型识别模块识别设备类别</a:t>
            </a:r>
            <a:r>
              <a:rPr lang="en-US" altLang="zh-CN"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即后文中</a:t>
            </a:r>
            <a:r>
              <a:rPr lang="en-US" altLang="zh-CN"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IMKG)</a:t>
            </a:r>
            <a:endPar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228600" algn="l">
              <a:lnSpc>
                <a:spcPct val="130000"/>
              </a:lnSpc>
              <a:spcBef>
                <a:spcPts val="0"/>
              </a:spcBef>
              <a:spcAft>
                <a:spcPts val="1000"/>
              </a:spcAft>
              <a:buClrTx/>
              <a:buSzTx/>
              <a:buFont typeface="Arial" panose="020B0604020202020204" pitchFamily="34" charset="0"/>
              <a:buChar char="●"/>
            </a:pPr>
            <a:r>
              <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然后知识补全模块通过</a:t>
            </a:r>
            <a:r>
              <a:rPr lang="en-US" altLang="zh-CN"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CBOW</a:t>
            </a:r>
            <a:r>
              <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模型将未知设备或设备信息转化为向量等待补全和建模</a:t>
            </a:r>
            <a:endPar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indent="-228600" algn="l">
              <a:lnSpc>
                <a:spcPct val="130000"/>
              </a:lnSpc>
              <a:spcBef>
                <a:spcPts val="0"/>
              </a:spcBef>
              <a:spcAft>
                <a:spcPts val="1000"/>
              </a:spcAft>
              <a:buClrTx/>
              <a:buSzTx/>
              <a:buFont typeface="Arial" panose="020B0604020202020204" pitchFamily="34" charset="0"/>
              <a:buChar char="●"/>
            </a:pPr>
            <a:r>
              <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最后知识补全模块对目标向量进行匹配，匹配结束进行</a:t>
            </a:r>
            <a:r>
              <a:rPr lang="en-US" altLang="zh-CN"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OPC UA</a:t>
            </a:r>
            <a:r>
              <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模板生成</a:t>
            </a:r>
            <a:endPar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7" name="文本框 6"/>
          <p:cNvSpPr txBox="1"/>
          <p:nvPr/>
        </p:nvSpPr>
        <p:spPr>
          <a:xfrm>
            <a:off x="381635" y="1484630"/>
            <a:ext cx="2850515" cy="1786255"/>
          </a:xfrm>
          <a:prstGeom prst="rect">
            <a:avLst/>
          </a:prstGeom>
          <a:noFill/>
        </p:spPr>
        <p:txBody>
          <a:bodyPr wrap="square" rtlCol="0">
            <a:noAutofit/>
          </a:bodyPr>
          <a:p>
            <a:pPr indent="0" fontAlgn="auto">
              <a:lnSpc>
                <a:spcPct val="120000"/>
              </a:lnSpc>
            </a:pP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设备数据帧</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en-US"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设备类型识别</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未知实体知识补全</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信息模型子图抽取</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OPC UA XML </a:t>
            </a:r>
            <a:r>
              <a:rPr lang="en-US"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地址空间构建</a:t>
            </a:r>
            <a:endPar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617033"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92713"/>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46904" y="92714"/>
            <a:ext cx="1344000" cy="58737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理论基础与相关研究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研究总体框架</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sp>
        <p:nvSpPr>
          <p:cNvPr id="29" name="TextBox 10"/>
          <p:cNvSpPr txBox="1"/>
          <p:nvPr/>
        </p:nvSpPr>
        <p:spPr>
          <a:xfrm>
            <a:off x="8480349" y="92714"/>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模型验证</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和评估</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图片 9" descr="校徽"/>
          <p:cNvPicPr>
            <a:picLocks noChangeAspect="1"/>
          </p:cNvPicPr>
          <p:nvPr/>
        </p:nvPicPr>
        <p:blipFill>
          <a:blip r:embed="rId1"/>
          <a:stretch>
            <a:fillRect/>
          </a:stretch>
        </p:blipFill>
        <p:spPr>
          <a:xfrm>
            <a:off x="281305" y="0"/>
            <a:ext cx="2687955" cy="749300"/>
          </a:xfrm>
          <a:prstGeom prst="rect">
            <a:avLst/>
          </a:prstGeom>
          <a:noFill/>
        </p:spPr>
      </p:pic>
      <p:cxnSp>
        <p:nvCxnSpPr>
          <p:cNvPr id="11" name="直接连接符 10"/>
          <p:cNvCxnSpPr/>
          <p:nvPr/>
        </p:nvCxnSpPr>
        <p:spPr>
          <a:xfrm>
            <a:off x="4821649" y="27937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0387330" y="189865"/>
            <a:ext cx="14649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 name="文本框 2"/>
          <p:cNvSpPr txBox="1"/>
          <p:nvPr/>
        </p:nvSpPr>
        <p:spPr>
          <a:xfrm>
            <a:off x="1318895" y="3627120"/>
            <a:ext cx="4235450" cy="379730"/>
          </a:xfrm>
          <a:prstGeom prst="rect">
            <a:avLst/>
          </a:prstGeom>
          <a:noFill/>
        </p:spPr>
        <p:txBody>
          <a:bodyPr wrap="square" rtlCol="0" anchor="t">
            <a:noAutofit/>
          </a:bodyPr>
          <a:p>
            <a:pPr algn="ctr"/>
            <a:r>
              <a:rPr lang="zh-CN">
                <a:latin typeface="微软雅黑" panose="020B0503020204020204" pitchFamily="34" charset="-122"/>
                <a:ea typeface="微软雅黑" panose="020B0503020204020204" pitchFamily="34" charset="-122"/>
                <a:cs typeface="微软雅黑" panose="020B0503020204020204" pitchFamily="34" charset="-122"/>
                <a:sym typeface="+mn-ea"/>
              </a:rPr>
              <a:t>字符级</a:t>
            </a:r>
            <a:r>
              <a:rPr>
                <a:latin typeface="微软雅黑" panose="020B0503020204020204" pitchFamily="34" charset="-122"/>
                <a:ea typeface="微软雅黑" panose="020B0503020204020204" pitchFamily="34" charset="-122"/>
                <a:cs typeface="微软雅黑" panose="020B0503020204020204" pitchFamily="34" charset="-122"/>
                <a:sym typeface="+mn-ea"/>
              </a:rPr>
              <a:t>TextCNN分类器 + NER实体识别</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4" name="图片 3"/>
          <p:cNvPicPr>
            <a:picLocks noChangeAspect="1"/>
          </p:cNvPicPr>
          <p:nvPr/>
        </p:nvPicPr>
        <p:blipFill>
          <a:blip r:embed="rId2"/>
          <a:stretch>
            <a:fillRect/>
          </a:stretch>
        </p:blipFill>
        <p:spPr>
          <a:xfrm>
            <a:off x="3070225" y="1033145"/>
            <a:ext cx="4125595" cy="2383790"/>
          </a:xfrm>
          <a:prstGeom prst="rect">
            <a:avLst/>
          </a:prstGeom>
        </p:spPr>
      </p:pic>
      <p:pic>
        <p:nvPicPr>
          <p:cNvPr id="5" name="图片 4"/>
          <p:cNvPicPr>
            <a:picLocks noChangeAspect="1"/>
          </p:cNvPicPr>
          <p:nvPr/>
        </p:nvPicPr>
        <p:blipFill>
          <a:blip r:embed="rId3"/>
          <a:stretch>
            <a:fillRect/>
          </a:stretch>
        </p:blipFill>
        <p:spPr>
          <a:xfrm>
            <a:off x="414020" y="1033145"/>
            <a:ext cx="1892935" cy="2371725"/>
          </a:xfrm>
          <a:prstGeom prst="rect">
            <a:avLst/>
          </a:prstGeom>
        </p:spPr>
      </p:pic>
      <p:sp>
        <p:nvSpPr>
          <p:cNvPr id="6" name="下箭头 5"/>
          <p:cNvSpPr/>
          <p:nvPr/>
        </p:nvSpPr>
        <p:spPr>
          <a:xfrm rot="16200000">
            <a:off x="2647315" y="204152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9" name="内容占位符 2"/>
          <p:cNvSpPr>
            <a:spLocks noGrp="1"/>
          </p:cNvSpPr>
          <p:nvPr/>
        </p:nvSpPr>
        <p:spPr>
          <a:xfrm>
            <a:off x="413385" y="4276090"/>
            <a:ext cx="6782435" cy="185610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采用字符级</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TextCNN</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的原因</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工业设备字段名称通常是缩写组合，词级语义不清晰</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词向量难以覆盖大量专业缩写</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字符级方法可以直接利用每个字符的信息。</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0" name="文本框 69"/>
          <p:cNvSpPr txBox="1"/>
          <p:nvPr>
            <p:custDataLst>
              <p:tags r:id="rId4"/>
            </p:custDataLst>
          </p:nvPr>
        </p:nvSpPr>
        <p:spPr>
          <a:xfrm>
            <a:off x="8407400" y="2970530"/>
            <a:ext cx="2701290" cy="368300"/>
          </a:xfrm>
          <a:prstGeom prst="rect">
            <a:avLst/>
          </a:prstGeom>
          <a:solidFill>
            <a:schemeClr val="accent5">
              <a:lumMod val="40000"/>
              <a:lumOff val="60000"/>
            </a:schemeClr>
          </a:solidFill>
          <a:ln w="12700">
            <a:noFill/>
          </a:ln>
        </p:spPr>
        <p:txBody>
          <a:bodyPr wrap="square" rtlCol="0">
            <a:spAutoFit/>
          </a:bodyPr>
          <a:p>
            <a:pPr algn="ctr"/>
            <a:r>
              <a:rPr lang="zh-CN" altLang="en-US"/>
              <a:t>预处理阶段拆分</a:t>
            </a:r>
            <a:r>
              <a:rPr lang="zh-CN" altLang="en-US"/>
              <a:t>字符序列</a:t>
            </a:r>
            <a:endParaRPr lang="zh-CN" altLang="en-US"/>
          </a:p>
        </p:txBody>
      </p:sp>
      <p:sp>
        <p:nvSpPr>
          <p:cNvPr id="71" name="文本框 70"/>
          <p:cNvSpPr txBox="1"/>
          <p:nvPr>
            <p:custDataLst>
              <p:tags r:id="rId5"/>
            </p:custDataLst>
          </p:nvPr>
        </p:nvSpPr>
        <p:spPr>
          <a:xfrm>
            <a:off x="8407400" y="4015740"/>
            <a:ext cx="2701290" cy="368300"/>
          </a:xfrm>
          <a:prstGeom prst="rect">
            <a:avLst/>
          </a:prstGeom>
          <a:solidFill>
            <a:schemeClr val="accent5">
              <a:lumMod val="40000"/>
              <a:lumOff val="60000"/>
            </a:schemeClr>
          </a:solidFill>
          <a:ln w="12700">
            <a:noFill/>
          </a:ln>
        </p:spPr>
        <p:txBody>
          <a:bodyPr wrap="square" rtlCol="0">
            <a:spAutoFit/>
          </a:bodyPr>
          <a:p>
            <a:pPr algn="ctr"/>
            <a:r>
              <a:rPr lang="zh-CN" altLang="en-US"/>
              <a:t>多通道卷积提取</a:t>
            </a:r>
            <a:r>
              <a:rPr lang="zh-CN" altLang="en-US"/>
              <a:t>局部特征</a:t>
            </a:r>
            <a:endParaRPr lang="zh-CN" altLang="en-US"/>
          </a:p>
        </p:txBody>
      </p:sp>
      <p:sp>
        <p:nvSpPr>
          <p:cNvPr id="72" name="文本框 71"/>
          <p:cNvSpPr txBox="1"/>
          <p:nvPr>
            <p:custDataLst>
              <p:tags r:id="rId6"/>
            </p:custDataLst>
          </p:nvPr>
        </p:nvSpPr>
        <p:spPr>
          <a:xfrm>
            <a:off x="8407400" y="5060315"/>
            <a:ext cx="2700655" cy="368300"/>
          </a:xfrm>
          <a:prstGeom prst="rect">
            <a:avLst/>
          </a:prstGeom>
          <a:solidFill>
            <a:schemeClr val="accent5">
              <a:lumMod val="40000"/>
              <a:lumOff val="60000"/>
            </a:schemeClr>
          </a:solidFill>
          <a:ln w="12700">
            <a:noFill/>
          </a:ln>
        </p:spPr>
        <p:txBody>
          <a:bodyPr wrap="square" rtlCol="0">
            <a:spAutoFit/>
          </a:bodyPr>
          <a:p>
            <a:pPr algn="ctr"/>
            <a:r>
              <a:rPr lang="zh-CN" altLang="en-US"/>
              <a:t>池化固定输出</a:t>
            </a:r>
            <a:r>
              <a:rPr lang="zh-CN" altLang="en-US"/>
              <a:t>长度</a:t>
            </a:r>
            <a:endParaRPr lang="zh-CN" altLang="en-US"/>
          </a:p>
        </p:txBody>
      </p:sp>
      <p:sp>
        <p:nvSpPr>
          <p:cNvPr id="77" name="下箭头 76"/>
          <p:cNvSpPr/>
          <p:nvPr/>
        </p:nvSpPr>
        <p:spPr>
          <a:xfrm>
            <a:off x="9715500" y="350012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8" name="下箭头 77"/>
          <p:cNvSpPr/>
          <p:nvPr/>
        </p:nvSpPr>
        <p:spPr>
          <a:xfrm>
            <a:off x="9715500" y="454533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3" name="学论网-矩形 1"/>
          <p:cNvSpPr/>
          <p:nvPr>
            <p:custDataLst>
              <p:tags r:id="rId7"/>
            </p:custDataLst>
          </p:nvPr>
        </p:nvSpPr>
        <p:spPr>
          <a:xfrm>
            <a:off x="8282940" y="2787650"/>
            <a:ext cx="2961640" cy="396557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74" name="文本框 73"/>
          <p:cNvSpPr txBox="1"/>
          <p:nvPr>
            <p:custDataLst>
              <p:tags r:id="rId8"/>
            </p:custDataLst>
          </p:nvPr>
        </p:nvSpPr>
        <p:spPr>
          <a:xfrm>
            <a:off x="8408035" y="6106160"/>
            <a:ext cx="2700655" cy="368300"/>
          </a:xfrm>
          <a:prstGeom prst="rect">
            <a:avLst/>
          </a:prstGeom>
          <a:solidFill>
            <a:schemeClr val="accent5">
              <a:lumMod val="40000"/>
              <a:lumOff val="60000"/>
            </a:schemeClr>
          </a:solidFill>
          <a:ln w="12700">
            <a:noFill/>
          </a:ln>
        </p:spPr>
        <p:txBody>
          <a:bodyPr wrap="square" rtlCol="0">
            <a:spAutoFit/>
          </a:bodyPr>
          <a:p>
            <a:pPr algn="ctr"/>
            <a:r>
              <a:rPr lang="en-US" altLang="zh-CN"/>
              <a:t>Softmax</a:t>
            </a:r>
            <a:r>
              <a:rPr lang="zh-CN" altLang="en-US"/>
              <a:t>分类</a:t>
            </a:r>
            <a:endParaRPr lang="zh-CN" altLang="en-US"/>
          </a:p>
        </p:txBody>
      </p:sp>
      <p:sp>
        <p:nvSpPr>
          <p:cNvPr id="75" name="下箭头 74"/>
          <p:cNvSpPr/>
          <p:nvPr/>
        </p:nvSpPr>
        <p:spPr>
          <a:xfrm>
            <a:off x="9716135" y="559117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9" name="下箭头 78"/>
          <p:cNvSpPr/>
          <p:nvPr/>
        </p:nvSpPr>
        <p:spPr>
          <a:xfrm rot="16200000">
            <a:off x="7539990" y="179324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0" name="文本框 79"/>
          <p:cNvSpPr txBox="1"/>
          <p:nvPr/>
        </p:nvSpPr>
        <p:spPr>
          <a:xfrm>
            <a:off x="7966075" y="1321435"/>
            <a:ext cx="3595370" cy="1298575"/>
          </a:xfrm>
          <a:prstGeom prst="rect">
            <a:avLst/>
          </a:prstGeom>
          <a:noFill/>
        </p:spPr>
        <p:txBody>
          <a:bodyPr wrap="square" rtlCol="0" anchor="t">
            <a:spAutoFit/>
          </a:bodyPr>
          <a:p>
            <a:pPr indent="-228600" algn="l">
              <a:lnSpc>
                <a:spcPct val="130000"/>
              </a:lnSpc>
              <a:spcBef>
                <a:spcPts val="0"/>
              </a:spcBef>
              <a:spcAft>
                <a:spcPts val="1000"/>
              </a:spcAft>
              <a:buClrTx/>
              <a:buSzTx/>
              <a:buFont typeface="Arial" panose="020B0604020202020204" pitchFamily="34" charset="0"/>
              <a:buChar char="●"/>
            </a:pPr>
            <a:r>
              <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输出：候选实体(IR、CNC等)</a:t>
            </a:r>
            <a:endPar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a:p>
            <a:pPr indent="-228600" algn="l">
              <a:lnSpc>
                <a:spcPct val="130000"/>
              </a:lnSpc>
              <a:spcBef>
                <a:spcPts val="0"/>
              </a:spcBef>
              <a:spcAft>
                <a:spcPts val="1000"/>
              </a:spcAft>
              <a:buClrTx/>
              <a:buSzTx/>
              <a:buFont typeface="Arial" panose="020B0604020202020204" pitchFamily="34" charset="0"/>
              <a:buChar char="●"/>
            </a:pPr>
            <a:r>
              <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rPr>
              <a:t>识别精度 &gt;90%，为后续建模提供基础语义单元。</a:t>
            </a:r>
            <a:endParaRPr lang="zh-CN" altLang="en-US"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617033"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92713"/>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46904" y="92714"/>
            <a:ext cx="1344000" cy="58737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理论基础与相关研究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研究总体框架</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sp>
        <p:nvSpPr>
          <p:cNvPr id="29" name="TextBox 10"/>
          <p:cNvSpPr txBox="1"/>
          <p:nvPr/>
        </p:nvSpPr>
        <p:spPr>
          <a:xfrm>
            <a:off x="8468284" y="92714"/>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模型验证</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和评估</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图片 9" descr="校徽"/>
          <p:cNvPicPr>
            <a:picLocks noChangeAspect="1"/>
          </p:cNvPicPr>
          <p:nvPr/>
        </p:nvPicPr>
        <p:blipFill>
          <a:blip r:embed="rId1"/>
          <a:stretch>
            <a:fillRect/>
          </a:stretch>
        </p:blipFill>
        <p:spPr>
          <a:xfrm>
            <a:off x="281305" y="0"/>
            <a:ext cx="2687955" cy="749300"/>
          </a:xfrm>
          <a:prstGeom prst="rect">
            <a:avLst/>
          </a:prstGeom>
          <a:noFill/>
        </p:spPr>
      </p:pic>
      <p:cxnSp>
        <p:nvCxnSpPr>
          <p:cNvPr id="11" name="直接连接符 10"/>
          <p:cNvCxnSpPr/>
          <p:nvPr/>
        </p:nvCxnSpPr>
        <p:spPr>
          <a:xfrm>
            <a:off x="4821649" y="27937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0387330" y="189865"/>
            <a:ext cx="14649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69" name="内容占位符 2"/>
          <p:cNvSpPr>
            <a:spLocks noGrp="1"/>
          </p:cNvSpPr>
          <p:nvPr/>
        </p:nvSpPr>
        <p:spPr>
          <a:xfrm>
            <a:off x="5972810" y="1313180"/>
            <a:ext cx="5427980" cy="249174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每种设备类型有单独的</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IMKG</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不同类别设备之间差距很大，异构性较强</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边缘网关算力有限，这也同时是采用</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CNN</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而不是</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Bert</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等推理模型的原因所在</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由此我们采用先进性设备类型识别，然后根据对应类型</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IMKG</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做补全和建模</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676275" y="6104890"/>
            <a:ext cx="10725150" cy="368300"/>
          </a:xfrm>
          <a:prstGeom prst="rect">
            <a:avLst/>
          </a:prstGeom>
          <a:solidFill>
            <a:schemeClr val="accent5">
              <a:lumMod val="40000"/>
              <a:lumOff val="60000"/>
            </a:schemeClr>
          </a:solidFill>
          <a:ln>
            <a:solidFill>
              <a:schemeClr val="accent1"/>
            </a:solidFill>
          </a:ln>
        </p:spPr>
        <p:txBody>
          <a:bodyPr wrap="square" rtlCol="0">
            <a:spAutoFit/>
          </a:bodyPr>
          <a:p>
            <a:r>
              <a:rPr lang="zh-CN" altLang="en-US">
                <a:latin typeface="微软雅黑" panose="020B0503020204020204" pitchFamily="34" charset="-122"/>
                <a:ea typeface="微软雅黑" panose="020B0503020204020204" pitchFamily="34" charset="-122"/>
                <a:cs typeface="微软雅黑" panose="020B0503020204020204" pitchFamily="34" charset="-122"/>
              </a:rPr>
              <a:t>我们需要进行的是在</a:t>
            </a:r>
            <a:r>
              <a:rPr>
                <a:latin typeface="微软雅黑" panose="020B0503020204020204" pitchFamily="34" charset="-122"/>
                <a:ea typeface="微软雅黑" panose="020B0503020204020204" pitchFamily="34" charset="-122"/>
                <a:cs typeface="微软雅黑" panose="020B0503020204020204" pitchFamily="34" charset="-122"/>
                <a:sym typeface="+mn-ea"/>
              </a:rPr>
              <a:t>构建三元组集合 </a:t>
            </a:r>
            <a:r>
              <a:rPr lang="en-US">
                <a:latin typeface="微软雅黑" panose="020B0503020204020204" pitchFamily="34" charset="-122"/>
                <a:ea typeface="微软雅黑" panose="020B0503020204020204" pitchFamily="34" charset="-122"/>
                <a:cs typeface="微软雅黑" panose="020B0503020204020204" pitchFamily="34" charset="-122"/>
                <a:sym typeface="+mn-ea"/>
              </a:rPr>
              <a:t>&lt;</a:t>
            </a:r>
            <a:r>
              <a:rPr>
                <a:latin typeface="微软雅黑" panose="020B0503020204020204" pitchFamily="34" charset="-122"/>
                <a:ea typeface="微软雅黑" panose="020B0503020204020204" pitchFamily="34" charset="-122"/>
                <a:cs typeface="微软雅黑" panose="020B0503020204020204" pitchFamily="34" charset="-122"/>
                <a:sym typeface="+mn-ea"/>
              </a:rPr>
              <a:t>实体–关系–实体</a:t>
            </a:r>
            <a:r>
              <a:rPr lang="en-US">
                <a:latin typeface="微软雅黑" panose="020B0503020204020204" pitchFamily="34" charset="-122"/>
                <a:ea typeface="微软雅黑" panose="020B0503020204020204" pitchFamily="34" charset="-122"/>
                <a:cs typeface="微软雅黑" panose="020B0503020204020204" pitchFamily="34" charset="-122"/>
                <a:sym typeface="+mn-ea"/>
              </a:rPr>
              <a:t>&gt;</a:t>
            </a:r>
            <a:r>
              <a:rPr lang="zh-CN">
                <a:latin typeface="微软雅黑" panose="020B0503020204020204" pitchFamily="34" charset="-122"/>
                <a:ea typeface="微软雅黑" panose="020B0503020204020204" pitchFamily="34" charset="-122"/>
                <a:cs typeface="微软雅黑" panose="020B0503020204020204" pitchFamily="34" charset="-122"/>
                <a:sym typeface="+mn-ea"/>
              </a:rPr>
              <a:t>基础上进行</a:t>
            </a:r>
            <a:r>
              <a:rPr>
                <a:latin typeface="微软雅黑" panose="020B0503020204020204" pitchFamily="34" charset="-122"/>
                <a:ea typeface="微软雅黑" panose="020B0503020204020204" pitchFamily="34" charset="-122"/>
                <a:cs typeface="微软雅黑" panose="020B0503020204020204" pitchFamily="34" charset="-122"/>
                <a:sym typeface="+mn-ea"/>
              </a:rPr>
              <a:t>基于领域本体的语义约束与融合规则。</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4" name="组合 13"/>
          <p:cNvGrpSpPr/>
          <p:nvPr/>
        </p:nvGrpSpPr>
        <p:grpSpPr>
          <a:xfrm>
            <a:off x="676275" y="1313180"/>
            <a:ext cx="4911090" cy="2491740"/>
            <a:chOff x="10931" y="4431"/>
            <a:chExt cx="7734" cy="3924"/>
          </a:xfrm>
        </p:grpSpPr>
        <p:pic>
          <p:nvPicPr>
            <p:cNvPr id="7" name="图片 6"/>
            <p:cNvPicPr>
              <a:picLocks noChangeAspect="1"/>
            </p:cNvPicPr>
            <p:nvPr/>
          </p:nvPicPr>
          <p:blipFill>
            <a:blip r:embed="rId2"/>
            <a:stretch>
              <a:fillRect/>
            </a:stretch>
          </p:blipFill>
          <p:spPr>
            <a:xfrm>
              <a:off x="11597" y="4749"/>
              <a:ext cx="6423" cy="899"/>
            </a:xfrm>
            <a:prstGeom prst="rect">
              <a:avLst/>
            </a:prstGeom>
          </p:spPr>
        </p:pic>
        <p:sp>
          <p:nvSpPr>
            <p:cNvPr id="8" name="文本框 7"/>
            <p:cNvSpPr txBox="1"/>
            <p:nvPr/>
          </p:nvSpPr>
          <p:spPr>
            <a:xfrm>
              <a:off x="11597" y="5947"/>
              <a:ext cx="6423" cy="2082"/>
            </a:xfrm>
            <a:prstGeom prst="rect">
              <a:avLst/>
            </a:prstGeom>
          </p:spPr>
          <p:txBody>
            <a:bodyPr wrap="square">
              <a:spAutoFit/>
            </a:bodyPr>
            <a:p>
              <a:r>
                <a:rPr lang="en-US" altLang="zh-CN" sz="1600">
                  <a:latin typeface="微软雅黑" panose="020B0503020204020204" pitchFamily="34" charset="-122"/>
                  <a:ea typeface="微软雅黑" panose="020B0503020204020204" pitchFamily="34" charset="-122"/>
                  <a:cs typeface="微软雅黑" panose="020B0503020204020204" pitchFamily="34" charset="-122"/>
                </a:rPr>
                <a:t>tail =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设备数据帧中的未知字段（新实体）</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a:latin typeface="微软雅黑" panose="020B0503020204020204" pitchFamily="34" charset="-122"/>
                  <a:ea typeface="微软雅黑" panose="020B0503020204020204" pitchFamily="34" charset="-122"/>
                  <a:cs typeface="微软雅黑" panose="020B0503020204020204" pitchFamily="34" charset="-122"/>
                </a:rPr>
                <a:t>head =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需要预测的 </a:t>
              </a:r>
              <a:r>
                <a:rPr lang="en-US" altLang="zh-CN" sz="1600">
                  <a:latin typeface="微软雅黑" panose="020B0503020204020204" pitchFamily="34" charset="-122"/>
                  <a:ea typeface="微软雅黑" panose="020B0503020204020204" pitchFamily="34" charset="-122"/>
                  <a:cs typeface="微软雅黑" panose="020B0503020204020204" pitchFamily="34" charset="-122"/>
                </a:rPr>
                <a:t>IMKG </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中已有实体</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600">
                  <a:latin typeface="微软雅黑" panose="020B0503020204020204" pitchFamily="34" charset="-122"/>
                  <a:ea typeface="微软雅黑" panose="020B0503020204020204" pitchFamily="34" charset="-122"/>
                  <a:cs typeface="微软雅黑" panose="020B0503020204020204" pitchFamily="34" charset="-122"/>
                </a:rPr>
                <a:t>relation = HasComponent</a:t>
              </a:r>
              <a:r>
                <a:rPr lang="zh-CN" altLang="en-US" sz="1600">
                  <a:latin typeface="微软雅黑" panose="020B0503020204020204" pitchFamily="34" charset="-122"/>
                  <a:ea typeface="微软雅黑" panose="020B0503020204020204" pitchFamily="34" charset="-122"/>
                  <a:cs typeface="微软雅黑" panose="020B0503020204020204" pitchFamily="34" charset="-122"/>
                </a:rPr>
                <a:t>（已知）</a:t>
              </a:r>
              <a:endParaRPr lang="zh-CN" altLang="en-US" sz="16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3" name="学论网-矩形 1"/>
            <p:cNvSpPr/>
            <p:nvPr>
              <p:custDataLst>
                <p:tags r:id="rId3"/>
              </p:custDataLst>
            </p:nvPr>
          </p:nvSpPr>
          <p:spPr>
            <a:xfrm>
              <a:off x="10931" y="4431"/>
              <a:ext cx="7734" cy="3924"/>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grpSp>
      <p:sp>
        <p:nvSpPr>
          <p:cNvPr id="32" name="文本框 31"/>
          <p:cNvSpPr txBox="1"/>
          <p:nvPr>
            <p:custDataLst>
              <p:tags r:id="rId4"/>
            </p:custDataLst>
          </p:nvPr>
        </p:nvSpPr>
        <p:spPr>
          <a:xfrm>
            <a:off x="1099185" y="4414520"/>
            <a:ext cx="1939925" cy="922020"/>
          </a:xfrm>
          <a:prstGeom prst="rect">
            <a:avLst/>
          </a:prstGeom>
          <a:solidFill>
            <a:schemeClr val="accent5">
              <a:lumMod val="40000"/>
              <a:lumOff val="60000"/>
            </a:schemeClr>
          </a:solidFill>
          <a:ln w="12700">
            <a:noFill/>
          </a:ln>
        </p:spPr>
        <p:txBody>
          <a:bodyPr wrap="square" rtlCol="0" anchor="ctr" anchorCtr="0">
            <a:sp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rPr>
              <a:t>实体名字做字符级词嵌入（</a:t>
            </a:r>
            <a:r>
              <a:rPr lang="en-US" altLang="zh-CN">
                <a:latin typeface="微软雅黑" panose="020B0503020204020204" pitchFamily="34" charset="-122"/>
                <a:ea typeface="微软雅黑" panose="020B0503020204020204" pitchFamily="34" charset="-122"/>
                <a:cs typeface="微软雅黑" panose="020B0503020204020204" pitchFamily="34" charset="-122"/>
              </a:rPr>
              <a:t>CBOW</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7" name="下箭头 76"/>
          <p:cNvSpPr/>
          <p:nvPr/>
        </p:nvSpPr>
        <p:spPr>
          <a:xfrm rot="16200000">
            <a:off x="8641715" y="463359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学论网-矩形 1"/>
          <p:cNvSpPr/>
          <p:nvPr>
            <p:custDataLst>
              <p:tags r:id="rId5"/>
            </p:custDataLst>
          </p:nvPr>
        </p:nvSpPr>
        <p:spPr>
          <a:xfrm>
            <a:off x="676275" y="4016375"/>
            <a:ext cx="10724515" cy="1737995"/>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19" name="文本框 18"/>
          <p:cNvSpPr txBox="1"/>
          <p:nvPr>
            <p:custDataLst>
              <p:tags r:id="rId6"/>
            </p:custDataLst>
          </p:nvPr>
        </p:nvSpPr>
        <p:spPr>
          <a:xfrm>
            <a:off x="9035415" y="4409440"/>
            <a:ext cx="1939925" cy="922020"/>
          </a:xfrm>
          <a:prstGeom prst="rect">
            <a:avLst/>
          </a:prstGeom>
          <a:solidFill>
            <a:schemeClr val="accent5">
              <a:lumMod val="40000"/>
              <a:lumOff val="60000"/>
            </a:schemeClr>
          </a:solidFill>
          <a:ln w="12700">
            <a:noFill/>
          </a:ln>
        </p:spPr>
        <p:txBody>
          <a:bodyPr wrap="square" rtlCol="0" anchor="ctr" anchorCtr="0">
            <a:spAutoFit/>
          </a:bodyPr>
          <a:p>
            <a:pPr algn="ctr"/>
            <a:r>
              <a:rPr lang="en-US" altLang="zh-C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ComplEx</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对每个未知</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tail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做</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head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预测</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0" name="文本框 19"/>
          <p:cNvSpPr txBox="1"/>
          <p:nvPr>
            <p:custDataLst>
              <p:tags r:id="rId7"/>
            </p:custDataLst>
          </p:nvPr>
        </p:nvSpPr>
        <p:spPr>
          <a:xfrm>
            <a:off x="3744595" y="4411345"/>
            <a:ext cx="1939925" cy="934720"/>
          </a:xfrm>
          <a:prstGeom prst="rect">
            <a:avLst/>
          </a:prstGeom>
          <a:solidFill>
            <a:schemeClr val="accent5">
              <a:lumMod val="40000"/>
              <a:lumOff val="60000"/>
            </a:schemeClr>
          </a:solidFill>
          <a:ln w="12700">
            <a:noFill/>
          </a:ln>
        </p:spPr>
        <p:txBody>
          <a:bodyPr wrap="square" rtlCol="0" anchor="ctr" anchorCtr="0">
            <a:no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字符嵌入空间</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KG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嵌入空间</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文本框 20"/>
          <p:cNvSpPr txBox="1"/>
          <p:nvPr>
            <p:custDataLst>
              <p:tags r:id="rId8"/>
            </p:custDataLst>
          </p:nvPr>
        </p:nvSpPr>
        <p:spPr>
          <a:xfrm>
            <a:off x="6390005" y="4411345"/>
            <a:ext cx="1939925" cy="925830"/>
          </a:xfrm>
          <a:prstGeom prst="rect">
            <a:avLst/>
          </a:prstGeom>
          <a:solidFill>
            <a:schemeClr val="accent5">
              <a:lumMod val="40000"/>
              <a:lumOff val="60000"/>
            </a:schemeClr>
          </a:solidFill>
          <a:ln w="12700">
            <a:noFill/>
          </a:ln>
        </p:spPr>
        <p:txBody>
          <a:bodyPr wrap="square" rtlCol="0" anchor="ctr" anchorCtr="0">
            <a:noAutofit/>
          </a:bodyPr>
          <a:p>
            <a:pPr algn="ct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IMKG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中的实体做</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KG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嵌入</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下箭头 29"/>
          <p:cNvSpPr/>
          <p:nvPr/>
        </p:nvSpPr>
        <p:spPr>
          <a:xfrm rot="16200000">
            <a:off x="5996305" y="467868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3" name="下箭头 32"/>
          <p:cNvSpPr/>
          <p:nvPr/>
        </p:nvSpPr>
        <p:spPr>
          <a:xfrm rot="16200000">
            <a:off x="3350895" y="4673600"/>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617033"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92713"/>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46904" y="92714"/>
            <a:ext cx="1344000" cy="58737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理论基础与相关研究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研究总体框架</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sp>
        <p:nvSpPr>
          <p:cNvPr id="29" name="TextBox 10"/>
          <p:cNvSpPr txBox="1"/>
          <p:nvPr/>
        </p:nvSpPr>
        <p:spPr>
          <a:xfrm>
            <a:off x="8468284" y="92714"/>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模型验证</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和评估</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图片 9" descr="校徽"/>
          <p:cNvPicPr>
            <a:picLocks noChangeAspect="1"/>
          </p:cNvPicPr>
          <p:nvPr/>
        </p:nvPicPr>
        <p:blipFill>
          <a:blip r:embed="rId1"/>
          <a:stretch>
            <a:fillRect/>
          </a:stretch>
        </p:blipFill>
        <p:spPr>
          <a:xfrm>
            <a:off x="281305" y="0"/>
            <a:ext cx="2687955" cy="749300"/>
          </a:xfrm>
          <a:prstGeom prst="rect">
            <a:avLst/>
          </a:prstGeom>
          <a:noFill/>
        </p:spPr>
      </p:pic>
      <p:cxnSp>
        <p:nvCxnSpPr>
          <p:cNvPr id="11" name="直接连接符 10"/>
          <p:cNvCxnSpPr/>
          <p:nvPr/>
        </p:nvCxnSpPr>
        <p:spPr>
          <a:xfrm>
            <a:off x="4821649" y="27937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0387330" y="189865"/>
            <a:ext cx="14649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355600" y="958850"/>
            <a:ext cx="4652645" cy="2692400"/>
          </a:xfrm>
          <a:prstGeom prst="rect">
            <a:avLst/>
          </a:prstGeom>
        </p:spPr>
      </p:pic>
      <p:sp>
        <p:nvSpPr>
          <p:cNvPr id="2" name="文本框 1"/>
          <p:cNvSpPr txBox="1"/>
          <p:nvPr/>
        </p:nvSpPr>
        <p:spPr>
          <a:xfrm>
            <a:off x="5429250" y="1129030"/>
            <a:ext cx="6292215" cy="2205355"/>
          </a:xfrm>
          <a:prstGeom prst="rect">
            <a:avLst/>
          </a:prstGeom>
          <a:noFill/>
        </p:spPr>
        <p:txBody>
          <a:bodyPr wrap="square" rtlCol="0">
            <a:noAutofit/>
          </a:bodyPr>
          <a:p>
            <a:pPr indent="0" fontAlgn="auto">
              <a:lnSpc>
                <a:spcPct val="120000"/>
              </a:lnSpc>
            </a:pP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把所有实体名字组成集合</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 W = {w</a:t>
            </a:r>
            <a:r>
              <a:rPr lang="en-US" altLang="zh-CN" baseline="-25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 w</a:t>
            </a:r>
            <a:r>
              <a:rPr lang="en-US" altLang="en-US" baseline="-25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2</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 …, w</a:t>
            </a:r>
            <a:r>
              <a:rPr lang="en-US" altLang="zh-CN" baseline="-25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20000"/>
              </a:lnSpc>
            </a:pP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对每个名字</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 w</a:t>
            </a:r>
            <a:r>
              <a:rPr lang="en-US" altLang="en-US" baseline="-25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，拆成字符序列</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 C</a:t>
            </a:r>
            <a:r>
              <a:rPr lang="en-US" altLang="zh-CN" baseline="-25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N</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 {c</a:t>
            </a:r>
            <a:r>
              <a:rPr lang="en-US" altLang="en-US" baseline="-25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1</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 …, c</a:t>
            </a:r>
            <a:r>
              <a:rPr lang="en-US" altLang="zh-CN" baseline="-2500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m</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indent="0" fontAlgn="auto">
              <a:lnSpc>
                <a:spcPct val="120000"/>
              </a:lnSpc>
            </a:pPr>
            <a:endPar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0000"/>
              </a:lnSpc>
              <a:buClrTx/>
              <a:buSzTx/>
              <a:buFontTx/>
            </a:pP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用</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 CBOW </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模型训练字符向量：给定上下文字符，预测中间字符得到每一个字符 c 的 embedding 映射</a:t>
            </a:r>
            <a:endPar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a:p>
            <a:pPr algn="l" fontAlgn="auto">
              <a:lnSpc>
                <a:spcPct val="120000"/>
              </a:lnSpc>
              <a:buClrTx/>
              <a:buSzTx/>
              <a:buFontTx/>
            </a:pP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对于实体名字 wn，把其所有字符的 embedding 做平均</a:t>
            </a:r>
            <a:endPar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7" name="图片 6"/>
          <p:cNvPicPr>
            <a:picLocks noChangeAspect="1"/>
          </p:cNvPicPr>
          <p:nvPr/>
        </p:nvPicPr>
        <p:blipFill>
          <a:blip r:embed="rId3"/>
          <a:stretch>
            <a:fillRect/>
          </a:stretch>
        </p:blipFill>
        <p:spPr>
          <a:xfrm>
            <a:off x="7661275" y="3333750"/>
            <a:ext cx="1616710" cy="685800"/>
          </a:xfrm>
          <a:prstGeom prst="rect">
            <a:avLst/>
          </a:prstGeom>
        </p:spPr>
      </p:pic>
      <p:sp>
        <p:nvSpPr>
          <p:cNvPr id="69" name="内容占位符 2"/>
          <p:cNvSpPr>
            <a:spLocks noGrp="1"/>
          </p:cNvSpPr>
          <p:nvPr/>
        </p:nvSpPr>
        <p:spPr>
          <a:xfrm>
            <a:off x="355600" y="4423410"/>
            <a:ext cx="5898515" cy="1839595"/>
          </a:xfrm>
          <a:prstGeom prst="rect">
            <a:avLst/>
          </a:prstGeom>
        </p:spPr>
        <p:txBody>
          <a:bodyPr vert="horz" lIns="90000" tIns="46800" rIns="90000" bIns="46800" rtlCol="0">
            <a:normAutofit lnSpcReduction="20000"/>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字符嵌入空间</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a:t>
            </a:r>
            <a:r>
              <a:rPr lang="en-US" altLang="en-US">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latin typeface="微软雅黑" panose="020B0503020204020204" pitchFamily="34" charset="-122"/>
                <a:ea typeface="微软雅黑" panose="020B0503020204020204" pitchFamily="34" charset="-122"/>
                <a:cs typeface="微软雅黑" panose="020B0503020204020204" pitchFamily="34" charset="-122"/>
                <a:sym typeface="+mn-ea"/>
              </a:rPr>
              <a:t> KG </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嵌入空间变换的必要性</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CBOW </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是字符语义空间</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ComplEx </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嵌入是在 </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KG </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空间</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两个空间完全不同，无法直接进行 </a:t>
            </a:r>
            <a:r>
              <a:rPr lang="en-US" altLang="zh-CN" sz="1800">
                <a:latin typeface="微软雅黑" panose="020B0503020204020204" pitchFamily="34" charset="-122"/>
                <a:ea typeface="微软雅黑" panose="020B0503020204020204" pitchFamily="34" charset="-122"/>
                <a:cs typeface="微软雅黑" panose="020B0503020204020204" pitchFamily="34" charset="-122"/>
                <a:sym typeface="+mn-ea"/>
              </a:rPr>
              <a:t>score </a:t>
            </a:r>
            <a:r>
              <a:rPr lang="zh-CN" altLang="en-US" sz="1800">
                <a:latin typeface="微软雅黑" panose="020B0503020204020204" pitchFamily="34" charset="-122"/>
                <a:ea typeface="微软雅黑" panose="020B0503020204020204" pitchFamily="34" charset="-122"/>
                <a:cs typeface="微软雅黑" panose="020B0503020204020204" pitchFamily="34" charset="-122"/>
                <a:sym typeface="+mn-ea"/>
              </a:rPr>
              <a:t>运算</a:t>
            </a:r>
            <a:endParaRPr lang="en-US" altLang="zh-CN">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内容占位符 2"/>
          <p:cNvSpPr>
            <a:spLocks noGrp="1"/>
          </p:cNvSpPr>
          <p:nvPr/>
        </p:nvSpPr>
        <p:spPr>
          <a:xfrm>
            <a:off x="6390640" y="4554220"/>
            <a:ext cx="5461000" cy="1577975"/>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线性变换</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仿射变换</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MLP(</a:t>
            </a:r>
            <a:r>
              <a:rPr lang="zh-CN" altLang="en-US">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多层感知机</a:t>
            </a:r>
            <a:r>
              <a:rPr lang="en-US" altLang="zh-C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pic>
        <p:nvPicPr>
          <p:cNvPr id="13" name="图片 12"/>
          <p:cNvPicPr>
            <a:picLocks noChangeAspect="1"/>
          </p:cNvPicPr>
          <p:nvPr/>
        </p:nvPicPr>
        <p:blipFill>
          <a:blip r:embed="rId4"/>
          <a:stretch>
            <a:fillRect/>
          </a:stretch>
        </p:blipFill>
        <p:spPr>
          <a:xfrm>
            <a:off x="9025255" y="4895850"/>
            <a:ext cx="2182495" cy="5930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617033"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92713"/>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46904" y="92714"/>
            <a:ext cx="1344000" cy="58737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理论基础与相关研究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研究总体框架</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sp>
        <p:nvSpPr>
          <p:cNvPr id="29" name="TextBox 10"/>
          <p:cNvSpPr txBox="1"/>
          <p:nvPr/>
        </p:nvSpPr>
        <p:spPr>
          <a:xfrm>
            <a:off x="8468284" y="92714"/>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模型验证</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和评估</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图片 9" descr="校徽"/>
          <p:cNvPicPr>
            <a:picLocks noChangeAspect="1"/>
          </p:cNvPicPr>
          <p:nvPr/>
        </p:nvPicPr>
        <p:blipFill>
          <a:blip r:embed="rId1"/>
          <a:stretch>
            <a:fillRect/>
          </a:stretch>
        </p:blipFill>
        <p:spPr>
          <a:xfrm>
            <a:off x="281305" y="0"/>
            <a:ext cx="2687955" cy="749300"/>
          </a:xfrm>
          <a:prstGeom prst="rect">
            <a:avLst/>
          </a:prstGeom>
          <a:noFill/>
        </p:spPr>
      </p:pic>
      <p:cxnSp>
        <p:nvCxnSpPr>
          <p:cNvPr id="11" name="直接连接符 10"/>
          <p:cNvCxnSpPr/>
          <p:nvPr/>
        </p:nvCxnSpPr>
        <p:spPr>
          <a:xfrm>
            <a:off x="4821649" y="27937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0387330" y="215900"/>
            <a:ext cx="14649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2"/>
          <a:stretch>
            <a:fillRect/>
          </a:stretch>
        </p:blipFill>
        <p:spPr>
          <a:xfrm>
            <a:off x="373380" y="1028700"/>
            <a:ext cx="8589010" cy="2691765"/>
          </a:xfrm>
          <a:prstGeom prst="rect">
            <a:avLst/>
          </a:prstGeom>
        </p:spPr>
      </p:pic>
      <p:pic>
        <p:nvPicPr>
          <p:cNvPr id="3" name="图片 2"/>
          <p:cNvPicPr>
            <a:picLocks noChangeAspect="1"/>
          </p:cNvPicPr>
          <p:nvPr/>
        </p:nvPicPr>
        <p:blipFill>
          <a:blip r:embed="rId3"/>
          <a:stretch>
            <a:fillRect/>
          </a:stretch>
        </p:blipFill>
        <p:spPr>
          <a:xfrm>
            <a:off x="8282940" y="4281170"/>
            <a:ext cx="2618105" cy="457200"/>
          </a:xfrm>
          <a:prstGeom prst="rect">
            <a:avLst/>
          </a:prstGeom>
        </p:spPr>
      </p:pic>
      <p:pic>
        <p:nvPicPr>
          <p:cNvPr id="6" name="图片 5"/>
          <p:cNvPicPr>
            <a:picLocks noChangeAspect="1"/>
          </p:cNvPicPr>
          <p:nvPr/>
        </p:nvPicPr>
        <p:blipFill>
          <a:blip r:embed="rId4"/>
          <a:stretch>
            <a:fillRect/>
          </a:stretch>
        </p:blipFill>
        <p:spPr>
          <a:xfrm>
            <a:off x="1069975" y="4161155"/>
            <a:ext cx="6384290" cy="696595"/>
          </a:xfrm>
          <a:prstGeom prst="rect">
            <a:avLst/>
          </a:prstGeom>
        </p:spPr>
      </p:pic>
      <p:sp>
        <p:nvSpPr>
          <p:cNvPr id="9" name="文本框 8"/>
          <p:cNvSpPr txBox="1"/>
          <p:nvPr/>
        </p:nvSpPr>
        <p:spPr>
          <a:xfrm>
            <a:off x="373380" y="5189220"/>
            <a:ext cx="10725150" cy="1087755"/>
          </a:xfrm>
          <a:prstGeom prst="rect">
            <a:avLst/>
          </a:prstGeom>
          <a:solidFill>
            <a:schemeClr val="accent5">
              <a:lumMod val="40000"/>
              <a:lumOff val="60000"/>
            </a:schemeClr>
          </a:solidFill>
          <a:ln>
            <a:solidFill>
              <a:schemeClr val="accent1"/>
            </a:solidFill>
          </a:ln>
        </p:spPr>
        <p:txBody>
          <a:bodyPr wrap="square" rtlCol="0">
            <a:spAutoFit/>
          </a:bodyPr>
          <a:p>
            <a:pPr algn="l">
              <a:lnSpc>
                <a:spcPct val="120000"/>
              </a:lnSpc>
              <a:buClrTx/>
              <a:buSzTx/>
              <a:buNone/>
            </a:pP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ComplEx 的实体向量和关系向量都是从 IMKG 的真实三元组出发，通过随机初始化、正负样本训练、打分函数得到的。最终这些向量用于判断三元组的合理性，帮助未知字段找到正确的父节点，实现开放世界知识补全</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0" name="下箭头 29"/>
          <p:cNvSpPr/>
          <p:nvPr/>
        </p:nvSpPr>
        <p:spPr>
          <a:xfrm rot="10800000">
            <a:off x="10168890" y="3832225"/>
            <a:ext cx="81915" cy="354330"/>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文本框 7"/>
          <p:cNvSpPr txBox="1"/>
          <p:nvPr/>
        </p:nvSpPr>
        <p:spPr>
          <a:xfrm>
            <a:off x="9070975" y="1028700"/>
            <a:ext cx="2846070" cy="2691765"/>
          </a:xfrm>
          <a:prstGeom prst="rect">
            <a:avLst/>
          </a:prstGeom>
          <a:solidFill>
            <a:schemeClr val="accent5">
              <a:lumMod val="40000"/>
              <a:lumOff val="60000"/>
            </a:schemeClr>
          </a:solidFill>
          <a:ln>
            <a:solidFill>
              <a:schemeClr val="accent1"/>
            </a:solidFill>
          </a:ln>
        </p:spPr>
        <p:txBody>
          <a:bodyPr wrap="square" rtlCol="0">
            <a:noAutofit/>
          </a:bodyPr>
          <a:p>
            <a:pPr algn="l">
              <a:lnSpc>
                <a:spcPct val="120000"/>
              </a:lnSpc>
              <a:buClrTx/>
              <a:buSzTx/>
              <a:buNone/>
            </a:pP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遍历所有可能的</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head ∈ E</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E </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是</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IMKG </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中的实体集合）用</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ComplEx </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的打分函数，计算每个候选</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head </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的</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 score</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，选中分数最高的即为</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tail</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应该在</a:t>
            </a:r>
            <a:r>
              <a:rPr lang="en-US" altLang="zh-CN">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IMKG</a:t>
            </a: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rPr>
              <a:t>中应该挂靠的节点</a:t>
            </a:r>
            <a:endPar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6617033"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92713"/>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46904" y="92714"/>
            <a:ext cx="1344000" cy="58737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理论基础与相关研究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研究总体框架</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sp>
        <p:nvSpPr>
          <p:cNvPr id="29" name="TextBox 10"/>
          <p:cNvSpPr txBox="1"/>
          <p:nvPr/>
        </p:nvSpPr>
        <p:spPr>
          <a:xfrm>
            <a:off x="8480349" y="92714"/>
            <a:ext cx="1344000" cy="58737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模型验证</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rPr>
              <a:t>和评估</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图片 9" descr="校徽"/>
          <p:cNvPicPr>
            <a:picLocks noChangeAspect="1"/>
          </p:cNvPicPr>
          <p:nvPr/>
        </p:nvPicPr>
        <p:blipFill>
          <a:blip r:embed="rId1"/>
          <a:stretch>
            <a:fillRect/>
          </a:stretch>
        </p:blipFill>
        <p:spPr>
          <a:xfrm>
            <a:off x="281305" y="0"/>
            <a:ext cx="2687955" cy="749300"/>
          </a:xfrm>
          <a:prstGeom prst="rect">
            <a:avLst/>
          </a:prstGeom>
          <a:noFill/>
        </p:spPr>
      </p:pic>
      <p:cxnSp>
        <p:nvCxnSpPr>
          <p:cNvPr id="11" name="直接连接符 10"/>
          <p:cNvCxnSpPr/>
          <p:nvPr/>
        </p:nvCxnSpPr>
        <p:spPr>
          <a:xfrm>
            <a:off x="4821649" y="279377"/>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0387330" y="189865"/>
            <a:ext cx="1464945"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stretch>
            <a:fillRect/>
          </a:stretch>
        </p:blipFill>
        <p:spPr>
          <a:xfrm>
            <a:off x="5247005" y="1066165"/>
            <a:ext cx="6269990" cy="1572895"/>
          </a:xfrm>
          <a:prstGeom prst="rect">
            <a:avLst/>
          </a:prstGeom>
        </p:spPr>
      </p:pic>
      <p:pic>
        <p:nvPicPr>
          <p:cNvPr id="8" name="图片 7" descr="未命名绘图.drawio"/>
          <p:cNvPicPr>
            <a:picLocks noChangeAspect="1"/>
          </p:cNvPicPr>
          <p:nvPr/>
        </p:nvPicPr>
        <p:blipFill>
          <a:blip r:embed="rId3"/>
          <a:stretch>
            <a:fillRect/>
          </a:stretch>
        </p:blipFill>
        <p:spPr>
          <a:xfrm>
            <a:off x="607060" y="1066165"/>
            <a:ext cx="4214495" cy="2910840"/>
          </a:xfrm>
          <a:prstGeom prst="rect">
            <a:avLst/>
          </a:prstGeom>
        </p:spPr>
      </p:pic>
      <p:sp>
        <p:nvSpPr>
          <p:cNvPr id="9" name="文本框 8"/>
          <p:cNvSpPr txBox="1"/>
          <p:nvPr/>
        </p:nvSpPr>
        <p:spPr>
          <a:xfrm>
            <a:off x="607060" y="4147820"/>
            <a:ext cx="4213860" cy="2084070"/>
          </a:xfrm>
          <a:prstGeom prst="rect">
            <a:avLst/>
          </a:prstGeom>
          <a:noFill/>
        </p:spPr>
        <p:txBody>
          <a:bodyPr wrap="square" rtlCol="0">
            <a:spAutoFit/>
          </a:bodyPr>
          <a:p>
            <a:pPr indent="457200" algn="l" fontAlgn="auto">
              <a:lnSpc>
                <a:spcPct val="120000"/>
              </a:lnSpc>
              <a:buClrTx/>
              <a:buSzTx/>
              <a:buFontTx/>
              <a:extLst>
                <a:ext uri="{35155182-B16C-46BC-9424-99874614C6A1}">
                  <wpsdc:indentchars xmlns:wpsdc="http://www.wps.cn/officeDocument/2017/drawingmlCustomData" val="200" checksum="59296752"/>
                </a:ext>
              </a:extLst>
            </a:pPr>
            <a:r>
              <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rPr>
              <a:t>OWL 用于把结构图谱 IMKG 转换为语义本体模型，使节点类型、继承关系、引用语义明确化，从而为 OPC UA Nodeset XML 的生成提供完整的语义信息。没有 OWL，无法正确生成合法的 OPC UA 信息模型。</a:t>
            </a:r>
            <a:endParaRPr lang="zh-CN" altLang="en-US">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p:cNvPicPr>
            <a:picLocks noChangeAspect="1"/>
          </p:cNvPicPr>
          <p:nvPr/>
        </p:nvPicPr>
        <p:blipFill>
          <a:blip r:embed="rId4"/>
          <a:stretch>
            <a:fillRect/>
          </a:stretch>
        </p:blipFill>
        <p:spPr>
          <a:xfrm>
            <a:off x="5086985" y="2868930"/>
            <a:ext cx="6765290" cy="1278890"/>
          </a:xfrm>
          <a:prstGeom prst="rect">
            <a:avLst/>
          </a:prstGeom>
        </p:spPr>
      </p:pic>
      <p:pic>
        <p:nvPicPr>
          <p:cNvPr id="14" name="图片 13"/>
          <p:cNvPicPr>
            <a:picLocks noChangeAspect="1"/>
          </p:cNvPicPr>
          <p:nvPr/>
        </p:nvPicPr>
        <p:blipFill>
          <a:blip r:embed="rId5"/>
          <a:stretch>
            <a:fillRect/>
          </a:stretch>
        </p:blipFill>
        <p:spPr>
          <a:xfrm>
            <a:off x="6502400" y="4723130"/>
            <a:ext cx="3935095" cy="620395"/>
          </a:xfrm>
          <a:prstGeom prst="rect">
            <a:avLst/>
          </a:prstGeom>
        </p:spPr>
      </p:pic>
      <p:sp>
        <p:nvSpPr>
          <p:cNvPr id="17" name="文本框 16"/>
          <p:cNvSpPr txBox="1"/>
          <p:nvPr/>
        </p:nvSpPr>
        <p:spPr>
          <a:xfrm>
            <a:off x="7457440" y="4251325"/>
            <a:ext cx="2023745" cy="368300"/>
          </a:xfrm>
          <a:prstGeom prst="rect">
            <a:avLst/>
          </a:prstGeom>
          <a:solidFill>
            <a:schemeClr val="accent5">
              <a:lumMod val="40000"/>
              <a:lumOff val="60000"/>
            </a:schemeClr>
          </a:solidFill>
          <a:ln>
            <a:noFill/>
          </a:ln>
        </p:spPr>
        <p:txBody>
          <a:bodyPr wrap="square" rtlCol="0">
            <a:spAutoFit/>
          </a:bodyPr>
          <a:p>
            <a:pPr algn="ctr"/>
            <a:r>
              <a:rPr lang="en-US"/>
              <a:t>Nodeset XML</a:t>
            </a:r>
            <a:r>
              <a:rPr lang="zh-CN" altLang="en-US"/>
              <a:t>格式</a:t>
            </a:r>
            <a:endParaRPr lang="zh-CN" altLang="en-US"/>
          </a:p>
        </p:txBody>
      </p:sp>
      <p:sp>
        <p:nvSpPr>
          <p:cNvPr id="18" name="文本框 17"/>
          <p:cNvSpPr txBox="1"/>
          <p:nvPr/>
        </p:nvSpPr>
        <p:spPr>
          <a:xfrm>
            <a:off x="7457440" y="5447030"/>
            <a:ext cx="2023745" cy="368300"/>
          </a:xfrm>
          <a:prstGeom prst="rect">
            <a:avLst/>
          </a:prstGeom>
          <a:solidFill>
            <a:schemeClr val="accent5">
              <a:lumMod val="40000"/>
              <a:lumOff val="60000"/>
            </a:schemeClr>
          </a:solidFill>
          <a:ln>
            <a:noFill/>
          </a:ln>
        </p:spPr>
        <p:txBody>
          <a:bodyPr wrap="square" rtlCol="0">
            <a:spAutoFit/>
          </a:bodyPr>
          <a:p>
            <a:pPr algn="ctr"/>
            <a:r>
              <a:rPr lang="en-US"/>
              <a:t>OWL</a:t>
            </a:r>
            <a:r>
              <a:rPr lang="zh-CN" altLang="en-US"/>
              <a:t>格式</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83372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114" y="80649"/>
            <a:ext cx="1344000" cy="58737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理论基础与相关研究</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研究总体框架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80649"/>
            <a:ext cx="1344000" cy="58737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模型验证</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和评估</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sp>
        <p:nvSpPr>
          <p:cNvPr id="3" name="TextBox 11"/>
          <p:cNvSpPr txBox="1"/>
          <p:nvPr/>
        </p:nvSpPr>
        <p:spPr>
          <a:xfrm>
            <a:off x="10387330" y="215900"/>
            <a:ext cx="1464945"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487371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stretch>
            <a:fillRect/>
          </a:stretch>
        </p:blipFill>
        <p:spPr>
          <a:xfrm>
            <a:off x="428625" y="1199515"/>
            <a:ext cx="3532505" cy="1714500"/>
          </a:xfrm>
          <a:prstGeom prst="rect">
            <a:avLst/>
          </a:prstGeom>
        </p:spPr>
      </p:pic>
      <p:sp>
        <p:nvSpPr>
          <p:cNvPr id="18" name="文本框 17"/>
          <p:cNvSpPr txBox="1"/>
          <p:nvPr/>
        </p:nvSpPr>
        <p:spPr>
          <a:xfrm>
            <a:off x="429260" y="3021965"/>
            <a:ext cx="3531870" cy="922020"/>
          </a:xfrm>
          <a:prstGeom prst="rect">
            <a:avLst/>
          </a:prstGeom>
          <a:solidFill>
            <a:schemeClr val="accent5">
              <a:lumMod val="40000"/>
              <a:lumOff val="60000"/>
            </a:schemeClr>
          </a:solidFill>
          <a:ln>
            <a:noFill/>
          </a:ln>
        </p:spPr>
        <p:txBody>
          <a:bodyPr wrap="square" rtlCol="0">
            <a:sp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rPr>
              <a:t>来自</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飞机制造</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电子制造</a:t>
            </a:r>
            <a:r>
              <a:rPr lang="en-US" altLang="zh-CN">
                <a:latin typeface="微软雅黑" panose="020B0503020204020204" pitchFamily="34" charset="-122"/>
                <a:ea typeface="微软雅黑" panose="020B0503020204020204" pitchFamily="34" charset="-122"/>
                <a:cs typeface="微软雅黑" panose="020B0503020204020204" pitchFamily="34" charset="-122"/>
              </a:rPr>
              <a:t> </a:t>
            </a:r>
            <a:r>
              <a:rPr lang="zh-CN" altLang="en-US">
                <a:latin typeface="微软雅黑" panose="020B0503020204020204" pitchFamily="34" charset="-122"/>
                <a:ea typeface="微软雅黑" panose="020B0503020204020204" pitchFamily="34" charset="-122"/>
                <a:cs typeface="微软雅黑" panose="020B0503020204020204" pitchFamily="34" charset="-122"/>
              </a:rPr>
              <a:t>两个行业的</a:t>
            </a:r>
            <a:r>
              <a:rPr lang="en-US" altLang="zh-CN">
                <a:latin typeface="微软雅黑" panose="020B0503020204020204" pitchFamily="34" charset="-122"/>
                <a:ea typeface="微软雅黑" panose="020B0503020204020204" pitchFamily="34" charset="-122"/>
                <a:cs typeface="微软雅黑" panose="020B0503020204020204" pitchFamily="34" charset="-122"/>
              </a:rPr>
              <a:t>28</a:t>
            </a:r>
            <a:r>
              <a:rPr lang="zh-CN" altLang="en-US">
                <a:latin typeface="微软雅黑" panose="020B0503020204020204" pitchFamily="34" charset="-122"/>
                <a:ea typeface="微软雅黑" panose="020B0503020204020204" pitchFamily="34" charset="-122"/>
                <a:cs typeface="微软雅黑" panose="020B0503020204020204" pitchFamily="34" charset="-122"/>
              </a:rPr>
              <a:t>台典型设备得到的</a:t>
            </a:r>
            <a:r>
              <a:rPr lang="en-US" altLang="zh-CN">
                <a:latin typeface="微软雅黑" panose="020B0503020204020204" pitchFamily="34" charset="-122"/>
                <a:ea typeface="微软雅黑" panose="020B0503020204020204" pitchFamily="34" charset="-122"/>
                <a:cs typeface="微软雅黑" panose="020B0503020204020204" pitchFamily="34" charset="-122"/>
              </a:rPr>
              <a:t>1870</a:t>
            </a:r>
            <a:r>
              <a:rPr lang="zh-CN" altLang="en-US">
                <a:latin typeface="微软雅黑" panose="020B0503020204020204" pitchFamily="34" charset="-122"/>
                <a:ea typeface="微软雅黑" panose="020B0503020204020204" pitchFamily="34" charset="-122"/>
                <a:cs typeface="微软雅黑" panose="020B0503020204020204" pitchFamily="34" charset="-122"/>
              </a:rPr>
              <a:t>个样本</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6" name="图片 5"/>
          <p:cNvPicPr>
            <a:picLocks noChangeAspect="1"/>
          </p:cNvPicPr>
          <p:nvPr/>
        </p:nvPicPr>
        <p:blipFill>
          <a:blip r:embed="rId3"/>
          <a:srcRect t="2612" b="2873"/>
          <a:stretch>
            <a:fillRect/>
          </a:stretch>
        </p:blipFill>
        <p:spPr>
          <a:xfrm>
            <a:off x="4434205" y="1209675"/>
            <a:ext cx="6834505" cy="1378585"/>
          </a:xfrm>
          <a:prstGeom prst="rect">
            <a:avLst/>
          </a:prstGeom>
        </p:spPr>
      </p:pic>
      <p:sp>
        <p:nvSpPr>
          <p:cNvPr id="11" name="文本框 10"/>
          <p:cNvSpPr txBox="1"/>
          <p:nvPr/>
        </p:nvSpPr>
        <p:spPr>
          <a:xfrm>
            <a:off x="4434205" y="2914015"/>
            <a:ext cx="6834505" cy="645160"/>
          </a:xfrm>
          <a:prstGeom prst="rect">
            <a:avLst/>
          </a:prstGeom>
          <a:solidFill>
            <a:schemeClr val="accent5">
              <a:lumMod val="40000"/>
              <a:lumOff val="60000"/>
            </a:schemeClr>
          </a:solidFill>
          <a:ln>
            <a:noFill/>
          </a:ln>
        </p:spPr>
        <p:txBody>
          <a:bodyPr wrap="square" rtlCol="0">
            <a:sp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rPr>
              <a:t>详细对比了几个通用</a:t>
            </a:r>
            <a:r>
              <a:rPr lang="en-US" altLang="zh-CN">
                <a:latin typeface="微软雅黑" panose="020B0503020204020204" pitchFamily="34" charset="-122"/>
                <a:ea typeface="微软雅黑" panose="020B0503020204020204" pitchFamily="34" charset="-122"/>
                <a:cs typeface="微软雅黑" panose="020B0503020204020204" pitchFamily="34" charset="-122"/>
              </a:rPr>
              <a:t>CNN</a:t>
            </a:r>
            <a:r>
              <a:rPr lang="zh-CN" altLang="en-US">
                <a:latin typeface="微软雅黑" panose="020B0503020204020204" pitchFamily="34" charset="-122"/>
                <a:ea typeface="微软雅黑" panose="020B0503020204020204" pitchFamily="34" charset="-122"/>
                <a:cs typeface="微软雅黑" panose="020B0503020204020204" pitchFamily="34" charset="-122"/>
              </a:rPr>
              <a:t>模型，</a:t>
            </a:r>
            <a:r>
              <a:rPr lang="en-US" altLang="zh-CN">
                <a:latin typeface="微软雅黑" panose="020B0503020204020204" pitchFamily="34" charset="-122"/>
                <a:ea typeface="微软雅黑" panose="020B0503020204020204" pitchFamily="34" charset="-122"/>
                <a:cs typeface="微软雅黑" panose="020B0503020204020204" pitchFamily="34" charset="-122"/>
              </a:rPr>
              <a:t>P(</a:t>
            </a:r>
            <a:r>
              <a:rPr lang="zh-CN" altLang="en-US">
                <a:latin typeface="微软雅黑" panose="020B0503020204020204" pitchFamily="34" charset="-122"/>
                <a:ea typeface="微软雅黑" panose="020B0503020204020204" pitchFamily="34" charset="-122"/>
                <a:cs typeface="微软雅黑" panose="020B0503020204020204" pitchFamily="34" charset="-122"/>
              </a:rPr>
              <a:t>精确率</a:t>
            </a:r>
            <a:r>
              <a:rPr lang="en-US" altLang="zh-CN">
                <a:latin typeface="微软雅黑" panose="020B0503020204020204" pitchFamily="34" charset="-122"/>
                <a:ea typeface="微软雅黑" panose="020B0503020204020204" pitchFamily="34" charset="-122"/>
                <a:cs typeface="微软雅黑" panose="020B0503020204020204" pitchFamily="34" charset="-122"/>
              </a:rPr>
              <a:t>)</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R(</a:t>
            </a:r>
            <a:r>
              <a:rPr lang="zh-CN" altLang="en-US">
                <a:latin typeface="微软雅黑" panose="020B0503020204020204" pitchFamily="34" charset="-122"/>
                <a:ea typeface="微软雅黑" panose="020B0503020204020204" pitchFamily="34" charset="-122"/>
                <a:cs typeface="微软雅黑" panose="020B0503020204020204" pitchFamily="34" charset="-122"/>
              </a:rPr>
              <a:t>召回率</a:t>
            </a:r>
            <a:r>
              <a:rPr lang="en-US" altLang="zh-CN">
                <a:latin typeface="微软雅黑" panose="020B0503020204020204" pitchFamily="34" charset="-122"/>
                <a:ea typeface="微软雅黑" panose="020B0503020204020204" pitchFamily="34" charset="-122"/>
                <a:cs typeface="微软雅黑" panose="020B0503020204020204" pitchFamily="34" charset="-122"/>
              </a:rPr>
              <a:t>)</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tLang="zh-CN">
                <a:latin typeface="微软雅黑" panose="020B0503020204020204" pitchFamily="34" charset="-122"/>
                <a:ea typeface="微软雅黑" panose="020B0503020204020204" pitchFamily="34" charset="-122"/>
                <a:cs typeface="微软雅黑" panose="020B0503020204020204" pitchFamily="34" charset="-122"/>
              </a:rPr>
              <a:t>F1score</a:t>
            </a:r>
            <a:r>
              <a:rPr lang="zh-CN" altLang="en-US">
                <a:latin typeface="微软雅黑" panose="020B0503020204020204" pitchFamily="34" charset="-122"/>
                <a:ea typeface="微软雅黑" panose="020B0503020204020204" pitchFamily="34" charset="-122"/>
                <a:cs typeface="微软雅黑" panose="020B0503020204020204" pitchFamily="34" charset="-122"/>
              </a:rPr>
              <a:t>如上图</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2" name="图片 11"/>
          <p:cNvPicPr>
            <a:picLocks noChangeAspect="1"/>
          </p:cNvPicPr>
          <p:nvPr/>
        </p:nvPicPr>
        <p:blipFill>
          <a:blip r:embed="rId4"/>
          <a:stretch>
            <a:fillRect/>
          </a:stretch>
        </p:blipFill>
        <p:spPr>
          <a:xfrm>
            <a:off x="5487035" y="3942715"/>
            <a:ext cx="2635250" cy="2538095"/>
          </a:xfrm>
          <a:prstGeom prst="rect">
            <a:avLst/>
          </a:prstGeom>
        </p:spPr>
      </p:pic>
      <p:sp>
        <p:nvSpPr>
          <p:cNvPr id="13" name="文本框 12"/>
          <p:cNvSpPr txBox="1"/>
          <p:nvPr/>
        </p:nvSpPr>
        <p:spPr>
          <a:xfrm>
            <a:off x="8377555" y="4758055"/>
            <a:ext cx="1641475" cy="922020"/>
          </a:xfrm>
          <a:prstGeom prst="rect">
            <a:avLst/>
          </a:prstGeom>
          <a:solidFill>
            <a:schemeClr val="accent5">
              <a:lumMod val="40000"/>
              <a:lumOff val="60000"/>
            </a:schemeClr>
          </a:solidFill>
          <a:ln>
            <a:noFill/>
          </a:ln>
        </p:spPr>
        <p:txBody>
          <a:bodyPr wrap="square" rtlCol="0">
            <a:spAutoFit/>
          </a:bodyPr>
          <a:p>
            <a:pPr algn="ctr"/>
            <a:r>
              <a:rPr lang="zh-CN" altLang="en-US">
                <a:latin typeface="微软雅黑" panose="020B0503020204020204" pitchFamily="34" charset="-122"/>
                <a:ea typeface="微软雅黑" panose="020B0503020204020204" pitchFamily="34" charset="-122"/>
              </a:rPr>
              <a:t>绘制混淆矩阵发现几乎没有类型混淆</a:t>
            </a:r>
            <a:endParaRPr lang="zh-CN" altLang="en-US">
              <a:latin typeface="微软雅黑" panose="020B0503020204020204" pitchFamily="34" charset="-122"/>
              <a:ea typeface="微软雅黑" panose="020B0503020204020204" pitchFamily="34" charset="-122"/>
            </a:endParaRPr>
          </a:p>
        </p:txBody>
      </p:sp>
      <p:sp>
        <p:nvSpPr>
          <p:cNvPr id="5" name="文本框 4"/>
          <p:cNvSpPr txBox="1"/>
          <p:nvPr/>
        </p:nvSpPr>
        <p:spPr>
          <a:xfrm>
            <a:off x="429260" y="4193540"/>
            <a:ext cx="1946275" cy="1753235"/>
          </a:xfrm>
          <a:prstGeom prst="rect">
            <a:avLst/>
          </a:prstGeom>
          <a:noFill/>
        </p:spPr>
        <p:txBody>
          <a:bodyPr wrap="square" rtlCol="0">
            <a:spAutoFit/>
          </a:bodyPr>
          <a:p>
            <a:r>
              <a:rPr lang="en-US" altLang="zh-CN"/>
              <a:t>IR</a:t>
            </a:r>
            <a:r>
              <a:rPr lang="zh-CN" altLang="en-US"/>
              <a:t>：工业机器人</a:t>
            </a:r>
            <a:endParaRPr lang="zh-CN" altLang="en-US"/>
          </a:p>
          <a:p>
            <a:r>
              <a:rPr lang="en-US" altLang="zh-CN"/>
              <a:t>CNC</a:t>
            </a:r>
            <a:r>
              <a:rPr lang="zh-CN" altLang="en-US"/>
              <a:t>：数控机床</a:t>
            </a:r>
            <a:endParaRPr lang="en-US" altLang="zh-CN"/>
          </a:p>
          <a:p>
            <a:r>
              <a:rPr lang="en-US" altLang="zh-CN"/>
              <a:t>SOM</a:t>
            </a:r>
            <a:r>
              <a:rPr lang="zh-CN" altLang="en-US"/>
              <a:t>：分拣机</a:t>
            </a:r>
            <a:endParaRPr lang="en-US" altLang="zh-CN"/>
          </a:p>
          <a:p>
            <a:r>
              <a:rPr lang="en-US" altLang="zh-CN"/>
              <a:t>SCM</a:t>
            </a:r>
            <a:r>
              <a:rPr lang="zh-CN" altLang="en-US"/>
              <a:t>：划线机</a:t>
            </a:r>
            <a:endParaRPr lang="en-US" altLang="zh-CN"/>
          </a:p>
          <a:p>
            <a:r>
              <a:rPr lang="en-US" altLang="zh-CN"/>
              <a:t>PM</a:t>
            </a:r>
            <a:r>
              <a:rPr lang="zh-CN" altLang="en-US"/>
              <a:t>：贴片机</a:t>
            </a:r>
            <a:endParaRPr lang="en-US" altLang="zh-CN"/>
          </a:p>
          <a:p>
            <a:r>
              <a:rPr lang="en-US" altLang="zh-CN"/>
              <a:t>PW</a:t>
            </a:r>
            <a:r>
              <a:rPr lang="zh-CN" altLang="en-US"/>
              <a:t>：压焊机</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8337248" y="0"/>
            <a:ext cx="1666001" cy="792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74314" y="80648"/>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76114" y="80649"/>
            <a:ext cx="1344000" cy="58737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理论基础与相关研究</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研究总体框架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80649"/>
            <a:ext cx="1344000" cy="58737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模型验证</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a:p>
            <a:pPr algn="ctr"/>
            <a:r>
              <a:rPr lang="zh-CN" altLang="en-US" sz="1600" b="1" dirty="0" smtClean="0">
                <a:solidFill>
                  <a:schemeClr val="bg1"/>
                </a:solidFill>
                <a:latin typeface="微软雅黑" panose="020B0503020204020204" pitchFamily="34" charset="-122"/>
                <a:ea typeface="微软雅黑" panose="020B0503020204020204" pitchFamily="34" charset="-122"/>
                <a:sym typeface="+mn-ea"/>
              </a:rPr>
              <a:t>和评估</a:t>
            </a:r>
            <a:endParaRPr lang="zh-CN" altLang="en-US" sz="1600" b="1" dirty="0" smtClean="0">
              <a:solidFill>
                <a:schemeClr val="bg1"/>
              </a:solidFill>
              <a:latin typeface="微软雅黑" panose="020B0503020204020204" pitchFamily="34" charset="-122"/>
              <a:ea typeface="微软雅黑" panose="020B0503020204020204" pitchFamily="34" charset="-122"/>
              <a:sym typeface="+mn-ea"/>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图片 3" descr="校徽"/>
          <p:cNvPicPr>
            <a:picLocks noChangeAspect="1"/>
          </p:cNvPicPr>
          <p:nvPr/>
        </p:nvPicPr>
        <p:blipFill>
          <a:blip r:embed="rId1"/>
          <a:stretch>
            <a:fillRect/>
          </a:stretch>
        </p:blipFill>
        <p:spPr>
          <a:xfrm>
            <a:off x="281305" y="0"/>
            <a:ext cx="2687955" cy="749300"/>
          </a:xfrm>
          <a:prstGeom prst="rect">
            <a:avLst/>
          </a:prstGeom>
          <a:noFill/>
        </p:spPr>
      </p:pic>
      <p:sp>
        <p:nvSpPr>
          <p:cNvPr id="3" name="TextBox 11"/>
          <p:cNvSpPr txBox="1"/>
          <p:nvPr/>
        </p:nvSpPr>
        <p:spPr>
          <a:xfrm>
            <a:off x="10387330" y="215900"/>
            <a:ext cx="1464945" cy="340995"/>
          </a:xfrm>
          <a:prstGeom prst="rect">
            <a:avLst/>
          </a:prstGeom>
          <a:noFill/>
        </p:spPr>
        <p:txBody>
          <a:bodyPr wrap="square" lIns="0" tIns="48000" rIns="0" bIns="48000" rtlCol="0">
            <a:spAutoFit/>
          </a:bodyPr>
          <a:lstStyle/>
          <a:p>
            <a:pPr algn="ctr">
              <a:buClrTx/>
              <a:buSzTx/>
              <a:buFontTx/>
            </a:pPr>
            <a:r>
              <a:rPr lang="zh-CN" altLang="en-US" sz="1600" b="1" dirty="0" smtClean="0">
                <a:solidFill>
                  <a:schemeClr val="bg1">
                    <a:lumMod val="50000"/>
                  </a:schemeClr>
                </a:solidFill>
                <a:latin typeface="微软雅黑" panose="020B0503020204020204" pitchFamily="34" charset="-122"/>
                <a:ea typeface="微软雅黑" panose="020B0503020204020204" pitchFamily="34" charset="-122"/>
                <a:sym typeface="+mn-ea"/>
              </a:rPr>
              <a:t>未来展望</a:t>
            </a:r>
            <a:endParaRPr lang="zh-CN" altLang="en-US" sz="1600" b="1" dirty="0" smtClean="0">
              <a:solidFill>
                <a:schemeClr val="bg1">
                  <a:lumMod val="50000"/>
                </a:schemeClr>
              </a:solidFill>
              <a:latin typeface="微软雅黑" panose="020B0503020204020204" pitchFamily="34" charset="-122"/>
              <a:ea typeface="微软雅黑" panose="020B0503020204020204" pitchFamily="34" charset="-122"/>
            </a:endParaRPr>
          </a:p>
        </p:txBody>
      </p:sp>
      <p:cxnSp>
        <p:nvCxnSpPr>
          <p:cNvPr id="7" name="直接连接符 6"/>
          <p:cNvCxnSpPr/>
          <p:nvPr/>
        </p:nvCxnSpPr>
        <p:spPr>
          <a:xfrm>
            <a:off x="487371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p:nvPicPr>
        <p:blipFill>
          <a:blip r:embed="rId2"/>
          <a:stretch>
            <a:fillRect/>
          </a:stretch>
        </p:blipFill>
        <p:spPr>
          <a:xfrm>
            <a:off x="372745" y="1066800"/>
            <a:ext cx="6047105" cy="2362200"/>
          </a:xfrm>
          <a:prstGeom prst="rect">
            <a:avLst/>
          </a:prstGeom>
        </p:spPr>
      </p:pic>
      <p:sp>
        <p:nvSpPr>
          <p:cNvPr id="69" name="内容占位符 2"/>
          <p:cNvSpPr>
            <a:spLocks noGrp="1"/>
          </p:cNvSpPr>
          <p:nvPr/>
        </p:nvSpPr>
        <p:spPr>
          <a:xfrm>
            <a:off x="372745" y="3703955"/>
            <a:ext cx="6047740" cy="2673350"/>
          </a:xfrm>
          <a:prstGeom prst="rect">
            <a:avLst/>
          </a:prstGeom>
        </p:spPr>
        <p:txBody>
          <a:bodyPr vert="horz" lIns="90000" tIns="46800" rIns="90000" bIns="46800" rtlCol="0">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微软雅黑" panose="020B0503020204020204" pitchFamily="34" charset="-122"/>
                <a:ea typeface="微软雅黑" panose="020B0503020204020204" pitchFamily="34" charset="-122"/>
                <a:cs typeface="微软雅黑" panose="020B0503020204020204" pitchFamily="34" charset="-122"/>
                <a:sym typeface="+mn-ea"/>
              </a:rPr>
              <a:t>MRR</a:t>
            </a:r>
            <a:endParaRPr lang="en-US">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1600">
                <a:latin typeface="微软雅黑" panose="020B0503020204020204" pitchFamily="34" charset="-122"/>
                <a:ea typeface="微软雅黑" panose="020B0503020204020204" pitchFamily="34" charset="-122"/>
                <a:cs typeface="微软雅黑" panose="020B0503020204020204" pitchFamily="34" charset="-122"/>
                <a:sym typeface="+mn-ea"/>
              </a:rPr>
              <a:t>对每个测试样本，记真实头实体的排名倒数取平均</a:t>
            </a:r>
            <a:endParaRPr lang="en-US">
              <a:latin typeface="微软雅黑" panose="020B0503020204020204" pitchFamily="34" charset="-122"/>
              <a:ea typeface="微软雅黑" panose="020B0503020204020204" pitchFamily="34" charset="-122"/>
              <a:cs typeface="微软雅黑" panose="020B0503020204020204" pitchFamily="34" charset="-122"/>
              <a:sym typeface="+mn-ea"/>
            </a:endParaRPr>
          </a:p>
          <a:p>
            <a:r>
              <a:rPr lang="en-US" altLang="zh-CN" sz="1800">
                <a:latin typeface="微软雅黑" panose="020B0503020204020204" pitchFamily="34" charset="-122"/>
                <a:ea typeface="微软雅黑" panose="020B0503020204020204" pitchFamily="34" charset="-122"/>
                <a:cs typeface="微软雅黑" panose="020B0503020204020204" pitchFamily="34" charset="-122"/>
              </a:rPr>
              <a:t>hit@1</a:t>
            </a:r>
            <a:endParaRPr lang="en-US" altLang="zh-CN" sz="180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sz="1600">
                <a:latin typeface="微软雅黑" panose="020B0503020204020204" pitchFamily="34" charset="-122"/>
                <a:ea typeface="微软雅黑" panose="020B0503020204020204" pitchFamily="34" charset="-122"/>
                <a:cs typeface="微软雅黑" panose="020B0503020204020204" pitchFamily="34" charset="-122"/>
              </a:rPr>
              <a:t>在第一名的命中率</a:t>
            </a:r>
            <a:endParaRPr lang="en-US" altLang="zh-CN" sz="1600">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a:latin typeface="微软雅黑" panose="020B0503020204020204" pitchFamily="34" charset="-122"/>
                <a:ea typeface="微软雅黑" panose="020B0503020204020204" pitchFamily="34" charset="-122"/>
                <a:cs typeface="微软雅黑" panose="020B0503020204020204" pitchFamily="34" charset="-122"/>
              </a:rPr>
              <a:t>hit@3</a:t>
            </a:r>
            <a:endParaRPr lang="en-US" altLang="zh-CN" sz="1800">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en-US">
                <a:latin typeface="微软雅黑" panose="020B0503020204020204" pitchFamily="34" charset="-122"/>
                <a:ea typeface="微软雅黑" panose="020B0503020204020204" pitchFamily="34" charset="-122"/>
                <a:cs typeface="微软雅黑" panose="020B0503020204020204" pitchFamily="34" charset="-122"/>
              </a:rPr>
              <a:t>在前三名的命中率</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6855460" y="1249680"/>
            <a:ext cx="4876800" cy="47840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4"/>
          <p:cNvSpPr/>
          <p:nvPr/>
        </p:nvSpPr>
        <p:spPr>
          <a:xfrm>
            <a:off x="0" y="0"/>
            <a:ext cx="12192000" cy="792000"/>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a:p>
        </p:txBody>
      </p:sp>
      <p:cxnSp>
        <p:nvCxnSpPr>
          <p:cNvPr id="23" name="直接连接符 22"/>
          <p:cNvCxnSpPr/>
          <p:nvPr/>
        </p:nvCxnSpPr>
        <p:spPr>
          <a:xfrm>
            <a:off x="83014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100032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Box 6"/>
          <p:cNvSpPr txBox="1"/>
          <p:nvPr/>
        </p:nvSpPr>
        <p:spPr>
          <a:xfrm>
            <a:off x="3367329" y="92713"/>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研究背景</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与动机</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7"/>
          <p:cNvSpPr txBox="1"/>
          <p:nvPr/>
        </p:nvSpPr>
        <p:spPr>
          <a:xfrm>
            <a:off x="5094529" y="92714"/>
            <a:ext cx="1344000" cy="587375"/>
          </a:xfrm>
          <a:prstGeom prst="rect">
            <a:avLst/>
          </a:prstGeom>
          <a:noFill/>
        </p:spPr>
        <p:txBody>
          <a:bodyPr wrap="square" lIns="0" tIns="48000" rIns="0" bIns="48000" rtlCol="0">
            <a:spAutoFit/>
          </a:bodyPr>
          <a:lstStyle/>
          <a:p>
            <a:pPr algn="ctr">
              <a:buClrTx/>
              <a:buSzTx/>
              <a:buNone/>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理论基础与相关研究</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sp>
        <p:nvSpPr>
          <p:cNvPr id="28" name="TextBox 9"/>
          <p:cNvSpPr txBox="1"/>
          <p:nvPr/>
        </p:nvSpPr>
        <p:spPr>
          <a:xfrm>
            <a:off x="6778549" y="215903"/>
            <a:ext cx="1344000" cy="340995"/>
          </a:xfrm>
          <a:prstGeom prst="rect">
            <a:avLst/>
          </a:prstGeom>
          <a:noFill/>
        </p:spPr>
        <p:txBody>
          <a:bodyPr wrap="square" lIns="0" tIns="48000" rIns="0" bIns="48000" rtlCol="0">
            <a:spAutoFit/>
          </a:bodyPr>
          <a:lstStyle/>
          <a:p>
            <a:pPr algn="ctr">
              <a:buClrTx/>
              <a:buSzTx/>
              <a:buFontTx/>
            </a:pP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sym typeface="+mn-ea"/>
              </a:rPr>
              <a:t>研究总体框架</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9" name="TextBox 10"/>
          <p:cNvSpPr txBox="1"/>
          <p:nvPr/>
        </p:nvSpPr>
        <p:spPr>
          <a:xfrm>
            <a:off x="8480349" y="92714"/>
            <a:ext cx="1344000" cy="587375"/>
          </a:xfrm>
          <a:prstGeom prst="rect">
            <a:avLst/>
          </a:prstGeom>
          <a:noFill/>
        </p:spPr>
        <p:txBody>
          <a:bodyPr wrap="square" lIns="0" tIns="48000" rIns="0" bIns="48000" rtlCol="0">
            <a:spAutoFit/>
          </a:bodyPr>
          <a:lstStyle/>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模型验证</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a:p>
            <a:pPr algn="ctr"/>
            <a:r>
              <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rPr>
              <a:t>和评估</a:t>
            </a:r>
            <a:endParaRPr lang="zh-CN" altLang="en-US" sz="1600" b="1" dirty="0">
              <a:solidFill>
                <a:schemeClr val="tx1">
                  <a:lumMod val="65000"/>
                  <a:lumOff val="35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65996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1850"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图片 9" descr="校徽"/>
          <p:cNvPicPr>
            <a:picLocks noChangeAspect="1"/>
          </p:cNvPicPr>
          <p:nvPr/>
        </p:nvPicPr>
        <p:blipFill>
          <a:blip r:embed="rId1"/>
          <a:stretch>
            <a:fillRect/>
          </a:stretch>
        </p:blipFill>
        <p:spPr>
          <a:xfrm>
            <a:off x="281305" y="0"/>
            <a:ext cx="2687955" cy="749300"/>
          </a:xfrm>
          <a:prstGeom prst="rect">
            <a:avLst/>
          </a:prstGeom>
          <a:noFill/>
        </p:spPr>
      </p:pic>
      <p:sp>
        <p:nvSpPr>
          <p:cNvPr id="13" name="矩形 12"/>
          <p:cNvSpPr/>
          <p:nvPr/>
        </p:nvSpPr>
        <p:spPr>
          <a:xfrm>
            <a:off x="10003155" y="0"/>
            <a:ext cx="2199005" cy="79184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endParaRPr>
          </a:p>
        </p:txBody>
      </p:sp>
      <p:sp>
        <p:nvSpPr>
          <p:cNvPr id="11" name="TextBox 11"/>
          <p:cNvSpPr txBox="1"/>
          <p:nvPr/>
        </p:nvSpPr>
        <p:spPr>
          <a:xfrm>
            <a:off x="10387330" y="215900"/>
            <a:ext cx="1464945" cy="340995"/>
          </a:xfrm>
          <a:prstGeom prst="rect">
            <a:avLst/>
          </a:prstGeom>
          <a:noFill/>
        </p:spPr>
        <p:txBody>
          <a:bodyPr wrap="square" lIns="0" tIns="48000" rIns="0" bIns="48000" rtlCol="0">
            <a:spAutoFit/>
          </a:bodyPr>
          <a:lstStyle/>
          <a:p>
            <a:pPr algn="ctr"/>
            <a:r>
              <a:rPr lang="zh-CN" altLang="en-US" sz="1600" b="1" dirty="0" smtClean="0">
                <a:solidFill>
                  <a:schemeClr val="bg1"/>
                </a:solidFill>
                <a:latin typeface="微软雅黑" panose="020B0503020204020204" pitchFamily="34" charset="-122"/>
                <a:ea typeface="微软雅黑" panose="020B0503020204020204" pitchFamily="34" charset="-122"/>
              </a:rPr>
              <a:t>未来展望</a:t>
            </a:r>
            <a:endParaRPr lang="zh-CN" altLang="en-US" sz="1600" b="1" dirty="0" smtClean="0">
              <a:solidFill>
                <a:schemeClr val="bg1"/>
              </a:solidFill>
              <a:latin typeface="微软雅黑" panose="020B0503020204020204" pitchFamily="34" charset="-122"/>
              <a:ea typeface="微软雅黑" panose="020B0503020204020204" pitchFamily="34" charset="-122"/>
            </a:endParaRPr>
          </a:p>
        </p:txBody>
      </p:sp>
      <p:cxnSp>
        <p:nvCxnSpPr>
          <p:cNvPr id="12" name="直接连接符 11"/>
          <p:cNvCxnSpPr/>
          <p:nvPr/>
        </p:nvCxnSpPr>
        <p:spPr>
          <a:xfrm>
            <a:off x="4847049" y="285092"/>
            <a:ext cx="0" cy="245816"/>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1399540" y="920750"/>
            <a:ext cx="2575560" cy="1871980"/>
            <a:chOff x="1033" y="1433"/>
            <a:chExt cx="4056" cy="2948"/>
          </a:xfrm>
        </p:grpSpPr>
        <p:sp>
          <p:nvSpPr>
            <p:cNvPr id="52" name="学论网-矩形 1"/>
            <p:cNvSpPr/>
            <p:nvPr>
              <p:custDataLst>
                <p:tags r:id="rId2"/>
              </p:custDataLst>
            </p:nvPr>
          </p:nvSpPr>
          <p:spPr>
            <a:xfrm>
              <a:off x="1033" y="1433"/>
              <a:ext cx="4057" cy="2949"/>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55" name="学论网-www.xuelun.me"/>
            <p:cNvSpPr txBox="1"/>
            <p:nvPr>
              <p:custDataLst>
                <p:tags r:id="rId3"/>
              </p:custDataLst>
            </p:nvPr>
          </p:nvSpPr>
          <p:spPr>
            <a:xfrm>
              <a:off x="1201" y="1458"/>
              <a:ext cx="3681" cy="2705"/>
            </a:xfrm>
            <a:prstGeom prst="rect">
              <a:avLst/>
            </a:prstGeom>
            <a:noFill/>
            <a:ln>
              <a:noFill/>
            </a:ln>
          </p:spPr>
          <p:txBody>
            <a:bodyPr wrap="square" lIns="0" tIns="0" rIns="0" bIns="0" rtlCol="0">
              <a:noAutofit/>
            </a:bodyPr>
            <a:lstStyle/>
            <a:p>
              <a:pPr algn="ctr">
                <a:lnSpc>
                  <a:spcPct val="150000"/>
                </a:lnSpc>
              </a:pPr>
              <a:r>
                <a:rPr lang="zh-CN" altLang="en-US" sz="1600" b="1" dirty="0" smtClean="0">
                  <a:solidFill>
                    <a:srgbClr val="FF0000"/>
                  </a:solidFill>
                  <a:latin typeface="微软雅黑" panose="020B0503020204020204" pitchFamily="34" charset="-122"/>
                  <a:ea typeface="微软雅黑" panose="020B0503020204020204" pitchFamily="34" charset="-122"/>
                </a:rPr>
                <a:t>信息抽取</a:t>
              </a:r>
              <a:r>
                <a:rPr lang="en-US" altLang="zh-CN" sz="1600" b="1" dirty="0" smtClean="0">
                  <a:solidFill>
                    <a:srgbClr val="FF0000"/>
                  </a:solidFill>
                  <a:latin typeface="微软雅黑" panose="020B0503020204020204" pitchFamily="34" charset="-122"/>
                  <a:ea typeface="微软雅黑" panose="020B0503020204020204" pitchFamily="34" charset="-122"/>
                </a:rPr>
                <a:t>AgentIEA</a:t>
              </a:r>
              <a:endParaRPr lang="en-US" altLang="zh-CN" sz="2400" b="1" dirty="0" smtClean="0">
                <a:solidFill>
                  <a:srgbClr val="FF0000"/>
                </a:solidFill>
                <a:latin typeface="微软雅黑" panose="020B0503020204020204" pitchFamily="34" charset="-122"/>
                <a:ea typeface="微软雅黑" panose="020B0503020204020204" pitchFamily="34" charset="-122"/>
              </a:endParaRPr>
            </a:p>
            <a:p>
              <a:pPr indent="406400" algn="l" fontAlgn="auto">
                <a:lnSpc>
                  <a:spcPct val="150000"/>
                </a:lnSpc>
                <a:extLst>
                  <a:ext uri="{35155182-B16C-46BC-9424-99874614C6A1}">
                    <wpsdc:indentchars xmlns:wpsdc="http://www.wps.cn/officeDocument/2017/drawingmlCustomData" val="200" checksum="1740828767"/>
                  </a:ext>
                </a:extLst>
              </a:pPr>
              <a:r>
                <a:rPr lang="zh-CN" sz="1600">
                  <a:solidFill>
                    <a:srgbClr val="FF0000"/>
                  </a:solidFill>
                  <a:latin typeface="微软雅黑" panose="020B0503020204020204" pitchFamily="34" charset="-122"/>
                  <a:ea typeface="微软雅黑" panose="020B0503020204020204" pitchFamily="34" charset="-122"/>
                  <a:sym typeface="+mn-ea"/>
                </a:rPr>
                <a:t>设计</a:t>
              </a:r>
              <a:r>
                <a:rPr lang="en-US" altLang="zh-CN" sz="1600">
                  <a:solidFill>
                    <a:srgbClr val="FF0000"/>
                  </a:solidFill>
                  <a:latin typeface="微软雅黑" panose="020B0503020204020204" pitchFamily="34" charset="-122"/>
                  <a:ea typeface="微软雅黑" panose="020B0503020204020204" pitchFamily="34" charset="-122"/>
                  <a:sym typeface="+mn-ea"/>
                </a:rPr>
                <a:t>Prompt</a:t>
              </a:r>
              <a:r>
                <a:rPr lang="zh-CN" altLang="en-US" sz="1600">
                  <a:solidFill>
                    <a:srgbClr val="FF0000"/>
                  </a:solidFill>
                  <a:latin typeface="微软雅黑" panose="020B0503020204020204" pitchFamily="34" charset="-122"/>
                  <a:ea typeface="微软雅黑" panose="020B0503020204020204" pitchFamily="34" charset="-122"/>
                  <a:sym typeface="+mn-ea"/>
                </a:rPr>
                <a:t>，让</a:t>
              </a:r>
              <a:r>
                <a:rPr lang="en-US" altLang="zh-CN" sz="1600">
                  <a:solidFill>
                    <a:srgbClr val="FF0000"/>
                  </a:solidFill>
                  <a:latin typeface="微软雅黑" panose="020B0503020204020204" pitchFamily="34" charset="-122"/>
                  <a:ea typeface="微软雅黑" panose="020B0503020204020204" pitchFamily="34" charset="-122"/>
                  <a:sym typeface="+mn-ea"/>
                </a:rPr>
                <a:t>LLM</a:t>
              </a:r>
              <a:r>
                <a:rPr lang="zh-CN" altLang="en-US" sz="1600">
                  <a:solidFill>
                    <a:srgbClr val="FF0000"/>
                  </a:solidFill>
                  <a:latin typeface="微软雅黑" panose="020B0503020204020204" pitchFamily="34" charset="-122"/>
                  <a:ea typeface="微软雅黑" panose="020B0503020204020204" pitchFamily="34" charset="-122"/>
                  <a:sym typeface="+mn-ea"/>
                </a:rPr>
                <a:t>从文本中抽取主体实体</a:t>
              </a:r>
              <a:r>
                <a:rPr lang="en-US" altLang="zh-CN" sz="1600">
                  <a:solidFill>
                    <a:srgbClr val="FF0000"/>
                  </a:solidFill>
                  <a:latin typeface="微软雅黑" panose="020B0503020204020204" pitchFamily="34" charset="-122"/>
                  <a:ea typeface="微软雅黑" panose="020B0503020204020204" pitchFamily="34" charset="-122"/>
                  <a:sym typeface="+mn-ea"/>
                </a:rPr>
                <a:t>SE</a:t>
              </a:r>
              <a:r>
                <a:rPr lang="zh-CN" altLang="en-US" sz="1600">
                  <a:solidFill>
                    <a:srgbClr val="FF0000"/>
                  </a:solidFill>
                  <a:latin typeface="微软雅黑" panose="020B0503020204020204" pitchFamily="34" charset="-122"/>
                  <a:ea typeface="微软雅黑" panose="020B0503020204020204" pitchFamily="34" charset="-122"/>
                  <a:sym typeface="+mn-ea"/>
                </a:rPr>
                <a:t>、对象实体</a:t>
              </a:r>
              <a:r>
                <a:rPr lang="en-US" altLang="zh-CN" sz="1600">
                  <a:solidFill>
                    <a:srgbClr val="FF0000"/>
                  </a:solidFill>
                  <a:latin typeface="微软雅黑" panose="020B0503020204020204" pitchFamily="34" charset="-122"/>
                  <a:ea typeface="微软雅黑" panose="020B0503020204020204" pitchFamily="34" charset="-122"/>
                  <a:sym typeface="+mn-ea"/>
                </a:rPr>
                <a:t>OE</a:t>
              </a:r>
              <a:r>
                <a:rPr lang="zh-CN" altLang="en-US" sz="1600">
                  <a:solidFill>
                    <a:srgbClr val="FF0000"/>
                  </a:solidFill>
                  <a:latin typeface="微软雅黑" panose="020B0503020204020204" pitchFamily="34" charset="-122"/>
                  <a:ea typeface="微软雅黑" panose="020B0503020204020204" pitchFamily="34" charset="-122"/>
                  <a:sym typeface="+mn-ea"/>
                </a:rPr>
                <a:t>、方法实体</a:t>
              </a:r>
              <a:r>
                <a:rPr lang="en-US" altLang="zh-CN" sz="1600">
                  <a:solidFill>
                    <a:srgbClr val="FF0000"/>
                  </a:solidFill>
                  <a:latin typeface="微软雅黑" panose="020B0503020204020204" pitchFamily="34" charset="-122"/>
                  <a:ea typeface="微软雅黑" panose="020B0503020204020204" pitchFamily="34" charset="-122"/>
                  <a:sym typeface="+mn-ea"/>
                </a:rPr>
                <a:t>ME</a:t>
              </a:r>
              <a:endParaRPr lang="en-US" altLang="zh-CN" sz="1600">
                <a:solidFill>
                  <a:srgbClr val="FF0000"/>
                </a:solidFill>
                <a:latin typeface="微软雅黑" panose="020B0503020204020204" pitchFamily="34" charset="-122"/>
                <a:ea typeface="微软雅黑" panose="020B0503020204020204" pitchFamily="34" charset="-122"/>
                <a:sym typeface="+mn-ea"/>
              </a:endParaRPr>
            </a:p>
          </p:txBody>
        </p:sp>
      </p:grpSp>
      <p:grpSp>
        <p:nvGrpSpPr>
          <p:cNvPr id="19" name="组合 18"/>
          <p:cNvGrpSpPr/>
          <p:nvPr/>
        </p:nvGrpSpPr>
        <p:grpSpPr>
          <a:xfrm>
            <a:off x="4138295" y="909320"/>
            <a:ext cx="2575560" cy="1871980"/>
            <a:chOff x="1033" y="1433"/>
            <a:chExt cx="4056" cy="2948"/>
          </a:xfrm>
        </p:grpSpPr>
        <p:sp>
          <p:nvSpPr>
            <p:cNvPr id="20" name="学论网-矩形 1"/>
            <p:cNvSpPr/>
            <p:nvPr>
              <p:custDataLst>
                <p:tags r:id="rId4"/>
              </p:custDataLst>
            </p:nvPr>
          </p:nvSpPr>
          <p:spPr>
            <a:xfrm>
              <a:off x="1033" y="1433"/>
              <a:ext cx="4057" cy="2949"/>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21" name="学论网-www.xuelun.me"/>
            <p:cNvSpPr txBox="1"/>
            <p:nvPr>
              <p:custDataLst>
                <p:tags r:id="rId5"/>
              </p:custDataLst>
            </p:nvPr>
          </p:nvSpPr>
          <p:spPr>
            <a:xfrm>
              <a:off x="1201" y="1458"/>
              <a:ext cx="3681" cy="2705"/>
            </a:xfrm>
            <a:prstGeom prst="rect">
              <a:avLst/>
            </a:prstGeom>
            <a:noFill/>
            <a:ln>
              <a:noFill/>
            </a:ln>
          </p:spPr>
          <p:txBody>
            <a:bodyPr wrap="square" lIns="0" tIns="0" rIns="0" bIns="0" rtlCol="0">
              <a:noAutofit/>
            </a:bodyPr>
            <a:lstStyle/>
            <a:p>
              <a:pPr algn="ctr">
                <a:lnSpc>
                  <a:spcPct val="150000"/>
                </a:lnSpc>
              </a:pP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相似性评估</a:t>
              </a:r>
              <a:r>
                <a:rPr lang="en-US" altLang="zh-CN" sz="1600" b="1" dirty="0" smtClean="0">
                  <a:solidFill>
                    <a:schemeClr val="tx1">
                      <a:lumMod val="65000"/>
                      <a:lumOff val="35000"/>
                    </a:schemeClr>
                  </a:solidFill>
                  <a:latin typeface="微软雅黑" panose="020B0503020204020204" pitchFamily="34" charset="-122"/>
                  <a:ea typeface="微软雅黑" panose="020B0503020204020204" pitchFamily="34" charset="-122"/>
                </a:rPr>
                <a:t>AgentESA</a:t>
              </a:r>
              <a:endPar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indent="406400" algn="l" fontAlgn="auto" latinLnBrk="1">
                <a:lnSpc>
                  <a:spcPct val="150000"/>
                </a:lnSpc>
                <a:extLst>
                  <a:ext uri="{35155182-B16C-46BC-9424-99874614C6A1}">
                    <wpsdc:indentchars xmlns:wpsdc="http://www.wps.cn/officeDocument/2017/drawingmlCustomData" val="200" checksum="1740828767"/>
                  </a:ext>
                </a:extLst>
              </a:pPr>
              <a:r>
                <a:rPr lang="zh-CN" sz="1600">
                  <a:latin typeface="微软雅黑" panose="020B0503020204020204" pitchFamily="34" charset="-122"/>
                  <a:ea typeface="微软雅黑" panose="020B0503020204020204" pitchFamily="34" charset="-122"/>
                  <a:sym typeface="+mn-ea"/>
                </a:rPr>
                <a:t>多次调用</a:t>
              </a:r>
              <a:r>
                <a:rPr lang="en-US" altLang="zh-CN" sz="1600">
                  <a:latin typeface="微软雅黑" panose="020B0503020204020204" pitchFamily="34" charset="-122"/>
                  <a:ea typeface="微软雅黑" panose="020B0503020204020204" pitchFamily="34" charset="-122"/>
                  <a:sym typeface="+mn-ea"/>
                </a:rPr>
                <a:t>IEA</a:t>
              </a:r>
              <a:r>
                <a:rPr lang="zh-CN" altLang="en-US" sz="1600">
                  <a:latin typeface="微软雅黑" panose="020B0503020204020204" pitchFamily="34" charset="-122"/>
                  <a:ea typeface="微软雅黑" panose="020B0503020204020204" pitchFamily="34" charset="-122"/>
                  <a:sym typeface="+mn-ea"/>
                </a:rPr>
                <a:t>，对所有</a:t>
              </a:r>
              <a:r>
                <a:rPr lang="en-US" altLang="zh-CN" sz="1600">
                  <a:latin typeface="微软雅黑" panose="020B0503020204020204" pitchFamily="34" charset="-122"/>
                  <a:ea typeface="微软雅黑" panose="020B0503020204020204" pitchFamily="34" charset="-122"/>
                  <a:sym typeface="+mn-ea"/>
                </a:rPr>
                <a:t>OE</a:t>
              </a:r>
              <a:r>
                <a:rPr lang="zh-CN" altLang="en-US" sz="1600">
                  <a:latin typeface="微软雅黑" panose="020B0503020204020204" pitchFamily="34" charset="-122"/>
                  <a:ea typeface="微软雅黑" panose="020B0503020204020204" pitchFamily="34" charset="-122"/>
                  <a:sym typeface="+mn-ea"/>
                </a:rPr>
                <a:t>、</a:t>
              </a:r>
              <a:r>
                <a:rPr lang="en-US" altLang="zh-CN" sz="1600">
                  <a:latin typeface="微软雅黑" panose="020B0503020204020204" pitchFamily="34" charset="-122"/>
                  <a:ea typeface="微软雅黑" panose="020B0503020204020204" pitchFamily="34" charset="-122"/>
                  <a:sym typeface="+mn-ea"/>
                </a:rPr>
                <a:t>ME</a:t>
              </a:r>
              <a:r>
                <a:rPr lang="zh-CN" altLang="en-US" sz="1600">
                  <a:latin typeface="微软雅黑" panose="020B0503020204020204" pitchFamily="34" charset="-122"/>
                  <a:ea typeface="微软雅黑" panose="020B0503020204020204" pitchFamily="34" charset="-122"/>
                  <a:sym typeface="+mn-ea"/>
                </a:rPr>
                <a:t>做相似性计算，合并相似实体</a:t>
              </a:r>
              <a:r>
                <a:rPr lang="en-US" altLang="zh-CN" sz="1600">
                  <a:latin typeface="微软雅黑" panose="020B0503020204020204" pitchFamily="34" charset="-122"/>
                  <a:ea typeface="微软雅黑" panose="020B0503020204020204" pitchFamily="34" charset="-122"/>
                  <a:sym typeface="+mn-ea"/>
                </a:rPr>
                <a:t>(embedding+</a:t>
              </a:r>
              <a:r>
                <a:rPr lang="zh-CN" altLang="en-US" sz="1600">
                  <a:latin typeface="微软雅黑" panose="020B0503020204020204" pitchFamily="34" charset="-122"/>
                  <a:ea typeface="微软雅黑" panose="020B0503020204020204" pitchFamily="34" charset="-122"/>
                  <a:sym typeface="+mn-ea"/>
                </a:rPr>
                <a:t>余弦相似度</a:t>
              </a:r>
              <a:r>
                <a:rPr lang="en-US" altLang="zh-CN" sz="1600">
                  <a:latin typeface="微软雅黑" panose="020B0503020204020204" pitchFamily="34" charset="-122"/>
                  <a:ea typeface="微软雅黑" panose="020B0503020204020204" pitchFamily="34" charset="-122"/>
                  <a:sym typeface="+mn-ea"/>
                </a:rPr>
                <a:t>)</a:t>
              </a:r>
              <a:endParaRPr lang="en-US" altLang="zh-CN" sz="1600">
                <a:latin typeface="微软雅黑" panose="020B0503020204020204" pitchFamily="34" charset="-122"/>
                <a:ea typeface="微软雅黑" panose="020B0503020204020204" pitchFamily="34" charset="-122"/>
                <a:sym typeface="+mn-ea"/>
              </a:endParaRPr>
            </a:p>
          </p:txBody>
        </p:sp>
      </p:grpSp>
      <p:grpSp>
        <p:nvGrpSpPr>
          <p:cNvPr id="24" name="组合 23"/>
          <p:cNvGrpSpPr/>
          <p:nvPr/>
        </p:nvGrpSpPr>
        <p:grpSpPr>
          <a:xfrm>
            <a:off x="6864350" y="899160"/>
            <a:ext cx="2576195" cy="1872615"/>
            <a:chOff x="1013" y="1374"/>
            <a:chExt cx="4057" cy="2949"/>
          </a:xfrm>
        </p:grpSpPr>
        <p:sp>
          <p:nvSpPr>
            <p:cNvPr id="30" name="学论网-矩形 1"/>
            <p:cNvSpPr/>
            <p:nvPr>
              <p:custDataLst>
                <p:tags r:id="rId6"/>
              </p:custDataLst>
            </p:nvPr>
          </p:nvSpPr>
          <p:spPr>
            <a:xfrm>
              <a:off x="1013" y="1374"/>
              <a:ext cx="4057" cy="2949"/>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32" name="学论网-www.xuelun.me"/>
            <p:cNvSpPr txBox="1"/>
            <p:nvPr>
              <p:custDataLst>
                <p:tags r:id="rId7"/>
              </p:custDataLst>
            </p:nvPr>
          </p:nvSpPr>
          <p:spPr>
            <a:xfrm>
              <a:off x="1181" y="1399"/>
              <a:ext cx="3681" cy="2705"/>
            </a:xfrm>
            <a:prstGeom prst="rect">
              <a:avLst/>
            </a:prstGeom>
            <a:noFill/>
            <a:ln>
              <a:noFill/>
            </a:ln>
          </p:spPr>
          <p:txBody>
            <a:bodyPr wrap="square" lIns="0" tIns="0" rIns="0" bIns="0" rtlCol="0">
              <a:noAutofit/>
            </a:bodyPr>
            <a:lstStyle/>
            <a:p>
              <a:pPr algn="ctr">
                <a:lnSpc>
                  <a:spcPct val="150000"/>
                </a:lnSpc>
              </a:pPr>
              <a:r>
                <a:rPr lang="en-US" altLang="zh-CN" sz="1600" b="1" dirty="0" smtClean="0">
                  <a:solidFill>
                    <a:schemeClr val="tx1">
                      <a:lumMod val="65000"/>
                      <a:lumOff val="35000"/>
                    </a:schemeClr>
                  </a:solidFill>
                  <a:latin typeface="微软雅黑" panose="020B0503020204020204" pitchFamily="34" charset="-122"/>
                  <a:ea typeface="微软雅黑" panose="020B0503020204020204" pitchFamily="34" charset="-122"/>
                </a:rPr>
                <a:t>Schema</a:t>
              </a: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生成</a:t>
              </a:r>
              <a:r>
                <a:rPr lang="en-US" altLang="zh-CN" sz="1600" b="1" dirty="0" smtClean="0">
                  <a:solidFill>
                    <a:schemeClr val="tx1">
                      <a:lumMod val="65000"/>
                      <a:lumOff val="35000"/>
                    </a:schemeClr>
                  </a:solidFill>
                  <a:latin typeface="微软雅黑" panose="020B0503020204020204" pitchFamily="34" charset="-122"/>
                  <a:ea typeface="微软雅黑" panose="020B0503020204020204" pitchFamily="34" charset="-122"/>
                </a:rPr>
                <a:t>AgentSGA</a:t>
              </a:r>
              <a:endPar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indent="406400" algn="l" fontAlgn="auto">
                <a:lnSpc>
                  <a:spcPct val="150000"/>
                </a:lnSpc>
                <a:extLst>
                  <a:ext uri="{35155182-B16C-46BC-9424-99874614C6A1}">
                    <wpsdc:indentchars xmlns:wpsdc="http://www.wps.cn/officeDocument/2017/drawingmlCustomData" val="200" checksum="1740828767"/>
                  </a:ext>
                </a:extLst>
              </a:pPr>
              <a:r>
                <a:rPr lang="zh-CN" sz="1600">
                  <a:latin typeface="微软雅黑" panose="020B0503020204020204" pitchFamily="34" charset="-122"/>
                  <a:ea typeface="微软雅黑" panose="020B0503020204020204" pitchFamily="34" charset="-122"/>
                  <a:sym typeface="+mn-ea"/>
                </a:rPr>
                <a:t>基于上面生成的主题实体</a:t>
              </a:r>
              <a:r>
                <a:rPr lang="en-US" altLang="zh-CN" sz="1600">
                  <a:latin typeface="微软雅黑" panose="020B0503020204020204" pitchFamily="34" charset="-122"/>
                  <a:ea typeface="微软雅黑" panose="020B0503020204020204" pitchFamily="34" charset="-122"/>
                  <a:sym typeface="+mn-ea"/>
                </a:rPr>
                <a:t>MSE</a:t>
              </a:r>
              <a:r>
                <a:rPr lang="zh-CN" altLang="en-US" sz="1600">
                  <a:latin typeface="微软雅黑" panose="020B0503020204020204" pitchFamily="34" charset="-122"/>
                  <a:ea typeface="微软雅黑" panose="020B0503020204020204" pitchFamily="34" charset="-122"/>
                  <a:sym typeface="+mn-ea"/>
                </a:rPr>
                <a:t>和训练好的大模型构造一个</a:t>
              </a:r>
              <a:r>
                <a:rPr lang="en-US" altLang="zh-CN" sz="1600">
                  <a:latin typeface="微软雅黑" panose="020B0503020204020204" pitchFamily="34" charset="-122"/>
                  <a:ea typeface="微软雅黑" panose="020B0503020204020204" pitchFamily="34" charset="-122"/>
                  <a:sym typeface="+mn-ea"/>
                </a:rPr>
                <a:t>OPC UA</a:t>
              </a:r>
              <a:r>
                <a:rPr lang="zh-CN" altLang="en-US" sz="1600">
                  <a:latin typeface="微软雅黑" panose="020B0503020204020204" pitchFamily="34" charset="-122"/>
                  <a:ea typeface="微软雅黑" panose="020B0503020204020204" pitchFamily="34" charset="-122"/>
                  <a:sym typeface="+mn-ea"/>
                </a:rPr>
                <a:t>模型框架</a:t>
              </a:r>
              <a:endParaRPr lang="zh-CN" altLang="en-US" sz="1600">
                <a:latin typeface="微软雅黑" panose="020B0503020204020204" pitchFamily="34" charset="-122"/>
                <a:ea typeface="微软雅黑" panose="020B0503020204020204" pitchFamily="34" charset="-122"/>
                <a:sym typeface="+mn-ea"/>
              </a:endParaRPr>
            </a:p>
          </p:txBody>
        </p:sp>
      </p:grpSp>
      <p:grpSp>
        <p:nvGrpSpPr>
          <p:cNvPr id="33" name="组合 32"/>
          <p:cNvGrpSpPr/>
          <p:nvPr/>
        </p:nvGrpSpPr>
        <p:grpSpPr>
          <a:xfrm>
            <a:off x="9615805" y="909320"/>
            <a:ext cx="2575560" cy="1871980"/>
            <a:chOff x="1033" y="1433"/>
            <a:chExt cx="4056" cy="2948"/>
          </a:xfrm>
        </p:grpSpPr>
        <p:sp>
          <p:nvSpPr>
            <p:cNvPr id="36" name="学论网-矩形 1"/>
            <p:cNvSpPr/>
            <p:nvPr>
              <p:custDataLst>
                <p:tags r:id="rId8"/>
              </p:custDataLst>
            </p:nvPr>
          </p:nvSpPr>
          <p:spPr>
            <a:xfrm>
              <a:off x="1033" y="1433"/>
              <a:ext cx="4057" cy="2949"/>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37" name="学论网-www.xuelun.me"/>
            <p:cNvSpPr txBox="1"/>
            <p:nvPr>
              <p:custDataLst>
                <p:tags r:id="rId9"/>
              </p:custDataLst>
            </p:nvPr>
          </p:nvSpPr>
          <p:spPr>
            <a:xfrm>
              <a:off x="1201" y="1458"/>
              <a:ext cx="3681" cy="2705"/>
            </a:xfrm>
            <a:prstGeom prst="rect">
              <a:avLst/>
            </a:prstGeom>
            <a:noFill/>
            <a:ln>
              <a:noFill/>
            </a:ln>
          </p:spPr>
          <p:txBody>
            <a:bodyPr wrap="square" lIns="0" tIns="0" rIns="0" bIns="0" rtlCol="0">
              <a:noAutofit/>
            </a:bodyPr>
            <a:lstStyle/>
            <a:p>
              <a:pPr algn="ctr">
                <a:lnSpc>
                  <a:spcPct val="150000"/>
                </a:lnSpc>
              </a:pPr>
              <a:r>
                <a:rPr lang="zh-CN" altLang="en-US" sz="1600" b="1" dirty="0" smtClean="0">
                  <a:solidFill>
                    <a:schemeClr val="tx1">
                      <a:lumMod val="65000"/>
                      <a:lumOff val="35000"/>
                    </a:schemeClr>
                  </a:solidFill>
                  <a:latin typeface="微软雅黑" panose="020B0503020204020204" pitchFamily="34" charset="-122"/>
                  <a:ea typeface="微软雅黑" panose="020B0503020204020204" pitchFamily="34" charset="-122"/>
                </a:rPr>
                <a:t>同步</a:t>
              </a:r>
              <a:r>
                <a:rPr lang="en-US" altLang="zh-CN" sz="1600" b="1" dirty="0" smtClean="0">
                  <a:solidFill>
                    <a:schemeClr val="tx1">
                      <a:lumMod val="65000"/>
                      <a:lumOff val="35000"/>
                    </a:schemeClr>
                  </a:solidFill>
                  <a:latin typeface="微软雅黑" panose="020B0503020204020204" pitchFamily="34" charset="-122"/>
                  <a:ea typeface="微软雅黑" panose="020B0503020204020204" pitchFamily="34" charset="-122"/>
                </a:rPr>
                <a:t>AgentSA</a:t>
              </a:r>
              <a:endParaRPr lang="en-US" altLang="zh-CN" sz="2400" b="1" dirty="0" smtClean="0">
                <a:solidFill>
                  <a:schemeClr val="tx1">
                    <a:lumMod val="65000"/>
                    <a:lumOff val="35000"/>
                  </a:schemeClr>
                </a:solidFill>
                <a:latin typeface="微软雅黑" panose="020B0503020204020204" pitchFamily="34" charset="-122"/>
                <a:ea typeface="微软雅黑" panose="020B0503020204020204" pitchFamily="34" charset="-122"/>
              </a:endParaRPr>
            </a:p>
            <a:p>
              <a:pPr indent="406400" algn="l" fontAlgn="auto" latinLnBrk="1">
                <a:lnSpc>
                  <a:spcPct val="150000"/>
                </a:lnSpc>
                <a:extLst>
                  <a:ext uri="{35155182-B16C-46BC-9424-99874614C6A1}">
                    <wpsdc:indentchars xmlns:wpsdc="http://www.wps.cn/officeDocument/2017/drawingmlCustomData" val="200" checksum="1740828767"/>
                  </a:ext>
                </a:extLst>
              </a:pPr>
              <a:r>
                <a:rPr lang="en-US" sz="1600">
                  <a:latin typeface="微软雅黑" panose="020B0503020204020204" pitchFamily="34" charset="-122"/>
                  <a:ea typeface="微软雅黑" panose="020B0503020204020204" pitchFamily="34" charset="-122"/>
                  <a:sym typeface="+mn-ea"/>
                </a:rPr>
                <a:t>ESA</a:t>
              </a:r>
              <a:r>
                <a:rPr lang="zh-CN" altLang="en-US" sz="1600">
                  <a:latin typeface="微软雅黑" panose="020B0503020204020204" pitchFamily="34" charset="-122"/>
                  <a:ea typeface="微软雅黑" panose="020B0503020204020204" pitchFamily="34" charset="-122"/>
                  <a:sym typeface="+mn-ea"/>
                </a:rPr>
                <a:t>抽取结果、</a:t>
              </a:r>
              <a:r>
                <a:rPr lang="en-US" altLang="zh-CN" sz="1600">
                  <a:latin typeface="微软雅黑" panose="020B0503020204020204" pitchFamily="34" charset="-122"/>
                  <a:ea typeface="微软雅黑" panose="020B0503020204020204" pitchFamily="34" charset="-122"/>
                  <a:sym typeface="+mn-ea"/>
                </a:rPr>
                <a:t>SGA</a:t>
              </a:r>
              <a:r>
                <a:rPr lang="zh-CN" altLang="en-US" sz="1600">
                  <a:latin typeface="微软雅黑" panose="020B0503020204020204" pitchFamily="34" charset="-122"/>
                  <a:ea typeface="微软雅黑" panose="020B0503020204020204" pitchFamily="34" charset="-122"/>
                  <a:sym typeface="+mn-ea"/>
                </a:rPr>
                <a:t>生成的框架，对应位置填好形成结构化树状的</a:t>
              </a:r>
              <a:r>
                <a:rPr lang="en-US" altLang="zh-CN" sz="1600">
                  <a:latin typeface="微软雅黑" panose="020B0503020204020204" pitchFamily="34" charset="-122"/>
                  <a:ea typeface="微软雅黑" panose="020B0503020204020204" pitchFamily="34" charset="-122"/>
                  <a:sym typeface="+mn-ea"/>
                </a:rPr>
                <a:t>JSON</a:t>
              </a:r>
              <a:r>
                <a:rPr lang="zh-CN" altLang="en-US" sz="1600">
                  <a:latin typeface="微软雅黑" panose="020B0503020204020204" pitchFamily="34" charset="-122"/>
                  <a:ea typeface="微软雅黑" panose="020B0503020204020204" pitchFamily="34" charset="-122"/>
                  <a:sym typeface="+mn-ea"/>
                </a:rPr>
                <a:t>表示</a:t>
              </a:r>
              <a:endParaRPr lang="zh-CN" altLang="en-US" sz="1600">
                <a:latin typeface="微软雅黑" panose="020B0503020204020204" pitchFamily="34" charset="-122"/>
                <a:ea typeface="微软雅黑" panose="020B0503020204020204" pitchFamily="34" charset="-122"/>
                <a:sym typeface="+mn-ea"/>
              </a:endParaRPr>
            </a:p>
          </p:txBody>
        </p:sp>
      </p:grpSp>
      <p:sp>
        <p:nvSpPr>
          <p:cNvPr id="39" name="学论网-矩形 1"/>
          <p:cNvSpPr/>
          <p:nvPr>
            <p:custDataLst>
              <p:tags r:id="rId10"/>
            </p:custDataLst>
          </p:nvPr>
        </p:nvSpPr>
        <p:spPr>
          <a:xfrm>
            <a:off x="1399540" y="2969895"/>
            <a:ext cx="10792460" cy="90043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40" name="学论网-www.xuelun.me"/>
          <p:cNvSpPr txBox="1"/>
          <p:nvPr>
            <p:custDataLst>
              <p:tags r:id="rId11"/>
            </p:custDataLst>
          </p:nvPr>
        </p:nvSpPr>
        <p:spPr>
          <a:xfrm>
            <a:off x="1506220" y="2985770"/>
            <a:ext cx="9792335" cy="825500"/>
          </a:xfrm>
          <a:prstGeom prst="rect">
            <a:avLst/>
          </a:prstGeom>
          <a:noFill/>
          <a:ln>
            <a:noFill/>
          </a:ln>
        </p:spPr>
        <p:txBody>
          <a:bodyPr wrap="square" lIns="0" tIns="0" rIns="0" bIns="0" rtlCol="0">
            <a:noAutofit/>
          </a:bodyPr>
          <a:lstStyle/>
          <a:p>
            <a:pPr algn="ctr">
              <a:lnSpc>
                <a:spcPct val="150000"/>
              </a:lnSpc>
            </a:pPr>
            <a:r>
              <a:rPr lang="zh-CN" altLang="en-US" sz="1600" b="1" dirty="0" smtClean="0">
                <a:solidFill>
                  <a:srgbClr val="FF0000"/>
                </a:solidFill>
                <a:latin typeface="微软雅黑" panose="020B0503020204020204" pitchFamily="34" charset="-122"/>
                <a:ea typeface="微软雅黑" panose="020B0503020204020204" pitchFamily="34" charset="-122"/>
              </a:rPr>
              <a:t>格式转换</a:t>
            </a:r>
            <a:r>
              <a:rPr lang="en-US" altLang="zh-CN" sz="1600" b="1" dirty="0" smtClean="0">
                <a:solidFill>
                  <a:srgbClr val="FF0000"/>
                </a:solidFill>
                <a:latin typeface="微软雅黑" panose="020B0503020204020204" pitchFamily="34" charset="-122"/>
                <a:ea typeface="微软雅黑" panose="020B0503020204020204" pitchFamily="34" charset="-122"/>
              </a:rPr>
              <a:t>AgentFTA</a:t>
            </a:r>
            <a:endParaRPr lang="en-US" altLang="zh-CN" sz="2400" b="1" dirty="0" smtClean="0">
              <a:solidFill>
                <a:srgbClr val="FF0000"/>
              </a:solidFill>
              <a:latin typeface="微软雅黑" panose="020B0503020204020204" pitchFamily="34" charset="-122"/>
              <a:ea typeface="微软雅黑" panose="020B0503020204020204" pitchFamily="34" charset="-122"/>
            </a:endParaRPr>
          </a:p>
          <a:p>
            <a:pPr indent="406400" algn="ctr" fontAlgn="auto">
              <a:lnSpc>
                <a:spcPct val="150000"/>
              </a:lnSpc>
              <a:extLst>
                <a:ext uri="{35155182-B16C-46BC-9424-99874614C6A1}">
                  <wpsdc:indentchars xmlns:wpsdc="http://www.wps.cn/officeDocument/2017/drawingmlCustomData" val="200" checksum="1740828767"/>
                </a:ext>
              </a:extLst>
            </a:pPr>
            <a:r>
              <a:rPr lang="zh-CN" altLang="en-US" sz="1600">
                <a:solidFill>
                  <a:srgbClr val="FF0000"/>
                </a:solidFill>
                <a:latin typeface="微软雅黑" panose="020B0503020204020204" pitchFamily="34" charset="-122"/>
                <a:ea typeface="微软雅黑" panose="020B0503020204020204" pitchFamily="34" charset="-122"/>
                <a:sym typeface="+mn-ea"/>
              </a:rPr>
              <a:t>将</a:t>
            </a:r>
            <a:r>
              <a:rPr lang="en-US" altLang="zh-CN" sz="1600">
                <a:solidFill>
                  <a:srgbClr val="FF0000"/>
                </a:solidFill>
                <a:latin typeface="微软雅黑" panose="020B0503020204020204" pitchFamily="34" charset="-122"/>
                <a:ea typeface="微软雅黑" panose="020B0503020204020204" pitchFamily="34" charset="-122"/>
                <a:sym typeface="+mn-ea"/>
              </a:rPr>
              <a:t> SA </a:t>
            </a:r>
            <a:r>
              <a:rPr lang="zh-CN" altLang="en-US" sz="1600">
                <a:solidFill>
                  <a:srgbClr val="FF0000"/>
                </a:solidFill>
                <a:latin typeface="微软雅黑" panose="020B0503020204020204" pitchFamily="34" charset="-122"/>
                <a:ea typeface="微软雅黑" panose="020B0503020204020204" pitchFamily="34" charset="-122"/>
                <a:sym typeface="+mn-ea"/>
              </a:rPr>
              <a:t>或</a:t>
            </a:r>
            <a:r>
              <a:rPr lang="en-US" altLang="zh-CN" sz="1600">
                <a:solidFill>
                  <a:srgbClr val="FF0000"/>
                </a:solidFill>
                <a:latin typeface="微软雅黑" panose="020B0503020204020204" pitchFamily="34" charset="-122"/>
                <a:ea typeface="微软雅黑" panose="020B0503020204020204" pitchFamily="34" charset="-122"/>
                <a:sym typeface="+mn-ea"/>
              </a:rPr>
              <a:t> IEA </a:t>
            </a:r>
            <a:r>
              <a:rPr lang="zh-CN" altLang="en-US" sz="1600">
                <a:solidFill>
                  <a:srgbClr val="FF0000"/>
                </a:solidFill>
                <a:latin typeface="微软雅黑" panose="020B0503020204020204" pitchFamily="34" charset="-122"/>
                <a:ea typeface="微软雅黑" panose="020B0503020204020204" pitchFamily="34" charset="-122"/>
                <a:sym typeface="+mn-ea"/>
              </a:rPr>
              <a:t>的</a:t>
            </a:r>
            <a:r>
              <a:rPr lang="en-US" altLang="zh-CN" sz="1600">
                <a:solidFill>
                  <a:srgbClr val="FF0000"/>
                </a:solidFill>
                <a:latin typeface="微软雅黑" panose="020B0503020204020204" pitchFamily="34" charset="-122"/>
                <a:ea typeface="微软雅黑" panose="020B0503020204020204" pitchFamily="34" charset="-122"/>
                <a:sym typeface="+mn-ea"/>
              </a:rPr>
              <a:t> JSON </a:t>
            </a:r>
            <a:r>
              <a:rPr lang="zh-CN" altLang="en-US" sz="1600">
                <a:solidFill>
                  <a:srgbClr val="FF0000"/>
                </a:solidFill>
                <a:latin typeface="微软雅黑" panose="020B0503020204020204" pitchFamily="34" charset="-122"/>
                <a:ea typeface="微软雅黑" panose="020B0503020204020204" pitchFamily="34" charset="-122"/>
                <a:sym typeface="+mn-ea"/>
              </a:rPr>
              <a:t>结构，转换为</a:t>
            </a:r>
            <a:r>
              <a:rPr lang="en-US" altLang="zh-CN" sz="1600">
                <a:solidFill>
                  <a:srgbClr val="FF0000"/>
                </a:solidFill>
                <a:latin typeface="微软雅黑" panose="020B0503020204020204" pitchFamily="34" charset="-122"/>
                <a:ea typeface="微软雅黑" panose="020B0503020204020204" pitchFamily="34" charset="-122"/>
                <a:sym typeface="+mn-ea"/>
              </a:rPr>
              <a:t> OPC UA Nodeset XML</a:t>
            </a:r>
            <a:endParaRPr lang="en-US" altLang="zh-CN" sz="1600">
              <a:solidFill>
                <a:srgbClr val="FF0000"/>
              </a:solidFill>
              <a:latin typeface="微软雅黑" panose="020B0503020204020204" pitchFamily="34" charset="-122"/>
              <a:ea typeface="微软雅黑" panose="020B0503020204020204" pitchFamily="34" charset="-122"/>
              <a:sym typeface="+mn-ea"/>
            </a:endParaRPr>
          </a:p>
        </p:txBody>
      </p:sp>
      <p:sp>
        <p:nvSpPr>
          <p:cNvPr id="41" name="文本框 40"/>
          <p:cNvSpPr txBox="1"/>
          <p:nvPr>
            <p:custDataLst>
              <p:tags r:id="rId12"/>
            </p:custDataLst>
          </p:nvPr>
        </p:nvSpPr>
        <p:spPr>
          <a:xfrm>
            <a:off x="1986280" y="4344035"/>
            <a:ext cx="1951990" cy="368300"/>
          </a:xfrm>
          <a:prstGeom prst="rect">
            <a:avLst/>
          </a:prstGeom>
          <a:solidFill>
            <a:schemeClr val="accent5">
              <a:lumMod val="40000"/>
              <a:lumOff val="60000"/>
            </a:schemeClr>
          </a:solidFill>
          <a:ln w="12700">
            <a:noFill/>
          </a:ln>
        </p:spPr>
        <p:txBody>
          <a:bodyPr wrap="square" rtlCol="0" anchor="ctr" anchorCtr="0">
            <a:sp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rPr>
              <a:t>文本层次化</a:t>
            </a:r>
            <a:r>
              <a:rPr lang="zh-CN" altLang="en-US">
                <a:latin typeface="微软雅黑" panose="020B0503020204020204" pitchFamily="34" charset="-122"/>
                <a:ea typeface="微软雅黑" panose="020B0503020204020204" pitchFamily="34" charset="-122"/>
                <a:cs typeface="微软雅黑" panose="020B0503020204020204" pitchFamily="34" charset="-122"/>
              </a:rPr>
              <a:t>标注</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2" name="学论网-矩形 1"/>
          <p:cNvSpPr/>
          <p:nvPr>
            <p:custDataLst>
              <p:tags r:id="rId13"/>
            </p:custDataLst>
          </p:nvPr>
        </p:nvSpPr>
        <p:spPr>
          <a:xfrm>
            <a:off x="1399540" y="4170045"/>
            <a:ext cx="10792460" cy="2413000"/>
          </a:xfrm>
          <a:prstGeom prst="rect">
            <a:avLst/>
          </a:prstGeom>
          <a:noFill/>
          <a:ln w="12700" cap="flat" cmpd="sng" algn="ctr">
            <a:solidFill>
              <a:srgbClr val="448AD7"/>
            </a:solidFill>
            <a:prstDash val="sysDot"/>
          </a:ln>
          <a:effectLst/>
        </p:spPr>
        <p:txBody>
          <a:bodyPr rtlCol="0" anchor="ctr"/>
          <a:lstStyle/>
          <a:p>
            <a:pPr lvl="0" algn="ctr"/>
            <a:endParaRPr lang="zh-CN" altLang="en-US" sz="2800" b="1" kern="0" dirty="0">
              <a:gradFill>
                <a:gsLst>
                  <a:gs pos="100000">
                    <a:schemeClr val="bg1"/>
                  </a:gs>
                  <a:gs pos="0">
                    <a:schemeClr val="bg1">
                      <a:lumMod val="95000"/>
                    </a:schemeClr>
                  </a:gs>
                </a:gsLst>
                <a:path path="circle">
                  <a:fillToRect l="100000" b="100000"/>
                </a:path>
              </a:gradFill>
              <a:ea typeface="微软雅黑" panose="020B0503020204020204" pitchFamily="34" charset="-122"/>
            </a:endParaRPr>
          </a:p>
        </p:txBody>
      </p:sp>
      <p:sp>
        <p:nvSpPr>
          <p:cNvPr id="44" name="文本框 43"/>
          <p:cNvSpPr txBox="1"/>
          <p:nvPr>
            <p:custDataLst>
              <p:tags r:id="rId14"/>
            </p:custDataLst>
          </p:nvPr>
        </p:nvSpPr>
        <p:spPr>
          <a:xfrm>
            <a:off x="5801360" y="4344035"/>
            <a:ext cx="1951990" cy="367665"/>
          </a:xfrm>
          <a:prstGeom prst="rect">
            <a:avLst/>
          </a:prstGeom>
          <a:solidFill>
            <a:schemeClr val="accent5">
              <a:lumMod val="40000"/>
              <a:lumOff val="60000"/>
            </a:schemeClr>
          </a:solidFill>
          <a:ln w="12700">
            <a:noFill/>
          </a:ln>
        </p:spPr>
        <p:txBody>
          <a:bodyPr wrap="square" rtlCol="0" anchor="ctr" anchorCtr="0">
            <a:no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结构化</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节点生成</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5" name="文本框 44"/>
          <p:cNvSpPr txBox="1"/>
          <p:nvPr>
            <p:custDataLst>
              <p:tags r:id="rId15"/>
            </p:custDataLst>
          </p:nvPr>
        </p:nvSpPr>
        <p:spPr>
          <a:xfrm>
            <a:off x="9615805" y="4344670"/>
            <a:ext cx="1951990" cy="367665"/>
          </a:xfrm>
          <a:prstGeom prst="rect">
            <a:avLst/>
          </a:prstGeom>
          <a:solidFill>
            <a:schemeClr val="accent5">
              <a:lumMod val="40000"/>
              <a:lumOff val="60000"/>
            </a:schemeClr>
          </a:solidFill>
          <a:ln w="12700">
            <a:noFill/>
          </a:ln>
        </p:spPr>
        <p:txBody>
          <a:bodyPr wrap="square" rtlCol="0" anchor="ctr" anchorCtr="0">
            <a:noAutofit/>
          </a:bodyPr>
          <a:p>
            <a:pPr algn="ct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规范</a:t>
            </a:r>
            <a:r>
              <a:rPr lang="zh-CN" altLang="en-US">
                <a:latin typeface="微软雅黑" panose="020B0503020204020204" pitchFamily="34" charset="-122"/>
                <a:ea typeface="微软雅黑" panose="020B0503020204020204" pitchFamily="34" charset="-122"/>
                <a:cs typeface="微软雅黑" panose="020B0503020204020204" pitchFamily="34" charset="-122"/>
                <a:sym typeface="+mn-ea"/>
              </a:rPr>
              <a:t>数据格式</a:t>
            </a:r>
            <a:endParaRPr lang="zh-CN" altLang="en-US">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6" name="下箭头 45"/>
          <p:cNvSpPr/>
          <p:nvPr/>
        </p:nvSpPr>
        <p:spPr>
          <a:xfrm rot="16200000">
            <a:off x="8643620" y="4350385"/>
            <a:ext cx="81915" cy="356235"/>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下箭头 46"/>
          <p:cNvSpPr/>
          <p:nvPr/>
        </p:nvSpPr>
        <p:spPr>
          <a:xfrm rot="16200000">
            <a:off x="4829175" y="4350385"/>
            <a:ext cx="81915" cy="356235"/>
          </a:xfrm>
          <a:prstGeom prst="downArrow">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文本框 47"/>
          <p:cNvSpPr txBox="1"/>
          <p:nvPr>
            <p:custDataLst>
              <p:tags r:id="rId16"/>
            </p:custDataLst>
          </p:nvPr>
        </p:nvSpPr>
        <p:spPr>
          <a:xfrm>
            <a:off x="1687195" y="4839335"/>
            <a:ext cx="2640965" cy="1517015"/>
          </a:xfrm>
          <a:prstGeom prst="rect">
            <a:avLst/>
          </a:prstGeom>
          <a:solidFill>
            <a:schemeClr val="accent5">
              <a:lumMod val="40000"/>
              <a:lumOff val="60000"/>
            </a:schemeClr>
          </a:solidFill>
          <a:ln w="12700">
            <a:noFill/>
          </a:ln>
        </p:spPr>
        <p:txBody>
          <a:bodyPr wrap="square" rtlCol="0" anchor="ctr" anchorCtr="0">
            <a:noAutofit/>
          </a:bodyPr>
          <a:p>
            <a:pPr indent="457200" algn="l" fontAlgn="auto">
              <a:extLst>
                <a:ext uri="{35155182-B16C-46BC-9424-99874614C6A1}">
                  <wpsdc:indentchars xmlns:wpsdc="http://www.wps.cn/officeDocument/2017/drawingmlCustomData" val="200" checksum="59296752"/>
                </a:ext>
              </a:extLst>
            </a:pPr>
            <a:r>
              <a:rPr lang="zh-CN" altLang="en-US">
                <a:latin typeface="微软雅黑" panose="020B0503020204020204" pitchFamily="34" charset="-122"/>
                <a:ea typeface="微软雅黑" panose="020B0503020204020204" pitchFamily="34" charset="-122"/>
                <a:cs typeface="微软雅黑" panose="020B0503020204020204" pitchFamily="34" charset="-122"/>
              </a:rPr>
              <a:t>对非结构化工业文本进行层次化标注，包括关键设备名、设备特征、属性值</a:t>
            </a:r>
            <a:r>
              <a:rPr lang="zh-CN" altLang="en-US">
                <a:latin typeface="微软雅黑" panose="020B0503020204020204" pitchFamily="34" charset="-122"/>
                <a:ea typeface="微软雅黑" panose="020B0503020204020204" pitchFamily="34" charset="-122"/>
                <a:cs typeface="微软雅黑" panose="020B0503020204020204" pitchFamily="34" charset="-122"/>
              </a:rPr>
              <a:t>三级标签</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9" name="文本框 48"/>
          <p:cNvSpPr txBox="1"/>
          <p:nvPr>
            <p:custDataLst>
              <p:tags r:id="rId17"/>
            </p:custDataLst>
          </p:nvPr>
        </p:nvSpPr>
        <p:spPr>
          <a:xfrm>
            <a:off x="5516880" y="4839335"/>
            <a:ext cx="2640965" cy="1517015"/>
          </a:xfrm>
          <a:prstGeom prst="rect">
            <a:avLst/>
          </a:prstGeom>
          <a:solidFill>
            <a:schemeClr val="accent5">
              <a:lumMod val="40000"/>
              <a:lumOff val="60000"/>
            </a:schemeClr>
          </a:solidFill>
          <a:ln w="12700">
            <a:noFill/>
          </a:ln>
        </p:spPr>
        <p:txBody>
          <a:bodyPr wrap="square" rtlCol="0" anchor="ctr" anchorCtr="0">
            <a:noAutofit/>
          </a:bodyPr>
          <a:p>
            <a:pPr indent="457200" algn="l">
              <a:buClrTx/>
              <a:buSzTx/>
              <a:buFontTx/>
              <a:extLst>
                <a:ext uri="{35155182-B16C-46BC-9424-99874614C6A1}">
                  <wpsdc:indentchars xmlns:wpsdc="http://www.wps.cn/officeDocument/2017/drawingmlCustomData" val="200" checksum="59296752"/>
                </a:ext>
              </a:extLst>
            </a:pPr>
            <a:r>
              <a:rPr lang="zh-CN" altLang="en-US">
                <a:latin typeface="微软雅黑" panose="020B0503020204020204" pitchFamily="34" charset="-122"/>
                <a:ea typeface="微软雅黑" panose="020B0503020204020204" pitchFamily="34" charset="-122"/>
                <a:cs typeface="微软雅黑" panose="020B0503020204020204" pitchFamily="34" charset="-122"/>
              </a:rPr>
              <a:t>将设备作为一个Object、把属性作为一个Variable节点、把操作作为</a:t>
            </a:r>
            <a:r>
              <a:rPr lang="zh-CN" altLang="en-US">
                <a:latin typeface="微软雅黑" panose="020B0503020204020204" pitchFamily="34" charset="-122"/>
                <a:ea typeface="微软雅黑" panose="020B0503020204020204" pitchFamily="34" charset="-122"/>
                <a:cs typeface="微软雅黑" panose="020B0503020204020204" pitchFamily="34" charset="-122"/>
              </a:rPr>
              <a:t>Method节点，保持父子关系</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0" name="文本框 49"/>
          <p:cNvSpPr txBox="1"/>
          <p:nvPr>
            <p:custDataLst>
              <p:tags r:id="rId18"/>
            </p:custDataLst>
          </p:nvPr>
        </p:nvSpPr>
        <p:spPr>
          <a:xfrm>
            <a:off x="9321165" y="4839335"/>
            <a:ext cx="2640965" cy="1517015"/>
          </a:xfrm>
          <a:prstGeom prst="rect">
            <a:avLst/>
          </a:prstGeom>
          <a:solidFill>
            <a:schemeClr val="accent5">
              <a:lumMod val="40000"/>
              <a:lumOff val="60000"/>
            </a:schemeClr>
          </a:solidFill>
          <a:ln w="12700">
            <a:noFill/>
          </a:ln>
        </p:spPr>
        <p:txBody>
          <a:bodyPr wrap="square" rtlCol="0" anchor="ctr" anchorCtr="0">
            <a:noAutofit/>
          </a:bodyPr>
          <a:p>
            <a:pPr indent="457200" algn="l">
              <a:buClrTx/>
              <a:buSzTx/>
              <a:buFontTx/>
              <a:extLst>
                <a:ext uri="{35155182-B16C-46BC-9424-99874614C6A1}">
                  <wpsdc:indentchars xmlns:wpsdc="http://www.wps.cn/officeDocument/2017/drawingmlCustomData" val="200" checksum="59296752"/>
                </a:ext>
              </a:extLst>
            </a:pPr>
            <a:r>
              <a:rPr lang="zh-CN" altLang="en-US">
                <a:latin typeface="微软雅黑" panose="020B0503020204020204" pitchFamily="34" charset="-122"/>
                <a:ea typeface="微软雅黑" panose="020B0503020204020204" pitchFamily="34" charset="-122"/>
                <a:cs typeface="微软雅黑" panose="020B0503020204020204" pitchFamily="34" charset="-122"/>
              </a:rPr>
              <a:t>将第二步的结构转化为符合</a:t>
            </a:r>
            <a:r>
              <a:rPr lang="zh-CN" altLang="en-US">
                <a:latin typeface="微软雅黑" panose="020B0503020204020204" pitchFamily="34" charset="-122"/>
                <a:ea typeface="微软雅黑" panose="020B0503020204020204" pitchFamily="34" charset="-122"/>
                <a:cs typeface="微软雅黑" panose="020B0503020204020204" pitchFamily="34" charset="-122"/>
              </a:rPr>
              <a:t> OPC UA 节点规范的数据格式</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51" name="直接连接符 50"/>
          <p:cNvCxnSpPr/>
          <p:nvPr/>
        </p:nvCxnSpPr>
        <p:spPr>
          <a:xfrm>
            <a:off x="-32385" y="4025265"/>
            <a:ext cx="12234545" cy="12065"/>
          </a:xfrm>
          <a:prstGeom prst="line">
            <a:avLst/>
          </a:prstGeom>
        </p:spPr>
        <p:style>
          <a:lnRef idx="2">
            <a:schemeClr val="accent1"/>
          </a:lnRef>
          <a:fillRef idx="0">
            <a:srgbClr val="FFFFFF"/>
          </a:fillRef>
          <a:effectRef idx="0">
            <a:srgbClr val="FFFFFF"/>
          </a:effectRef>
          <a:fontRef idx="minor">
            <a:schemeClr val="tx1"/>
          </a:fontRef>
        </p:style>
      </p:cxnSp>
      <p:sp>
        <p:nvSpPr>
          <p:cNvPr id="2" name="文本框 1"/>
          <p:cNvSpPr txBox="1"/>
          <p:nvPr/>
        </p:nvSpPr>
        <p:spPr>
          <a:xfrm>
            <a:off x="192405" y="2218690"/>
            <a:ext cx="1019175" cy="337185"/>
          </a:xfrm>
          <a:prstGeom prst="rect">
            <a:avLst/>
          </a:prstGeom>
        </p:spPr>
        <p:txBody>
          <a:bodyPr wrap="square">
            <a:spAutoFit/>
          </a:bodyPr>
          <a:p>
            <a:pPr algn="ctr"/>
            <a:r>
              <a:rPr lang="en-US" altLang="zh-CN" sz="1600">
                <a:latin typeface="微软雅黑" panose="020B0503020204020204" pitchFamily="34" charset="-122"/>
                <a:ea typeface="微软雅黑" panose="020B0503020204020204" pitchFamily="34" charset="-122"/>
              </a:rPr>
              <a:t>Text2UA</a:t>
            </a:r>
            <a:endParaRPr lang="en-US" altLang="zh-CN" sz="1600">
              <a:latin typeface="微软雅黑" panose="020B0503020204020204" pitchFamily="34" charset="-122"/>
              <a:ea typeface="微软雅黑" panose="020B0503020204020204" pitchFamily="34" charset="-122"/>
            </a:endParaRPr>
          </a:p>
        </p:txBody>
      </p:sp>
      <p:sp>
        <p:nvSpPr>
          <p:cNvPr id="3" name="文本框 2"/>
          <p:cNvSpPr txBox="1"/>
          <p:nvPr/>
        </p:nvSpPr>
        <p:spPr>
          <a:xfrm>
            <a:off x="0" y="4976495"/>
            <a:ext cx="1473200" cy="922020"/>
          </a:xfrm>
          <a:prstGeom prst="rect">
            <a:avLst/>
          </a:prstGeom>
          <a:noFill/>
        </p:spPr>
        <p:txBody>
          <a:bodyPr wrap="square" rtlCol="0">
            <a:spAutoFit/>
          </a:bodyPr>
          <a:p>
            <a:pPr indent="0" algn="l" fontAlgn="auto" latinLnBrk="1"/>
            <a:r>
              <a:rPr lang="en-US" altLang="zh-CN">
                <a:latin typeface="微软雅黑" panose="020B0503020204020204" pitchFamily="34" charset="-122"/>
                <a:ea typeface="微软雅黑" panose="020B0503020204020204" pitchFamily="34" charset="-122"/>
                <a:cs typeface="微软雅黑" panose="020B0503020204020204" pitchFamily="34" charset="-122"/>
              </a:rPr>
              <a:t>DUA-MQTT</a:t>
            </a:r>
            <a:r>
              <a:rPr lang="zh-CN" altLang="en-US">
                <a:latin typeface="微软雅黑" panose="020B0503020204020204" pitchFamily="34" charset="-122"/>
                <a:ea typeface="微软雅黑" panose="020B0503020204020204" pitchFamily="34" charset="-122"/>
                <a:cs typeface="微软雅黑" panose="020B0503020204020204" pitchFamily="34" charset="-122"/>
              </a:rPr>
              <a:t>的</a:t>
            </a:r>
            <a:r>
              <a:rPr lang="en-US" altLang="zh-CN">
                <a:latin typeface="微软雅黑" panose="020B0503020204020204" pitchFamily="34" charset="-122"/>
                <a:ea typeface="微软雅黑" panose="020B0503020204020204" pitchFamily="34" charset="-122"/>
                <a:cs typeface="微软雅黑" panose="020B0503020204020204" pitchFamily="34" charset="-122"/>
              </a:rPr>
              <a:t>MAC-GC</a:t>
            </a:r>
            <a:r>
              <a:rPr lang="zh-CN" altLang="en-US">
                <a:latin typeface="微软雅黑" panose="020B0503020204020204" pitchFamily="34" charset="-122"/>
                <a:ea typeface="微软雅黑" panose="020B0503020204020204" pitchFamily="34" charset="-122"/>
                <a:cs typeface="微软雅黑" panose="020B0503020204020204" pitchFamily="34" charset="-122"/>
              </a:rPr>
              <a:t>模块</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2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H_Other_8"/>
          <p:cNvPicPr/>
          <p:nvPr>
            <p:custDataLst>
              <p:tags r:id="rId1"/>
            </p:custDataLst>
          </p:nvPr>
        </p:nvPicPr>
        <p:blipFill>
          <a:blip r:embed="rId2" cstate="print">
            <a:extLst>
              <a:ext uri="{28A0092B-C50C-407E-A947-70E740481C1C}">
                <a14:useLocalDpi xmlns:a14="http://schemas.microsoft.com/office/drawing/2010/main" val="0"/>
              </a:ext>
            </a:extLst>
          </a:blip>
          <a:srcRect l="50887"/>
          <a:stretch>
            <a:fillRect/>
          </a:stretch>
        </p:blipFill>
        <p:spPr bwMode="auto">
          <a:xfrm rot="5400000" flipH="1">
            <a:off x="6024000" y="-3032194"/>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MH_Other_8"/>
          <p:cNvPicPr/>
          <p:nvPr>
            <p:custDataLst>
              <p:tags r:id="rId3"/>
            </p:custDataLst>
          </p:nvPr>
        </p:nvPicPr>
        <p:blipFill>
          <a:blip r:embed="rId2" cstate="print">
            <a:extLst>
              <a:ext uri="{28A0092B-C50C-407E-A947-70E740481C1C}">
                <a14:useLocalDpi xmlns:a14="http://schemas.microsoft.com/office/drawing/2010/main" val="0"/>
              </a:ext>
            </a:extLst>
          </a:blip>
          <a:srcRect l="50887"/>
          <a:stretch>
            <a:fillRect/>
          </a:stretch>
        </p:blipFill>
        <p:spPr bwMode="auto">
          <a:xfrm rot="16200000" flipH="1" flipV="1">
            <a:off x="6024001" y="-127232"/>
            <a:ext cx="144000" cy="1045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0" y="2204967"/>
            <a:ext cx="12192000" cy="286136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2418080" y="3137535"/>
            <a:ext cx="7936230" cy="1106805"/>
          </a:xfrm>
          <a:prstGeom prst="rect">
            <a:avLst/>
          </a:prstGeom>
          <a:noFill/>
        </p:spPr>
        <p:txBody>
          <a:bodyPr wrap="square" rtlCol="0">
            <a:spAutoFit/>
          </a:bodyPr>
          <a:lstStyle/>
          <a:p>
            <a:pPr algn="ctr"/>
            <a:r>
              <a:rPr lang="zh-CN" altLang="en-US" sz="6600" b="1" dirty="0">
                <a:solidFill>
                  <a:schemeClr val="bg1">
                    <a:lumMod val="95000"/>
                  </a:schemeClr>
                </a:solidFill>
                <a:latin typeface="微软雅黑" panose="020B0503020204020204" pitchFamily="34" charset="-122"/>
                <a:ea typeface="微软雅黑" panose="020B0503020204020204" pitchFamily="34" charset="-122"/>
              </a:rPr>
              <a:t>请</a:t>
            </a:r>
            <a:r>
              <a:rPr lang="zh-CN" altLang="en-US" sz="6600" b="1" dirty="0" smtClean="0">
                <a:solidFill>
                  <a:schemeClr val="bg1">
                    <a:lumMod val="95000"/>
                  </a:schemeClr>
                </a:solidFill>
                <a:latin typeface="微软雅黑" panose="020B0503020204020204" pitchFamily="34" charset="-122"/>
                <a:ea typeface="微软雅黑" panose="020B0503020204020204" pitchFamily="34" charset="-122"/>
              </a:rPr>
              <a:t>各位老师同学指正</a:t>
            </a:r>
            <a:endParaRPr lang="zh-CN" altLang="en-US" sz="6600" b="1" dirty="0">
              <a:solidFill>
                <a:schemeClr val="bg1">
                  <a:lumMod val="95000"/>
                </a:schemeClr>
              </a:solidFill>
              <a:latin typeface="微软雅黑" panose="020B0503020204020204" pitchFamily="34" charset="-122"/>
              <a:ea typeface="微软雅黑" panose="020B0503020204020204" pitchFamily="34" charset="-122"/>
            </a:endParaRPr>
          </a:p>
        </p:txBody>
      </p:sp>
      <p:pic>
        <p:nvPicPr>
          <p:cNvPr id="4" name="图片 3" descr="校徽"/>
          <p:cNvPicPr>
            <a:picLocks noChangeAspect="1"/>
          </p:cNvPicPr>
          <p:nvPr/>
        </p:nvPicPr>
        <p:blipFill>
          <a:blip r:embed="rId4"/>
          <a:stretch>
            <a:fillRect/>
          </a:stretch>
        </p:blipFill>
        <p:spPr>
          <a:xfrm>
            <a:off x="3615690" y="318770"/>
            <a:ext cx="4961255" cy="1383030"/>
          </a:xfrm>
          <a:prstGeom prst="rect">
            <a:avLst/>
          </a:prstGeom>
          <a:noFill/>
        </p:spPr>
      </p:pic>
      <p:sp>
        <p:nvSpPr>
          <p:cNvPr id="2" name="TextBox 6"/>
          <p:cNvSpPr txBox="1"/>
          <p:nvPr>
            <p:custDataLst>
              <p:tags r:id="rId5"/>
            </p:custDataLst>
          </p:nvPr>
        </p:nvSpPr>
        <p:spPr>
          <a:xfrm>
            <a:off x="4148436" y="5644929"/>
            <a:ext cx="1959610" cy="397510"/>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pPr algn="ctr"/>
            <a:r>
              <a:rPr lang="zh-CN" altLang="en-US" b="1" dirty="0">
                <a:solidFill>
                  <a:srgbClr val="0070C0"/>
                </a:solidFill>
                <a:latin typeface="微软雅黑" panose="020B0503020204020204" pitchFamily="34" charset="-122"/>
                <a:ea typeface="微软雅黑" panose="020B0503020204020204" pitchFamily="34" charset="-122"/>
              </a:rPr>
              <a:t>报告人</a:t>
            </a:r>
            <a:r>
              <a:rPr lang="zh-CN" altLang="en-US" dirty="0" smtClean="0">
                <a:solidFill>
                  <a:srgbClr val="0070C0"/>
                </a:solidFill>
                <a:latin typeface="微软雅黑" panose="020B0503020204020204" pitchFamily="34" charset="-122"/>
                <a:ea typeface="微软雅黑" panose="020B0503020204020204" pitchFamily="34" charset="-122"/>
              </a:rPr>
              <a:t>：</a:t>
            </a:r>
            <a:r>
              <a:rPr lang="zh-CN" altLang="en-US" dirty="0" smtClean="0">
                <a:solidFill>
                  <a:schemeClr val="tx1">
                    <a:lumMod val="65000"/>
                    <a:lumOff val="35000"/>
                  </a:schemeClr>
                </a:solidFill>
                <a:latin typeface="微软雅黑" panose="020B0503020204020204" pitchFamily="34" charset="-122"/>
                <a:ea typeface="微软雅黑" panose="020B0503020204020204" pitchFamily="34" charset="-122"/>
                <a:sym typeface="+mn-ea"/>
              </a:rPr>
              <a:t>刁浩宇</a:t>
            </a:r>
            <a:endParaRPr lang="zh-CN" altLang="en-US" dirty="0" smtClean="0">
              <a:solidFill>
                <a:srgbClr val="0070C0"/>
              </a:solidFill>
              <a:latin typeface="微软雅黑" panose="020B0503020204020204" pitchFamily="34" charset="-122"/>
              <a:ea typeface="微软雅黑" panose="020B0503020204020204" pitchFamily="34" charset="-122"/>
            </a:endParaRPr>
          </a:p>
        </p:txBody>
      </p:sp>
      <p:sp>
        <p:nvSpPr>
          <p:cNvPr id="3" name="TextBox 7"/>
          <p:cNvSpPr txBox="1"/>
          <p:nvPr>
            <p:custDataLst>
              <p:tags r:id="rId6"/>
            </p:custDataLst>
          </p:nvPr>
        </p:nvSpPr>
        <p:spPr>
          <a:xfrm>
            <a:off x="7083263" y="5644929"/>
            <a:ext cx="2184400" cy="397510"/>
          </a:xfrm>
          <a:prstGeom prst="rect">
            <a:avLst/>
          </a:prstGeom>
          <a:noFill/>
        </p:spPr>
        <p:txBody>
          <a:bodyPr wrap="none" lIns="91416" tIns="45708" rIns="91416" bIns="45708" rtlCol="0">
            <a:spAutoFit/>
          </a:bodyPr>
          <a:lstStyle/>
          <a:p>
            <a:pPr algn="ctr"/>
            <a:r>
              <a:rPr lang="zh-CN" altLang="en-US" sz="2000" b="1" dirty="0">
                <a:solidFill>
                  <a:srgbClr val="0070C0"/>
                </a:solidFill>
                <a:latin typeface="微软雅黑" panose="020B0503020204020204" pitchFamily="34" charset="-122"/>
                <a:ea typeface="微软雅黑" panose="020B0503020204020204" pitchFamily="34" charset="-122"/>
              </a:rPr>
              <a:t>报告时间</a:t>
            </a:r>
            <a:r>
              <a:rPr lang="zh-CN" altLang="en-US" sz="2000" dirty="0">
                <a:solidFill>
                  <a:srgbClr val="0070C0"/>
                </a:solidFill>
                <a:latin typeface="微软雅黑" panose="020B0503020204020204" pitchFamily="34" charset="-122"/>
                <a:ea typeface="微软雅黑" panose="020B0503020204020204" pitchFamily="34" charset="-122"/>
              </a:rPr>
              <a:t>：</a:t>
            </a:r>
            <a:r>
              <a:rPr lang="en-US" altLang="zh-CN" sz="2000" dirty="0" smtClean="0">
                <a:solidFill>
                  <a:schemeClr val="tx1">
                    <a:lumMod val="65000"/>
                    <a:lumOff val="35000"/>
                  </a:schemeClr>
                </a:solidFill>
                <a:latin typeface="微软雅黑" panose="020B0503020204020204" pitchFamily="34" charset="-122"/>
                <a:ea typeface="微软雅黑" panose="020B0503020204020204" pitchFamily="34" charset="-122"/>
              </a:rPr>
              <a:t>11.22</a:t>
            </a:r>
            <a:r>
              <a:rPr lang="zh-CN" altLang="en-US" sz="2000" dirty="0" smtClean="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slow" p14:dur="6000"/>
    </mc:Choice>
    <mc:Fallback>
      <p:transition spd="slow"/>
    </mc:Fallback>
  </mc:AlternateContent>
  <p:timing>
    <p:tnLst>
      <p:par>
        <p:cTn id="1" dur="indefinite" restart="never" nodeType="tmRoot"/>
      </p:par>
    </p:tnLst>
    <p:bldLst>
      <p:bldP spid="8" grpId="0" animBg="1"/>
      <p:bldP spid="15" grpId="0"/>
      <p:bldP spid="2" grpId="0"/>
      <p:bldP spid="3" grpId="0"/>
    </p:bldLst>
  </p:timing>
</p:sld>
</file>

<file path=ppt/tags/tag1.xml><?xml version="1.0" encoding="utf-8"?>
<p:tagLst xmlns:p="http://schemas.openxmlformats.org/presentationml/2006/main">
  <p:tag name="MH" val="20151121191650"/>
  <p:tag name="MH_LIBRARY" val="GRAPHIC"/>
  <p:tag name="MH_TYPE" val="Other"/>
  <p:tag name="MH_ORDER" val="8"/>
</p:tagLst>
</file>

<file path=ppt/tags/tag2.xml><?xml version="1.0" encoding="utf-8"?>
<p:tagLst xmlns:p="http://schemas.openxmlformats.org/presentationml/2006/main">
  <p:tag name="MH" val="20151121191650"/>
  <p:tag name="MH_LIBRARY" val="GRAPHIC"/>
  <p:tag name="MH_TYPE" val="Other"/>
  <p:tag name="MH_ORDER" val="8"/>
</p:tagLst>
</file>

<file path=ppt/tags/tag3.xml><?xml version="1.0" encoding="utf-8"?>
<p:tagLst xmlns:p="http://schemas.openxmlformats.org/presentationml/2006/main">
  <p:tag name="KSO_WM_DIAGRAM_VIRTUALLY_FRAME" val="{&quot;height&quot;:36.712283464566916,&quot;left&quot;:283.1845669291339,&quot;top&quot;:441.87779527559053,&quot;width&quot;:486.2776771653542}"/>
</p:tagLst>
</file>

<file path=ppt/tags/tag4.xml><?xml version="1.0" encoding="utf-8"?>
<p:tagLst xmlns:p="http://schemas.openxmlformats.org/presentationml/2006/main">
  <p:tag name="KSO_WM_DIAGRAM_VIRTUALLY_FRAME" val="{&quot;height&quot;:36.712283464566916,&quot;left&quot;:283.1845669291339,&quot;top&quot;:441.87779527559053,&quot;width&quot;:486.2776771653542}"/>
</p:tagLst>
</file>

<file path=ppt/tags/tag5.xml><?xml version="1.0" encoding="utf-8"?>
<p:tagLst xmlns:p="http://schemas.openxmlformats.org/presentationml/2006/main">
  <p:tag name="KSO_WM_DIAGRAM_VIRTUALLY_FRAME" val="{&quot;height&quot;:258.75,&quot;left&quot;:0,&quot;top&quot;:-0.05,&quot;width&quot;:960}"/>
</p:tagLst>
</file>

<file path=ppt/tags/tag6.xml><?xml version="1.0" encoding="utf-8"?>
<p:tagLst xmlns:p="http://schemas.openxmlformats.org/presentationml/2006/main">
  <p:tag name="KSO_WM_DIAGRAM_VIRTUALLY_FRAME" val="{&quot;height&quot;:258.75,&quot;left&quot;:0,&quot;top&quot;:-0.05,&quot;width&quot;:960}"/>
</p:tagLst>
</file>

<file path=ppt/tags/tag7.xml><?xml version="1.0" encoding="utf-8"?>
<p:tagLst xmlns:p="http://schemas.openxmlformats.org/presentationml/2006/main">
  <p:tag name="KSO_WM_DIAGRAM_VIRTUALLY_FRAME" val="{&quot;height&quot;:258.75,&quot;left&quot;:0,&quot;top&quot;:-0.05,&quot;width&quot;:960}"/>
</p:tagLst>
</file>

<file path=ppt/tags/tag8.xml><?xml version="1.0" encoding="utf-8"?>
<p:tagLst xmlns:p="http://schemas.openxmlformats.org/presentationml/2006/main">
  <p:tag name="KSO_WM_DIAGRAM_VIRTUALLY_FRAME" val="{&quot;height&quot;:258.75,&quot;left&quot;:0,&quot;top&quot;:-0.05,&quot;width&quot;:960}"/>
</p:tagLst>
</file>

<file path=ppt/tags/tag9.xml><?xml version="1.0" encoding="utf-8"?>
<p:tagLst xmlns:p="http://schemas.openxmlformats.org/presentationml/2006/main">
  <p:tag name="KSO_WM_DIAGRAM_VIRTUALLY_FRAME" val="{&quot;height&quot;:258.75,&quot;left&quot;:0,&quot;top&quot;:-0.05,&quot;width&quot;:960}"/>
</p:tagLst>
</file>

<file path=ppt/tags/tag10.xml><?xml version="1.0" encoding="utf-8"?>
<p:tagLst xmlns:p="http://schemas.openxmlformats.org/presentationml/2006/main">
  <p:tag name="KSO_WM_DIAGRAM_VIRTUALLY_FRAME" val="{&quot;height&quot;:258.75,&quot;left&quot;:0,&quot;top&quot;:-0.05,&quot;width&quot;:960}"/>
</p:tagLst>
</file>

<file path=ppt/tags/tag11.xml><?xml version="1.0" encoding="utf-8"?>
<p:tagLst xmlns:p="http://schemas.openxmlformats.org/presentationml/2006/main">
  <p:tag name="KSO_WM_DIAGRAM_VIRTUALLY_FRAME" val="{&quot;height&quot;:258.75,&quot;left&quot;:0,&quot;top&quot;:-0.05,&quot;width&quot;:960}"/>
</p:tagLst>
</file>

<file path=ppt/tags/tag12.xml><?xml version="1.0" encoding="utf-8"?>
<p:tagLst xmlns:p="http://schemas.openxmlformats.org/presentationml/2006/main">
  <p:tag name="KSO_WM_DIAGRAM_VIRTUALLY_FRAME" val="{&quot;height&quot;:258.75,&quot;left&quot;:0,&quot;top&quot;:-0.05,&quot;width&quot;:960}"/>
</p:tagLst>
</file>

<file path=ppt/tags/tag13.xml><?xml version="1.0" encoding="utf-8"?>
<p:tagLst xmlns:p="http://schemas.openxmlformats.org/presentationml/2006/main">
  <p:tag name="KSO_WM_DIAGRAM_VIRTUALLY_FRAME" val="{&quot;height&quot;:258.75,&quot;left&quot;:0,&quot;top&quot;:-0.05,&quot;width&quot;:960}"/>
</p:tagLst>
</file>

<file path=ppt/tags/tag14.xml><?xml version="1.0" encoding="utf-8"?>
<p:tagLst xmlns:p="http://schemas.openxmlformats.org/presentationml/2006/main">
  <p:tag name="KSO_WM_DIAGRAM_VIRTUALLY_FRAME" val="{&quot;height&quot;:258.75,&quot;left&quot;:0,&quot;top&quot;:-0.05,&quot;width&quot;:960}"/>
</p:tagLst>
</file>

<file path=ppt/tags/tag15.xml><?xml version="1.0" encoding="utf-8"?>
<p:tagLst xmlns:p="http://schemas.openxmlformats.org/presentationml/2006/main">
  <p:tag name="KSO_WM_DIAGRAM_VIRTUALLY_FRAME" val="{&quot;height&quot;:258.75,&quot;left&quot;:0,&quot;top&quot;:-0.05,&quot;width&quot;:960}"/>
</p:tagLst>
</file>

<file path=ppt/tags/tag16.xml><?xml version="1.0" encoding="utf-8"?>
<p:tagLst xmlns:p="http://schemas.openxmlformats.org/presentationml/2006/main">
  <p:tag name="KSO_WM_DIAGRAM_VIRTUALLY_FRAME" val="{&quot;height&quot;:258.75,&quot;left&quot;:0,&quot;top&quot;:-0.05,&quot;width&quot;:960}"/>
</p:tagLst>
</file>

<file path=ppt/tags/tag17.xml><?xml version="1.0" encoding="utf-8"?>
<p:tagLst xmlns:p="http://schemas.openxmlformats.org/presentationml/2006/main">
  <p:tag name="KSO_WM_DIAGRAM_VIRTUALLY_FRAME" val="{&quot;height&quot;:258.75,&quot;left&quot;:0,&quot;top&quot;:-0.05,&quot;width&quot;:960}"/>
</p:tagLst>
</file>

<file path=ppt/tags/tag18.xml><?xml version="1.0" encoding="utf-8"?>
<p:tagLst xmlns:p="http://schemas.openxmlformats.org/presentationml/2006/main">
  <p:tag name="KSO_WM_DIAGRAM_VIRTUALLY_FRAME" val="{&quot;height&quot;:258.75,&quot;left&quot;:0,&quot;top&quot;:-0.05,&quot;width&quot;:960}"/>
</p:tagLst>
</file>

<file path=ppt/tags/tag19.xml><?xml version="1.0" encoding="utf-8"?>
<p:tagLst xmlns:p="http://schemas.openxmlformats.org/presentationml/2006/main">
  <p:tag name="KSO_WM_DIAGRAM_VIRTUALLY_FRAME" val="{&quot;height&quot;:258.75,&quot;left&quot;:0,&quot;top&quot;:-0.05,&quot;width&quot;:960}"/>
</p:tagLst>
</file>

<file path=ppt/tags/tag20.xml><?xml version="1.0" encoding="utf-8"?>
<p:tagLst xmlns:p="http://schemas.openxmlformats.org/presentationml/2006/main">
  <p:tag name="KSO_WM_DIAGRAM_VIRTUALLY_FRAME" val="{&quot;height&quot;:258.75,&quot;left&quot;:0,&quot;top&quot;:-0.05,&quot;width&quot;:960}"/>
</p:tagLst>
</file>

<file path=ppt/tags/tag21.xml><?xml version="1.0" encoding="utf-8"?>
<p:tagLst xmlns:p="http://schemas.openxmlformats.org/presentationml/2006/main">
  <p:tag name="KSO_WM_DIAGRAM_VIRTUALLY_FRAME" val="{&quot;height&quot;:258.75,&quot;left&quot;:0,&quot;top&quot;:-0.05,&quot;width&quot;:960}"/>
</p:tagLst>
</file>

<file path=ppt/tags/tag22.xml><?xml version="1.0" encoding="utf-8"?>
<p:tagLst xmlns:p="http://schemas.openxmlformats.org/presentationml/2006/main">
  <p:tag name="KSO_WM_DIAGRAM_VIRTUALLY_FRAME" val="{&quot;height&quot;:258.75,&quot;left&quot;:0,&quot;top&quot;:-0.05,&quot;width&quot;:960}"/>
</p:tagLst>
</file>

<file path=ppt/tags/tag23.xml><?xml version="1.0" encoding="utf-8"?>
<p:tagLst xmlns:p="http://schemas.openxmlformats.org/presentationml/2006/main">
  <p:tag name="KSO_WM_DIAGRAM_VIRTUALLY_FRAME" val="{&quot;height&quot;:258.75,&quot;left&quot;:0,&quot;top&quot;:-0.05,&quot;width&quot;:960}"/>
</p:tagLst>
</file>

<file path=ppt/tags/tag24.xml><?xml version="1.0" encoding="utf-8"?>
<p:tagLst xmlns:p="http://schemas.openxmlformats.org/presentationml/2006/main">
  <p:tag name="KSO_WM_DIAGRAM_VIRTUALLY_FRAME" val="{&quot;height&quot;:258.75,&quot;left&quot;:0,&quot;top&quot;:-0.05,&quot;width&quot;:960}"/>
</p:tagLst>
</file>

<file path=ppt/tags/tag25.xml><?xml version="1.0" encoding="utf-8"?>
<p:tagLst xmlns:p="http://schemas.openxmlformats.org/presentationml/2006/main">
  <p:tag name="KSO_WM_DIAGRAM_VIRTUALLY_FRAME" val="{&quot;height&quot;:258.75,&quot;left&quot;:0,&quot;top&quot;:-0.05,&quot;width&quot;:960}"/>
</p:tagLst>
</file>

<file path=ppt/tags/tag26.xml><?xml version="1.0" encoding="utf-8"?>
<p:tagLst xmlns:p="http://schemas.openxmlformats.org/presentationml/2006/main">
  <p:tag name="KSO_WM_DIAGRAM_VIRTUALLY_FRAME" val="{&quot;height&quot;:344.2,&quot;left&quot;:15.25,&quot;top&quot;:17.4,&quot;width&quot;:408.4}"/>
</p:tagLst>
</file>

<file path=ppt/tags/tag27.xml><?xml version="1.0" encoding="utf-8"?>
<p:tagLst xmlns:p="http://schemas.openxmlformats.org/presentationml/2006/main">
  <p:tag name="KSO_WM_DIAGRAM_VIRTUALLY_FRAME" val="{&quot;height&quot;:344.2,&quot;left&quot;:15.25,&quot;top&quot;:17.4,&quot;width&quot;:408.4}"/>
</p:tagLst>
</file>

<file path=ppt/tags/tag28.xml><?xml version="1.0" encoding="utf-8"?>
<p:tagLst xmlns:p="http://schemas.openxmlformats.org/presentationml/2006/main">
  <p:tag name="KSO_WM_DIAGRAM_VIRTUALLY_FRAME" val="{&quot;height&quot;:344.2,&quot;left&quot;:15.25,&quot;top&quot;:17.4,&quot;width&quot;:408.4}"/>
</p:tagLst>
</file>

<file path=ppt/tags/tag29.xml><?xml version="1.0" encoding="utf-8"?>
<p:tagLst xmlns:p="http://schemas.openxmlformats.org/presentationml/2006/main">
  <p:tag name="KSO_WM_DIAGRAM_VIRTUALLY_FRAME" val="{&quot;height&quot;:258.75,&quot;left&quot;:0,&quot;top&quot;:-0.05,&quot;width&quot;:960}"/>
</p:tagLst>
</file>

<file path=ppt/tags/tag30.xml><?xml version="1.0" encoding="utf-8"?>
<p:tagLst xmlns:p="http://schemas.openxmlformats.org/presentationml/2006/main">
  <p:tag name="KSO_WM_DIAGRAM_VIRTUALLY_FRAME" val="{&quot;height&quot;:258.75,&quot;left&quot;:0,&quot;top&quot;:-0.05,&quot;width&quot;:960}"/>
</p:tagLst>
</file>

<file path=ppt/tags/tag31.xml><?xml version="1.0" encoding="utf-8"?>
<p:tagLst xmlns:p="http://schemas.openxmlformats.org/presentationml/2006/main">
  <p:tag name="KSO_WM_DIAGRAM_VIRTUALLY_FRAME" val="{&quot;height&quot;:258.75,&quot;left&quot;:0,&quot;top&quot;:-0.05,&quot;width&quot;:960}"/>
</p:tagLst>
</file>

<file path=ppt/tags/tag32.xml><?xml version="1.0" encoding="utf-8"?>
<p:tagLst xmlns:p="http://schemas.openxmlformats.org/presentationml/2006/main">
  <p:tag name="KSO_WM_DIAGRAM_VIRTUALLY_FRAME" val="{&quot;height&quot;:258.75,&quot;left&quot;:0,&quot;top&quot;:-0.05,&quot;width&quot;:960}"/>
</p:tagLst>
</file>

<file path=ppt/tags/tag33.xml><?xml version="1.0" encoding="utf-8"?>
<p:tagLst xmlns:p="http://schemas.openxmlformats.org/presentationml/2006/main">
  <p:tag name="KSO_WM_DIAGRAM_VIRTUALLY_FRAME" val="{&quot;height&quot;:258.75,&quot;left&quot;:0,&quot;top&quot;:-0.05,&quot;width&quot;:960}"/>
</p:tagLst>
</file>

<file path=ppt/tags/tag34.xml><?xml version="1.0" encoding="utf-8"?>
<p:tagLst xmlns:p="http://schemas.openxmlformats.org/presentationml/2006/main">
  <p:tag name="KSO_WM_DIAGRAM_VIRTUALLY_FRAME" val="{&quot;height&quot;:258.75,&quot;left&quot;:0,&quot;top&quot;:-0.05,&quot;width&quot;:960}"/>
</p:tagLst>
</file>

<file path=ppt/tags/tag35.xml><?xml version="1.0" encoding="utf-8"?>
<p:tagLst xmlns:p="http://schemas.openxmlformats.org/presentationml/2006/main">
  <p:tag name="KSO_WM_DIAGRAM_VIRTUALLY_FRAME" val="{&quot;height&quot;:258.75,&quot;left&quot;:0,&quot;top&quot;:-0.05,&quot;width&quot;:960}"/>
</p:tagLst>
</file>

<file path=ppt/tags/tag36.xml><?xml version="1.0" encoding="utf-8"?>
<p:tagLst xmlns:p="http://schemas.openxmlformats.org/presentationml/2006/main">
  <p:tag name="KSO_WM_DIAGRAM_VIRTUALLY_FRAME" val="{&quot;height&quot;:344.2,&quot;left&quot;:15.25,&quot;top&quot;:17.4,&quot;width&quot;:408.4}"/>
</p:tagLst>
</file>

<file path=ppt/tags/tag37.xml><?xml version="1.0" encoding="utf-8"?>
<p:tagLst xmlns:p="http://schemas.openxmlformats.org/presentationml/2006/main">
  <p:tag name="KSO_WM_DIAGRAM_VIRTUALLY_FRAME" val="{&quot;height&quot;:344.2,&quot;left&quot;:15.25,&quot;top&quot;:17.4,&quot;width&quot;:408.4}"/>
</p:tagLst>
</file>

<file path=ppt/tags/tag38.xml><?xml version="1.0" encoding="utf-8"?>
<p:tagLst xmlns:p="http://schemas.openxmlformats.org/presentationml/2006/main">
  <p:tag name="KSO_WM_DIAGRAM_VIRTUALLY_FRAME" val="{&quot;height&quot;:344.2,&quot;left&quot;:15.25,&quot;top&quot;:17.4,&quot;width&quot;:408.4}"/>
</p:tagLst>
</file>

<file path=ppt/tags/tag39.xml><?xml version="1.0" encoding="utf-8"?>
<p:tagLst xmlns:p="http://schemas.openxmlformats.org/presentationml/2006/main">
  <p:tag name="KSO_WM_DIAGRAM_VIRTUALLY_FRAME" val="{&quot;height&quot;:344.2,&quot;left&quot;:15.25,&quot;top&quot;:17.4,&quot;width&quot;:408.4}"/>
</p:tagLst>
</file>

<file path=ppt/tags/tag40.xml><?xml version="1.0" encoding="utf-8"?>
<p:tagLst xmlns:p="http://schemas.openxmlformats.org/presentationml/2006/main">
  <p:tag name="KSO_WM_DIAGRAM_VIRTUALLY_FRAME" val="{&quot;height&quot;:344.2,&quot;left&quot;:15.25,&quot;top&quot;:17.4,&quot;width&quot;:408.4}"/>
</p:tagLst>
</file>

<file path=ppt/tags/tag41.xml><?xml version="1.0" encoding="utf-8"?>
<p:tagLst xmlns:p="http://schemas.openxmlformats.org/presentationml/2006/main">
  <p:tag name="KSO_WM_DIAGRAM_VIRTUALLY_FRAME" val="{&quot;height&quot;:258.75,&quot;left&quot;:0,&quot;top&quot;:-0.05,&quot;width&quot;:960}"/>
</p:tagLst>
</file>

<file path=ppt/tags/tag42.xml><?xml version="1.0" encoding="utf-8"?>
<p:tagLst xmlns:p="http://schemas.openxmlformats.org/presentationml/2006/main">
  <p:tag name="KSO_WM_DIAGRAM_VIRTUALLY_FRAME" val="{&quot;height&quot;:344.2,&quot;left&quot;:15.25,&quot;top&quot;:17.4,&quot;width&quot;:408.4}"/>
</p:tagLst>
</file>

<file path=ppt/tags/tag43.xml><?xml version="1.0" encoding="utf-8"?>
<p:tagLst xmlns:p="http://schemas.openxmlformats.org/presentationml/2006/main">
  <p:tag name="KSO_WM_DIAGRAM_VIRTUALLY_FRAME" val="{&quot;height&quot;:258.75,&quot;left&quot;:0,&quot;top&quot;:-0.05,&quot;width&quot;:960}"/>
</p:tagLst>
</file>

<file path=ppt/tags/tag44.xml><?xml version="1.0" encoding="utf-8"?>
<p:tagLst xmlns:p="http://schemas.openxmlformats.org/presentationml/2006/main">
  <p:tag name="KSO_WM_DIAGRAM_VIRTUALLY_FRAME" val="{&quot;height&quot;:344.2,&quot;left&quot;:15.25,&quot;top&quot;:17.4,&quot;width&quot;:408.4}"/>
</p:tagLst>
</file>

<file path=ppt/tags/tag45.xml><?xml version="1.0" encoding="utf-8"?>
<p:tagLst xmlns:p="http://schemas.openxmlformats.org/presentationml/2006/main">
  <p:tag name="KSO_WM_DIAGRAM_VIRTUALLY_FRAME" val="{&quot;height&quot;:258.75,&quot;left&quot;:0,&quot;top&quot;:-0.05,&quot;width&quot;:960}"/>
</p:tagLst>
</file>

<file path=ppt/tags/tag46.xml><?xml version="1.0" encoding="utf-8"?>
<p:tagLst xmlns:p="http://schemas.openxmlformats.org/presentationml/2006/main">
  <p:tag name="KSO_WM_DIAGRAM_VIRTUALLY_FRAME" val="{&quot;height&quot;:344.2,&quot;left&quot;:15.25,&quot;top&quot;:17.4,&quot;width&quot;:408.4}"/>
</p:tagLst>
</file>

<file path=ppt/tags/tag47.xml><?xml version="1.0" encoding="utf-8"?>
<p:tagLst xmlns:p="http://schemas.openxmlformats.org/presentationml/2006/main">
  <p:tag name="KSO_WM_DIAGRAM_VIRTUALLY_FRAME" val="{&quot;height&quot;:344.2,&quot;left&quot;:15.25,&quot;top&quot;:17.4,&quot;width&quot;:408.4}"/>
</p:tagLst>
</file>

<file path=ppt/tags/tag48.xml><?xml version="1.0" encoding="utf-8"?>
<p:tagLst xmlns:p="http://schemas.openxmlformats.org/presentationml/2006/main">
  <p:tag name="KSO_WM_DIAGRAM_VIRTUALLY_FRAME" val="{&quot;height&quot;:344.2,&quot;left&quot;:15.25,&quot;top&quot;:17.4,&quot;width&quot;:408.4}"/>
</p:tagLst>
</file>

<file path=ppt/tags/tag49.xml><?xml version="1.0" encoding="utf-8"?>
<p:tagLst xmlns:p="http://schemas.openxmlformats.org/presentationml/2006/main">
  <p:tag name="KSO_WM_DIAGRAM_VIRTUALLY_FRAME" val="{&quot;height&quot;:258.75,&quot;left&quot;:0,&quot;top&quot;:-0.05,&quot;width&quot;:960}"/>
</p:tagLst>
</file>

<file path=ppt/tags/tag50.xml><?xml version="1.0" encoding="utf-8"?>
<p:tagLst xmlns:p="http://schemas.openxmlformats.org/presentationml/2006/main">
  <p:tag name="KSO_WM_DIAGRAM_VIRTUALLY_FRAME" val="{&quot;height&quot;:258.75,&quot;left&quot;:0,&quot;top&quot;:-0.05,&quot;width&quot;:960}"/>
</p:tagLst>
</file>

<file path=ppt/tags/tag51.xml><?xml version="1.0" encoding="utf-8"?>
<p:tagLst xmlns:p="http://schemas.openxmlformats.org/presentationml/2006/main">
  <p:tag name="KSO_WM_DIAGRAM_VIRTUALLY_FRAME" val="{&quot;height&quot;:258.75,&quot;left&quot;:0,&quot;top&quot;:-0.05,&quot;width&quot;:960}"/>
</p:tagLst>
</file>

<file path=ppt/tags/tag52.xml><?xml version="1.0" encoding="utf-8"?>
<p:tagLst xmlns:p="http://schemas.openxmlformats.org/presentationml/2006/main">
  <p:tag name="KSO_WM_DIAGRAM_VIRTUALLY_FRAME" val="{&quot;height&quot;:258.75,&quot;left&quot;:0,&quot;top&quot;:-0.05,&quot;width&quot;:960}"/>
</p:tagLst>
</file>

<file path=ppt/tags/tag53.xml><?xml version="1.0" encoding="utf-8"?>
<p:tagLst xmlns:p="http://schemas.openxmlformats.org/presentationml/2006/main">
  <p:tag name="KSO_WM_DIAGRAM_VIRTUALLY_FRAME" val="{&quot;height&quot;:258.75,&quot;left&quot;:0,&quot;top&quot;:-0.05,&quot;width&quot;:960}"/>
</p:tagLst>
</file>

<file path=ppt/tags/tag54.xml><?xml version="1.0" encoding="utf-8"?>
<p:tagLst xmlns:p="http://schemas.openxmlformats.org/presentationml/2006/main">
  <p:tag name="KSO_WM_DIAGRAM_VIRTUALLY_FRAME" val="{&quot;height&quot;:258.75,&quot;left&quot;:0,&quot;top&quot;:-0.05,&quot;width&quot;:960}"/>
</p:tagLst>
</file>

<file path=ppt/tags/tag55.xml><?xml version="1.0" encoding="utf-8"?>
<p:tagLst xmlns:p="http://schemas.openxmlformats.org/presentationml/2006/main">
  <p:tag name="KSO_WM_DIAGRAM_VIRTUALLY_FRAME" val="{&quot;height&quot;:258.75,&quot;left&quot;:0,&quot;top&quot;:-0.05,&quot;width&quot;:960}"/>
</p:tagLst>
</file>

<file path=ppt/tags/tag56.xml><?xml version="1.0" encoding="utf-8"?>
<p:tagLst xmlns:p="http://schemas.openxmlformats.org/presentationml/2006/main">
  <p:tag name="KSO_WM_DIAGRAM_VIRTUALLY_FRAME" val="{&quot;height&quot;:258.75,&quot;left&quot;:0,&quot;top&quot;:-0.05,&quot;width&quot;:960}"/>
</p:tagLst>
</file>

<file path=ppt/tags/tag57.xml><?xml version="1.0" encoding="utf-8"?>
<p:tagLst xmlns:p="http://schemas.openxmlformats.org/presentationml/2006/main">
  <p:tag name="KSO_WM_DIAGRAM_VIRTUALLY_FRAME" val="{&quot;height&quot;:258.75,&quot;left&quot;:0,&quot;top&quot;:-0.05,&quot;width&quot;:960}"/>
</p:tagLst>
</file>

<file path=ppt/tags/tag58.xml><?xml version="1.0" encoding="utf-8"?>
<p:tagLst xmlns:p="http://schemas.openxmlformats.org/presentationml/2006/main">
  <p:tag name="KSO_WM_DIAGRAM_VIRTUALLY_FRAME" val="{&quot;height&quot;:258.75,&quot;left&quot;:0,&quot;top&quot;:-0.05,&quot;width&quot;:960}"/>
</p:tagLst>
</file>

<file path=ppt/tags/tag59.xml><?xml version="1.0" encoding="utf-8"?>
<p:tagLst xmlns:p="http://schemas.openxmlformats.org/presentationml/2006/main">
  <p:tag name="KSO_WM_DIAGRAM_VIRTUALLY_FRAME" val="{&quot;height&quot;:344.2,&quot;left&quot;:15.25,&quot;top&quot;:17.4,&quot;width&quot;:408.4}"/>
</p:tagLst>
</file>

<file path=ppt/tags/tag60.xml><?xml version="1.0" encoding="utf-8"?>
<p:tagLst xmlns:p="http://schemas.openxmlformats.org/presentationml/2006/main">
  <p:tag name="KSO_WM_DIAGRAM_VIRTUALLY_FRAME" val="{&quot;height&quot;:258.75,&quot;left&quot;:0,&quot;top&quot;:-0.05,&quot;width&quot;:960}"/>
</p:tagLst>
</file>

<file path=ppt/tags/tag61.xml><?xml version="1.0" encoding="utf-8"?>
<p:tagLst xmlns:p="http://schemas.openxmlformats.org/presentationml/2006/main">
  <p:tag name="KSO_WM_DIAGRAM_VIRTUALLY_FRAME" val="{&quot;height&quot;:344.2,&quot;left&quot;:15.25,&quot;top&quot;:17.4,&quot;width&quot;:408.4}"/>
</p:tagLst>
</file>

<file path=ppt/tags/tag62.xml><?xml version="1.0" encoding="utf-8"?>
<p:tagLst xmlns:p="http://schemas.openxmlformats.org/presentationml/2006/main">
  <p:tag name="KSO_WM_DIAGRAM_VIRTUALLY_FRAME" val="{&quot;height&quot;:344.2,&quot;left&quot;:15.25,&quot;top&quot;:17.4,&quot;width&quot;:408.4}"/>
</p:tagLst>
</file>

<file path=ppt/tags/tag63.xml><?xml version="1.0" encoding="utf-8"?>
<p:tagLst xmlns:p="http://schemas.openxmlformats.org/presentationml/2006/main">
  <p:tag name="KSO_WM_DIAGRAM_VIRTUALLY_FRAME" val="{&quot;height&quot;:344.2,&quot;left&quot;:15.25,&quot;top&quot;:17.4,&quot;width&quot;:408.4}"/>
</p:tagLst>
</file>

<file path=ppt/tags/tag64.xml><?xml version="1.0" encoding="utf-8"?>
<p:tagLst xmlns:p="http://schemas.openxmlformats.org/presentationml/2006/main">
  <p:tag name="KSO_WM_DIAGRAM_VIRTUALLY_FRAME" val="{&quot;height&quot;:344.2,&quot;left&quot;:15.25,&quot;top&quot;:17.4,&quot;width&quot;:408.4}"/>
</p:tagLst>
</file>

<file path=ppt/tags/tag65.xml><?xml version="1.0" encoding="utf-8"?>
<p:tagLst xmlns:p="http://schemas.openxmlformats.org/presentationml/2006/main">
  <p:tag name="KSO_WM_DIAGRAM_VIRTUALLY_FRAME" val="{&quot;height&quot;:344.2,&quot;left&quot;:15.25,&quot;top&quot;:17.4,&quot;width&quot;:408.4}"/>
</p:tagLst>
</file>

<file path=ppt/tags/tag66.xml><?xml version="1.0" encoding="utf-8"?>
<p:tagLst xmlns:p="http://schemas.openxmlformats.org/presentationml/2006/main">
  <p:tag name="MH" val="20151121191650"/>
  <p:tag name="MH_LIBRARY" val="GRAPHIC"/>
  <p:tag name="MH_TYPE" val="Other"/>
  <p:tag name="MH_ORDER" val="8"/>
</p:tagLst>
</file>

<file path=ppt/tags/tag67.xml><?xml version="1.0" encoding="utf-8"?>
<p:tagLst xmlns:p="http://schemas.openxmlformats.org/presentationml/2006/main">
  <p:tag name="MH" val="20151121191650"/>
  <p:tag name="MH_LIBRARY" val="GRAPHIC"/>
  <p:tag name="MH_TYPE" val="Other"/>
  <p:tag name="MH_ORDER" val="8"/>
</p:tagLst>
</file>

<file path=ppt/tags/tag68.xml><?xml version="1.0" encoding="utf-8"?>
<p:tagLst xmlns:p="http://schemas.openxmlformats.org/presentationml/2006/main">
  <p:tag name="KSO_WM_DIAGRAM_VIRTUALLY_FRAME" val="{&quot;height&quot;:36.712283464566916,&quot;left&quot;:283.1845669291339,&quot;top&quot;:441.87779527559053,&quot;width&quot;:486.2776771653542}"/>
</p:tagLst>
</file>

<file path=ppt/tags/tag69.xml><?xml version="1.0" encoding="utf-8"?>
<p:tagLst xmlns:p="http://schemas.openxmlformats.org/presentationml/2006/main">
  <p:tag name="KSO_WM_DIAGRAM_VIRTUALLY_FRAME" val="{&quot;height&quot;:36.712283464566916,&quot;left&quot;:283.1845669291339,&quot;top&quot;:441.87779527559053,&quot;width&quot;:486.2776771653542}"/>
</p:tagLst>
</file>

<file path=ppt/tags/tag70.xml><?xml version="1.0" encoding="utf-8"?>
<p:tagLst xmlns:p="http://schemas.openxmlformats.org/presentationml/2006/main">
  <p:tag name="commondata" val="eyJoZGlkIjoiY2IyNmU0MDczNGY3Y2U0OGFhYmRkMTdlMDNjMjJmNTQifQ=="/>
</p:tagLst>
</file>

<file path=ppt/theme/theme1.xml><?xml version="1.0" encoding="utf-8"?>
<a:theme xmlns:a="http://schemas.openxmlformats.org/drawingml/2006/main" name="Office 主题​​">
  <a:themeElements>
    <a:clrScheme name="蓝绿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3221</Words>
  <Application>WPS 演示</Application>
  <PresentationFormat>宽屏</PresentationFormat>
  <Paragraphs>338</Paragraphs>
  <Slides>15</Slides>
  <Notes>33</Notes>
  <HiddenSlides>0</HiddenSlides>
  <MMClips>1</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vt:lpstr>
      <vt:lpstr>宋体</vt:lpstr>
      <vt:lpstr>Wingdings</vt:lpstr>
      <vt:lpstr>微软雅黑</vt:lpstr>
      <vt:lpstr>Wingdings</vt:lpstr>
      <vt:lpstr>等线</vt:lpstr>
      <vt:lpstr>Arial Unicode MS</vt:lpstr>
      <vt:lpstr>等线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熊猫办公ppt</dc:title>
  <dc:creator>熊猫办公</dc:creator>
  <cp:lastModifiedBy>把酒祝东风</cp:lastModifiedBy>
  <cp:revision>55</cp:revision>
  <dcterms:created xsi:type="dcterms:W3CDTF">2024-05-21T02:20:00Z</dcterms:created>
  <dcterms:modified xsi:type="dcterms:W3CDTF">2025-11-22T05:46:15Z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437E0F24E989451A86057F659AEF7455_13</vt:lpwstr>
  </property>
</Properties>
</file>