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mp3" ContentType="audio/mp3"/>
  <Default Extension="rels" ContentType="application/vnd.openxmlformats-package.relationships+xml"/>
  <Override PartName="/customXml/itemProps116.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7.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31" r:id="rId3"/>
    <p:sldId id="332" r:id="rId5"/>
    <p:sldId id="336" r:id="rId6"/>
    <p:sldId id="321" r:id="rId7"/>
    <p:sldId id="339" r:id="rId8"/>
    <p:sldId id="337" r:id="rId9"/>
    <p:sldId id="315" r:id="rId10"/>
    <p:sldId id="341" r:id="rId11"/>
    <p:sldId id="346" r:id="rId12"/>
    <p:sldId id="347" r:id="rId13"/>
    <p:sldId id="348" r:id="rId14"/>
    <p:sldId id="349" r:id="rId15"/>
    <p:sldId id="350" r:id="rId16"/>
    <p:sldId id="351" r:id="rId17"/>
    <p:sldId id="338" r:id="rId18"/>
    <p:sldId id="323" r:id="rId19"/>
    <p:sldId id="352" r:id="rId20"/>
    <p:sldId id="291" r:id="rId21"/>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C5FD"/>
    <a:srgbClr val="3A6695"/>
    <a:srgbClr val="134263"/>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3963" autoAdjust="0"/>
  </p:normalViewPr>
  <p:slideViewPr>
    <p:cSldViewPr snapToGrid="0">
      <p:cViewPr>
        <p:scale>
          <a:sx n="50" d="100"/>
          <a:sy n="50" d="100"/>
        </p:scale>
        <p:origin x="1260" y="3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gs" Target="tags/tag117.xml"/><Relationship Id="rId26" Type="http://schemas.openxmlformats.org/officeDocument/2006/relationships/customXml" Target="../customXml/item1.xml"/><Relationship Id="rId25" Type="http://schemas.openxmlformats.org/officeDocument/2006/relationships/customXmlProps" Target="../customXml/itemProps116.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2"/>
            <a:r>
              <a:rPr lang="zh-CN" altLang="en-US">
                <a:sym typeface="+mn-ea"/>
              </a:rPr>
              <a:t>当前制造业设备高度异构。不同厂家的机床、机器人、焊接设备等通常使用不同的接口协议，不同的数据帧结构。这些异构特性给企业的信息化系统带来了明显的接入难度。为了让设备实现互联互通，工业界普遍使用</a:t>
            </a:r>
            <a:r>
              <a:rPr lang="en-US" altLang="zh-CN">
                <a:sym typeface="+mn-ea"/>
              </a:rPr>
              <a:t> OPC UA </a:t>
            </a:r>
            <a:r>
              <a:rPr lang="zh-CN" altLang="en-US">
                <a:sym typeface="+mn-ea"/>
              </a:rPr>
              <a:t>作为统一标准。因此我的课题研究基于</a:t>
            </a:r>
            <a:r>
              <a:rPr lang="en-US" altLang="zh-CN">
                <a:sym typeface="+mn-ea"/>
              </a:rPr>
              <a:t>OPC UA</a:t>
            </a:r>
            <a:r>
              <a:rPr lang="zh-CN" altLang="en-US">
                <a:sym typeface="+mn-ea"/>
              </a:rPr>
              <a:t>协议进行。一共分为三部分，分别是</a:t>
            </a:r>
            <a:r>
              <a:rPr lang="zh-CN" altLang="en-US" b="1" dirty="0">
                <a:latin typeface="微软雅黑" panose="020B0503020204020204" pitchFamily="34" charset="-122"/>
                <a:ea typeface="微软雅黑" panose="020B0503020204020204" pitchFamily="34" charset="-122"/>
                <a:sym typeface="+mn-ea"/>
              </a:rPr>
              <a:t>实现</a:t>
            </a:r>
            <a:r>
              <a:rPr lang="zh-CN" altLang="en-US" b="1" dirty="0">
                <a:solidFill>
                  <a:srgbClr val="C00000"/>
                </a:solidFill>
                <a:latin typeface="微软雅黑" panose="020B0503020204020204" pitchFamily="34" charset="-122"/>
                <a:ea typeface="微软雅黑" panose="020B0503020204020204" pitchFamily="34" charset="-122"/>
                <a:sym typeface="+mn-ea"/>
              </a:rPr>
              <a:t>工业领域知识</a:t>
            </a:r>
            <a:r>
              <a:rPr lang="zh-CN" altLang="en-US" b="1" dirty="0">
                <a:latin typeface="微软雅黑" panose="020B0503020204020204" pitchFamily="34" charset="-122"/>
                <a:ea typeface="微软雅黑" panose="020B0503020204020204" pitchFamily="34" charset="-122"/>
                <a:sym typeface="+mn-ea"/>
              </a:rPr>
              <a:t>到</a:t>
            </a:r>
            <a:r>
              <a:rPr lang="zh-CN" altLang="en-US" b="1" dirty="0">
                <a:solidFill>
                  <a:srgbClr val="C00000"/>
                </a:solidFill>
                <a:latin typeface="微软雅黑" panose="020B0503020204020204" pitchFamily="34" charset="-122"/>
                <a:ea typeface="微软雅黑" panose="020B0503020204020204" pitchFamily="34" charset="-122"/>
                <a:sym typeface="+mn-ea"/>
              </a:rPr>
              <a:t>知识图谱</a:t>
            </a:r>
            <a:r>
              <a:rPr lang="en-US" altLang="zh-CN" b="1" dirty="0">
                <a:latin typeface="微软雅黑" panose="020B0503020204020204" pitchFamily="34" charset="-122"/>
                <a:ea typeface="微软雅黑" panose="020B0503020204020204" pitchFamily="34" charset="-122"/>
                <a:sym typeface="+mn-ea"/>
              </a:rPr>
              <a:t>的建模</a:t>
            </a:r>
            <a:r>
              <a:rPr lang="zh-CN" altLang="en-US" b="1" dirty="0">
                <a:latin typeface="微软雅黑" panose="020B0503020204020204" pitchFamily="34" charset="-122"/>
                <a:ea typeface="微软雅黑" panose="020B0503020204020204" pitchFamily="34" charset="-122"/>
                <a:sym typeface="+mn-ea"/>
              </a:rPr>
              <a:t>、</a:t>
            </a:r>
            <a:r>
              <a:rPr lang="zh-CN" altLang="en-US" b="1" dirty="0">
                <a:latin typeface="微软雅黑" panose="020B0503020204020204" pitchFamily="34" charset="-122"/>
                <a:ea typeface="微软雅黑" panose="020B0503020204020204" pitchFamily="34" charset="-122"/>
                <a:sym typeface="+mn-ea"/>
              </a:rPr>
              <a:t>搭建</a:t>
            </a:r>
            <a:r>
              <a:rPr lang="zh-CN" altLang="en-US" b="1" dirty="0">
                <a:latin typeface="微软雅黑" panose="020B0503020204020204" pitchFamily="34" charset="-122"/>
                <a:ea typeface="微软雅黑" panose="020B0503020204020204" pitchFamily="34" charset="-122"/>
                <a:sym typeface="+mn-ea"/>
              </a:rPr>
              <a:t>支持多源异构工业APP的</a:t>
            </a:r>
            <a:r>
              <a:rPr lang="zh-CN" altLang="en-US" b="1" dirty="0">
                <a:solidFill>
                  <a:srgbClr val="C00000"/>
                </a:solidFill>
                <a:latin typeface="微软雅黑" panose="020B0503020204020204" pitchFamily="34" charset="-122"/>
                <a:ea typeface="微软雅黑" panose="020B0503020204020204" pitchFamily="34" charset="-122"/>
                <a:sym typeface="+mn-ea"/>
              </a:rPr>
              <a:t>零代码开发工具、</a:t>
            </a:r>
            <a:r>
              <a:rPr lang="zh-CN" altLang="en-US" b="1" dirty="0">
                <a:latin typeface="微软雅黑" panose="020B0503020204020204" pitchFamily="34" charset="-122"/>
                <a:ea typeface="微软雅黑" panose="020B0503020204020204" pitchFamily="34" charset="-122"/>
                <a:sym typeface="+mn-ea"/>
              </a:rPr>
              <a:t>搭建判断</a:t>
            </a:r>
            <a:r>
              <a:rPr lang="zh-CN" altLang="en-US" b="1" dirty="0">
                <a:latin typeface="微软雅黑" panose="020B0503020204020204" pitchFamily="34" charset="-122"/>
                <a:ea typeface="微软雅黑" panose="020B0503020204020204" pitchFamily="34" charset="-122"/>
                <a:sym typeface="+mn-ea"/>
              </a:rPr>
              <a:t>代码合规的</a:t>
            </a:r>
            <a:r>
              <a:rPr lang="zh-CN" altLang="en-US" b="1" dirty="0">
                <a:solidFill>
                  <a:srgbClr val="C00000"/>
                </a:solidFill>
                <a:latin typeface="微软雅黑" panose="020B0503020204020204" pitchFamily="34" charset="-122"/>
                <a:ea typeface="微软雅黑" panose="020B0503020204020204" pitchFamily="34" charset="-122"/>
                <a:sym typeface="+mn-ea"/>
              </a:rPr>
              <a:t>可信验证框架</a:t>
            </a:r>
            <a:endParaRPr lang="zh-CN" altLang="en-US" b="1" dirty="0">
              <a:solidFill>
                <a:srgbClr val="C00000"/>
              </a:solidFill>
              <a:latin typeface="微软雅黑" panose="020B0503020204020204" pitchFamily="34" charset="-122"/>
              <a:ea typeface="微软雅黑" panose="020B0503020204020204" pitchFamily="34" charset="-122"/>
              <a:sym typeface="+mn-ea"/>
            </a:endParaRPr>
          </a:p>
          <a:p>
            <a:pPr marL="0" lvl="2"/>
            <a:r>
              <a:rPr lang="zh-CN">
                <a:latin typeface="微软雅黑" panose="020B0503020204020204" pitchFamily="34" charset="-122"/>
                <a:ea typeface="微软雅黑" panose="020B0503020204020204" pitchFamily="34" charset="-122"/>
                <a:cs typeface="微软雅黑" panose="020B0503020204020204" pitchFamily="34" charset="-122"/>
                <a:sym typeface="+mn-ea"/>
              </a:rPr>
              <a:t>由于</a:t>
            </a:r>
            <a:r>
              <a:rPr>
                <a:latin typeface="微软雅黑" panose="020B0503020204020204" pitchFamily="34" charset="-122"/>
                <a:ea typeface="微软雅黑" panose="020B0503020204020204" pitchFamily="34" charset="-122"/>
                <a:cs typeface="微软雅黑" panose="020B0503020204020204" pitchFamily="34" charset="-122"/>
                <a:sym typeface="+mn-ea"/>
              </a:rPr>
              <a:t>知识图谱具备语义统一潜力，同时OPC UA信息模型</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与</a:t>
            </a:r>
            <a:r>
              <a:rPr>
                <a:latin typeface="微软雅黑" panose="020B0503020204020204" pitchFamily="34" charset="-122"/>
                <a:ea typeface="微软雅黑" panose="020B0503020204020204" pitchFamily="34" charset="-122"/>
                <a:cs typeface="微软雅黑" panose="020B0503020204020204" pitchFamily="34" charset="-122"/>
                <a:sym typeface="+mn-ea"/>
              </a:rPr>
              <a:t>KG数据组织</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相似，因此我们将工业设备数据帧中的信息以知识图谱的形式组织起来，为搭建平台组件提供信息。</a:t>
            </a:r>
            <a:endParaRPr lang="zh-CN">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2"/>
            <a:r>
              <a:rPr>
                <a:latin typeface="微软雅黑" panose="020B0503020204020204" pitchFamily="34" charset="-122"/>
                <a:ea typeface="微软雅黑" panose="020B0503020204020204" pitchFamily="34" charset="-122"/>
                <a:cs typeface="微软雅黑" panose="020B0503020204020204" pitchFamily="34" charset="-122"/>
                <a:sym typeface="+mn-ea"/>
              </a:rPr>
              <a:t>在完成</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企业领域知识的知识图谱映射之后，根据多源异构的开发工具需求，针对不同领域的</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IMKG</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，构建自动化的组件搭建流程。</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0" lvl="2"/>
            <a:r>
              <a:rPr lang="zh-CN">
                <a:latin typeface="微软雅黑" panose="020B0503020204020204" pitchFamily="34" charset="-122"/>
                <a:ea typeface="微软雅黑" panose="020B0503020204020204" pitchFamily="34" charset="-122"/>
                <a:cs typeface="微软雅黑" panose="020B0503020204020204" pitchFamily="34" charset="-122"/>
                <a:sym typeface="+mn-ea"/>
              </a:rPr>
              <a:t>生成组件之后我们需要对生成的组件代码进行一定的可信验证确保代码的正确性</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2"/>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Aft>
                <a:spcPct val="60000"/>
              </a:spcAft>
            </a:pPr>
            <a:r>
              <a:rPr lang="zh-CN" altLang="en-US">
                <a:sym typeface="+mn-ea"/>
              </a:rPr>
              <a:t>第一个实际遇到的技术难点来自工业现场数据本身。工业协议和设备字段中大量使用非标准缩写，例如转速、温度、状态等字段往往以高度压缩的字符形式出现，这使得传统基于词级</a:t>
            </a:r>
            <a:r>
              <a:rPr lang="en-US" altLang="zh-CN">
                <a:sym typeface="+mn-ea"/>
              </a:rPr>
              <a:t> embedding </a:t>
            </a:r>
            <a:r>
              <a:rPr lang="zh-CN" altLang="en-US">
                <a:sym typeface="+mn-ea"/>
              </a:rPr>
              <a:t>的自然语言处理方法难以有效建模其语义。</a:t>
            </a:r>
            <a:endParaRPr lang="zh-CN" altLang="en-US"/>
          </a:p>
          <a:p>
            <a:pPr>
              <a:spcAft>
                <a:spcPct val="60000"/>
              </a:spcAft>
            </a:pPr>
            <a:r>
              <a:rPr lang="zh-CN" altLang="en-US">
                <a:sym typeface="+mn-ea"/>
              </a:rPr>
              <a:t>如果无法正确理解字段语义，后续的设备类型识别、实体抽取以及知识图谱补全都会受到影响。因此，在本研究中，我并未采用常见的词级模型，而是选择字符级</a:t>
            </a:r>
            <a:r>
              <a:rPr lang="en-US" altLang="zh-CN">
                <a:sym typeface="+mn-ea"/>
              </a:rPr>
              <a:t> embedding </a:t>
            </a:r>
            <a:r>
              <a:rPr lang="zh-CN" altLang="en-US">
                <a:sym typeface="+mn-ea"/>
              </a:rPr>
              <a:t>的方式，将每一个字段名视为字符序列进行建模。</a:t>
            </a:r>
            <a:endParaRPr lang="zh-CN" altLang="en-US"/>
          </a:p>
          <a:p>
            <a:pPr>
              <a:spcAft>
                <a:spcPct val="60000"/>
              </a:spcAft>
            </a:pPr>
            <a:r>
              <a:rPr lang="zh-CN" altLang="en-US">
                <a:sym typeface="+mn-ea"/>
              </a:rPr>
              <a:t>通过字符级嵌入，模型可以直接捕捉缩写内部的结构特征，例如前缀、后缀以及数字与字母的组合规律，从而在样本规模有限、命名不规范的工业场景下，依然具备较好的泛化能力。这一设计为后续的设备识别和知识建模奠定了基础。</a:t>
            </a:r>
            <a:endParaRPr lang="zh-CN" altLang="en-US"/>
          </a:p>
          <a:p>
            <a:pPr>
              <a:spcAft>
                <a:spcPct val="60000"/>
              </a:spcAft>
            </a:pPr>
            <a:endParaRPr lang="zh-CN" altLang="en-US"/>
          </a:p>
          <a:p>
            <a:pPr>
              <a:spcAft>
                <a:spcPct val="60000"/>
              </a:spcAft>
            </a:pPr>
            <a:r>
              <a:rPr lang="zh-CN" altLang="en-US">
                <a:sym typeface="+mn-ea"/>
              </a:rPr>
              <a:t>在解决基础语义理解之后，第二个关键问题出现在系统的扩展性上。工业现场设备更新频繁，新设备接入时往往会引入此前从未出现过的字段。如果系统仅基于封闭知识建模，就会频繁出现</a:t>
            </a:r>
            <a:r>
              <a:rPr lang="en-US" altLang="zh-CN">
                <a:sym typeface="+mn-ea"/>
              </a:rPr>
              <a:t>“</a:t>
            </a:r>
            <a:r>
              <a:rPr lang="zh-CN" altLang="en-US">
                <a:sym typeface="+mn-ea"/>
              </a:rPr>
              <a:t>未知字段无法处理</a:t>
            </a:r>
            <a:r>
              <a:rPr lang="en-US" altLang="zh-CN">
                <a:sym typeface="+mn-ea"/>
              </a:rPr>
              <a:t>”</a:t>
            </a:r>
            <a:r>
              <a:rPr lang="zh-CN" altLang="en-US">
                <a:sym typeface="+mn-ea"/>
              </a:rPr>
              <a:t>的情况。</a:t>
            </a:r>
            <a:endParaRPr lang="zh-CN" altLang="en-US"/>
          </a:p>
          <a:p>
            <a:pPr>
              <a:spcAft>
                <a:spcPct val="60000"/>
              </a:spcAft>
            </a:pPr>
            <a:r>
              <a:rPr lang="zh-CN" altLang="en-US">
                <a:sym typeface="+mn-ea"/>
              </a:rPr>
              <a:t>针对这一问题，本研究引入开放世界假设，结合知识图谱嵌入模型</a:t>
            </a:r>
            <a:r>
              <a:rPr lang="en-US" altLang="zh-CN">
                <a:sym typeface="+mn-ea"/>
              </a:rPr>
              <a:t> ComplEx</a:t>
            </a:r>
            <a:r>
              <a:rPr lang="zh-CN" altLang="en-US">
                <a:sym typeface="+mn-ea"/>
              </a:rPr>
              <a:t>，对未知字段进行语义补全。具体做法是：先通过字符级</a:t>
            </a:r>
            <a:r>
              <a:rPr lang="en-US" altLang="zh-CN">
                <a:sym typeface="+mn-ea"/>
              </a:rPr>
              <a:t> embedding </a:t>
            </a:r>
            <a:r>
              <a:rPr lang="zh-CN" altLang="en-US">
                <a:sym typeface="+mn-ea"/>
              </a:rPr>
              <a:t>获取字段的基础语义表示，再将其映射到知识图谱嵌入空间中，通过上下文关系预测该字段最可能归属的实体或关系类型。</a:t>
            </a:r>
            <a:endParaRPr lang="zh-CN" altLang="en-US"/>
          </a:p>
          <a:p>
            <a:pPr>
              <a:spcAft>
                <a:spcPct val="60000"/>
              </a:spcAft>
            </a:pPr>
            <a:r>
              <a:rPr lang="zh-CN" altLang="en-US">
                <a:sym typeface="+mn-ea"/>
              </a:rPr>
              <a:t>这样，系统无需为每一种新设备手工建模，而是能够基于已有工业知识进行合理推断，从而显著提升平台面对新设备和新场景时的自适应能力。</a:t>
            </a:r>
            <a:endParaRPr lang="zh-CN" altLang="en-US"/>
          </a:p>
          <a:p>
            <a:pPr>
              <a:spcAft>
                <a:spcPct val="60000"/>
              </a:spcAft>
            </a:pPr>
            <a:endParaRPr lang="zh-CN" altLang="en-US"/>
          </a:p>
          <a:p>
            <a:pPr>
              <a:spcAft>
                <a:spcPct val="60000"/>
              </a:spcAft>
            </a:pPr>
            <a:r>
              <a:rPr lang="zh-CN" altLang="en-US">
                <a:sym typeface="+mn-ea"/>
              </a:rPr>
              <a:t>在完成设备和字段层面的语义建模后，下一个难点出现在零代码平台本身。传统零代码平台往往将组件逻辑与底层数据源强耦合，一旦设备或协议发生变化，组件就需要重新设计，这在工业场景中是不可接受的。</a:t>
            </a:r>
            <a:endParaRPr lang="zh-CN" altLang="en-US"/>
          </a:p>
          <a:p>
            <a:pPr>
              <a:spcAft>
                <a:spcPct val="60000"/>
              </a:spcAft>
            </a:pPr>
            <a:r>
              <a:rPr lang="zh-CN" altLang="en-US">
                <a:sym typeface="+mn-ea"/>
              </a:rPr>
              <a:t>为解决这一问题，本研究引入</a:t>
            </a:r>
            <a:r>
              <a:rPr lang="en-US" altLang="zh-CN">
                <a:sym typeface="+mn-ea"/>
              </a:rPr>
              <a:t> OPC UA </a:t>
            </a:r>
            <a:r>
              <a:rPr lang="zh-CN" altLang="en-US">
                <a:sym typeface="+mn-ea"/>
              </a:rPr>
              <a:t>信息模型作为中间标准层，构建</a:t>
            </a:r>
            <a:r>
              <a:rPr lang="en-US" altLang="zh-CN">
                <a:sym typeface="+mn-ea"/>
              </a:rPr>
              <a:t>“</a:t>
            </a:r>
            <a:r>
              <a:rPr lang="zh-CN" altLang="en-US">
                <a:sym typeface="+mn-ea"/>
              </a:rPr>
              <a:t>异构工业数据</a:t>
            </a:r>
            <a:r>
              <a:rPr lang="en-US" altLang="zh-CN">
                <a:sym typeface="+mn-ea"/>
              </a:rPr>
              <a:t>—OPC UA </a:t>
            </a:r>
            <a:r>
              <a:rPr lang="zh-CN" altLang="en-US">
                <a:sym typeface="+mn-ea"/>
              </a:rPr>
              <a:t>标准模型</a:t>
            </a:r>
            <a:r>
              <a:rPr lang="en-US" altLang="zh-CN">
                <a:sym typeface="+mn-ea"/>
              </a:rPr>
              <a:t>—</a:t>
            </a:r>
            <a:r>
              <a:rPr lang="zh-CN" altLang="en-US">
                <a:sym typeface="+mn-ea"/>
              </a:rPr>
              <a:t>零代码组件</a:t>
            </a:r>
            <a:r>
              <a:rPr lang="en-US" altLang="zh-CN">
                <a:sym typeface="+mn-ea"/>
              </a:rPr>
              <a:t>”</a:t>
            </a:r>
            <a:r>
              <a:rPr lang="zh-CN" altLang="en-US">
                <a:sym typeface="+mn-ea"/>
              </a:rPr>
              <a:t>的三层结构。通过建立本体、</a:t>
            </a:r>
            <a:r>
              <a:rPr lang="en-US" altLang="zh-CN">
                <a:sym typeface="+mn-ea"/>
              </a:rPr>
              <a:t>OPC UA </a:t>
            </a:r>
            <a:r>
              <a:rPr lang="zh-CN" altLang="en-US">
                <a:sym typeface="+mn-ea"/>
              </a:rPr>
              <a:t>地址空间节点以及前端组件</a:t>
            </a:r>
            <a:r>
              <a:rPr lang="en-US" altLang="zh-CN">
                <a:sym typeface="+mn-ea"/>
              </a:rPr>
              <a:t> Schema </a:t>
            </a:r>
            <a:r>
              <a:rPr lang="zh-CN" altLang="en-US">
                <a:sym typeface="+mn-ea"/>
              </a:rPr>
              <a:t>之间的三方映射关系，使组件仅依赖语义，而不直接依赖具体设备。</a:t>
            </a:r>
            <a:endParaRPr lang="zh-CN" altLang="en-US"/>
          </a:p>
          <a:p>
            <a:pPr>
              <a:spcAft>
                <a:spcPct val="60000"/>
              </a:spcAft>
            </a:pPr>
            <a:r>
              <a:rPr lang="zh-CN" altLang="en-US">
                <a:sym typeface="+mn-ea"/>
              </a:rPr>
              <a:t>这样，同一类工业语义可以复用统一的组件模板，不同设备只需要在映射层进行适配，从而显著提升平台的可扩展性和复用能力。</a:t>
            </a:r>
            <a:endParaRPr lang="zh-CN" altLang="en-US"/>
          </a:p>
          <a:p>
            <a:pPr>
              <a:spcAft>
                <a:spcPct val="60000"/>
              </a:spcAft>
            </a:pPr>
            <a:endParaRPr lang="zh-CN" altLang="en-US"/>
          </a:p>
          <a:p>
            <a:pPr>
              <a:spcAft>
                <a:spcPct val="60000"/>
              </a:spcAft>
            </a:pPr>
            <a:r>
              <a:rPr lang="zh-CN" altLang="en-US">
                <a:sym typeface="+mn-ea"/>
              </a:rPr>
              <a:t>在完成组件自动生成后，最后一个、也是最关键的问题，是自动生成代码在工业场景中的可靠性。与普通业务系统不同，工业应用一旦出现逻辑错误，可能直接影响设备安全甚至生产事故。</a:t>
            </a:r>
            <a:endParaRPr lang="zh-CN" altLang="en-US"/>
          </a:p>
          <a:p>
            <a:pPr>
              <a:spcAft>
                <a:spcPct val="60000"/>
              </a:spcAft>
            </a:pPr>
            <a:r>
              <a:rPr lang="zh-CN" altLang="en-US">
                <a:sym typeface="+mn-ea"/>
              </a:rPr>
              <a:t>因此，本研究并未止步于</a:t>
            </a:r>
            <a:r>
              <a:rPr lang="en-US" altLang="zh-CN">
                <a:sym typeface="+mn-ea"/>
              </a:rPr>
              <a:t>“</a:t>
            </a:r>
            <a:r>
              <a:rPr lang="zh-CN" altLang="en-US">
                <a:sym typeface="+mn-ea"/>
              </a:rPr>
              <a:t>能生成</a:t>
            </a:r>
            <a:r>
              <a:rPr lang="en-US" altLang="zh-CN">
                <a:sym typeface="+mn-ea"/>
              </a:rPr>
              <a:t>”</a:t>
            </a:r>
            <a:r>
              <a:rPr lang="zh-CN" altLang="en-US">
                <a:sym typeface="+mn-ea"/>
              </a:rPr>
              <a:t>，而是引入了一套三层可信验证框架，对自动生成的应用进行多维度校验。该框架分别从静态结构、动态行为以及工业语义三个层面进行验证，力图在代码部署前尽可能发现潜在风险。</a:t>
            </a:r>
            <a:endParaRPr lang="zh-CN" altLang="en-US"/>
          </a:p>
          <a:p>
            <a:pPr>
              <a:spcAft>
                <a:spcPct val="60000"/>
              </a:spcAft>
            </a:pPr>
            <a:r>
              <a:rPr lang="zh-CN" altLang="en-US">
                <a:sym typeface="+mn-ea"/>
              </a:rPr>
              <a:t>接下来我将按照以下技术路线介绍本课题</a:t>
            </a:r>
            <a:r>
              <a:rPr lang="zh-CN" altLang="en-US">
                <a:sym typeface="+mn-ea"/>
              </a:rPr>
              <a:t>的工作。</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buFont typeface="Arial" panose="020B0604020202020204"/>
              <a:buNone/>
            </a:pPr>
            <a:r>
              <a:rPr lang="zh-CN" altLang="en-US">
                <a:sym typeface="+mn-ea"/>
              </a:rPr>
              <a:t>首先需要解决的是工业字段语义难理解的问题。关键</a:t>
            </a:r>
            <a:r>
              <a:rPr lang="zh-CN" b="1">
                <a:latin typeface="微软雅黑" panose="020B0503020204020204" pitchFamily="34" charset="-122"/>
                <a:ea typeface="微软雅黑" panose="020B0503020204020204" pitchFamily="34" charset="-122"/>
                <a:cs typeface="微软雅黑" panose="020B0503020204020204" pitchFamily="34" charset="-122"/>
                <a:sym typeface="+mn-ea"/>
              </a:rPr>
              <a:t>问题在于</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如何将</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工业设备数据帧转化为知识图谱并基于现有非结构化内容完成知识图谱的搭建。</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buFont typeface="Arial" panose="020B0604020202020204"/>
              <a:buNone/>
            </a:pPr>
            <a:r>
              <a:rPr lang="zh-CN" altLang="en-US">
                <a:sym typeface="+mn-ea"/>
              </a:rPr>
              <a:t>本研究采用字符级</a:t>
            </a:r>
            <a:r>
              <a:rPr lang="en-US" altLang="zh-CN">
                <a:sym typeface="+mn-ea"/>
              </a:rPr>
              <a:t> embedding </a:t>
            </a:r>
            <a:r>
              <a:rPr lang="zh-CN" altLang="en-US">
                <a:sym typeface="+mn-ea"/>
              </a:rPr>
              <a:t>的方式，将字段名视为字符序列而非单词进行建模。通过字符级嵌入，模型能够直接捕捉缩写内部的结构规律，例如字母组合、数字位置和下划线模式等。</a:t>
            </a:r>
            <a:endParaRPr lang="zh-CN" altLang="en-US">
              <a:sym typeface="+mn-ea"/>
            </a:endParaRPr>
          </a:p>
          <a:p>
            <a:pPr indent="0">
              <a:buFont typeface="Arial" panose="020B0604020202020204"/>
              <a:buNone/>
            </a:pPr>
            <a:r>
              <a:rPr lang="zh-CN" altLang="en-US">
                <a:sym typeface="+mn-ea"/>
              </a:rPr>
              <a:t>这一方法在工业场景中具有明显优势：一方面模型更加轻量，适合部署在算力受限的边缘环境；另一方面对命名不规范和未登录词具有更强的鲁棒性。这一步为后续设备类型识别和实体抽取提供了可靠的语义基础。</a:t>
            </a:r>
            <a:endParaRPr lang="zh-CN" altLang="en-US">
              <a:sym typeface="+mn-ea"/>
            </a:endParaRPr>
          </a:p>
          <a:p>
            <a:pPr indent="0">
              <a:buFont typeface="Arial" panose="020B0604020202020204"/>
              <a:buNone/>
            </a:pPr>
            <a:r>
              <a:rPr lang="zh-CN" altLang="en-US">
                <a:sym typeface="+mn-ea"/>
              </a:rPr>
              <a:t>在具体实现上，系统采用字符级</a:t>
            </a:r>
            <a:r>
              <a:rPr lang="en-US" altLang="zh-CN">
                <a:sym typeface="+mn-ea"/>
              </a:rPr>
              <a:t> TextCNN </a:t>
            </a:r>
            <a:r>
              <a:rPr lang="zh-CN" altLang="en-US">
                <a:sym typeface="+mn-ea"/>
              </a:rPr>
              <a:t>作为基础分类与实体识别模型。首先对工业字段进行字符序列拆分，并映射到字符嵌入空间；随后通过多通道卷积提取局部特征，并通过池化层获得固定长度的特征表示。</a:t>
            </a:r>
            <a:endParaRPr lang="zh-CN" altLang="en-US"/>
          </a:p>
          <a:p>
            <a:pPr indent="0">
              <a:buFont typeface="Arial" panose="020B0604020202020204"/>
              <a:buNone/>
            </a:pPr>
            <a:r>
              <a:rPr lang="zh-CN" altLang="en-US">
                <a:sym typeface="+mn-ea"/>
              </a:rPr>
              <a:t>最终，模型通过</a:t>
            </a:r>
            <a:r>
              <a:rPr lang="en-US" altLang="zh-CN">
                <a:sym typeface="+mn-ea"/>
              </a:rPr>
              <a:t> Softmax </a:t>
            </a:r>
            <a:r>
              <a:rPr lang="zh-CN" altLang="en-US">
                <a:sym typeface="+mn-ea"/>
              </a:rPr>
              <a:t>输出设备或字段的分类结果，同时结合命名实体识别机制，确定字段在知识图谱中的候选实体类型。</a:t>
            </a:r>
            <a:endParaRPr lang="zh-CN" altLang="en-US"/>
          </a:p>
          <a:p>
            <a:pPr indent="0">
              <a:buFont typeface="Arial" panose="020B0604020202020204"/>
              <a:buNone/>
            </a:pPr>
            <a:r>
              <a:rPr lang="zh-CN" altLang="en-US">
                <a:sym typeface="+mn-ea"/>
              </a:rPr>
              <a:t>之所以选择</a:t>
            </a:r>
            <a:r>
              <a:rPr lang="en-US" altLang="zh-CN">
                <a:sym typeface="+mn-ea"/>
              </a:rPr>
              <a:t> CNN </a:t>
            </a:r>
            <a:r>
              <a:rPr lang="zh-CN" altLang="en-US">
                <a:sym typeface="+mn-ea"/>
              </a:rPr>
              <a:t>而非</a:t>
            </a:r>
            <a:r>
              <a:rPr lang="en-US" altLang="zh-CN">
                <a:sym typeface="+mn-ea"/>
              </a:rPr>
              <a:t> Transformer </a:t>
            </a:r>
            <a:r>
              <a:rPr lang="zh-CN" altLang="en-US">
                <a:sym typeface="+mn-ea"/>
              </a:rPr>
              <a:t>类模型，是综合考虑了工业数据规模、字段长度以及边缘算力限制等现实因素。这一设计在保证效果可接受的前提下，降低了系统复杂度。</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Aft>
                <a:spcPct val="60000"/>
              </a:spcAft>
            </a:pPr>
            <a:r>
              <a:rPr lang="zh-CN" altLang="en-US">
                <a:sym typeface="+mn-ea"/>
              </a:rPr>
              <a:t>论文中的</a:t>
            </a:r>
            <a:r>
              <a:rPr lang="en-US" altLang="zh-CN">
                <a:sym typeface="+mn-ea"/>
              </a:rPr>
              <a:t> IMKG </a:t>
            </a:r>
            <a:r>
              <a:rPr lang="zh-CN" altLang="en-US">
                <a:sym typeface="+mn-ea"/>
              </a:rPr>
              <a:t>不是从零开始自动生成的，而是基于</a:t>
            </a:r>
            <a:r>
              <a:rPr lang="en-US" altLang="zh-CN">
                <a:sym typeface="+mn-ea"/>
              </a:rPr>
              <a:t> OPC UA </a:t>
            </a:r>
            <a:r>
              <a:rPr lang="zh-CN" altLang="en-US">
                <a:sym typeface="+mn-ea"/>
              </a:rPr>
              <a:t>官方参考信息模型和设备说明书预先构建的。每种设备类型都有一个独立的</a:t>
            </a:r>
            <a:r>
              <a:rPr lang="en-US" altLang="zh-CN">
                <a:sym typeface="+mn-ea"/>
              </a:rPr>
              <a:t> IMKG </a:t>
            </a:r>
            <a:r>
              <a:rPr lang="zh-CN" altLang="en-US">
                <a:sym typeface="+mn-ea"/>
              </a:rPr>
              <a:t>框架。对新设备进行建模时，系统首先通过上文叙述的</a:t>
            </a:r>
            <a:r>
              <a:rPr lang="en-US" altLang="zh-CN">
                <a:sym typeface="+mn-ea"/>
              </a:rPr>
              <a:t>T</a:t>
            </a:r>
            <a:r>
              <a:rPr lang="en-US" altLang="zh-CN">
                <a:sym typeface="+mn-ea"/>
              </a:rPr>
              <a:t>extCNN </a:t>
            </a:r>
            <a:r>
              <a:rPr lang="zh-CN" altLang="en-US">
                <a:sym typeface="+mn-ea"/>
              </a:rPr>
              <a:t>识别设备类型，从而决定应该使用哪个</a:t>
            </a:r>
            <a:r>
              <a:rPr lang="en-US" altLang="zh-CN">
                <a:sym typeface="+mn-ea"/>
              </a:rPr>
              <a:t> IMKG</a:t>
            </a:r>
            <a:r>
              <a:rPr lang="zh-CN" altLang="en-US">
                <a:sym typeface="+mn-ea"/>
              </a:rPr>
              <a:t>。识别后的设备数据帧中的未知字段再通过知识补全模块自动补充到该</a:t>
            </a:r>
            <a:r>
              <a:rPr lang="en-US" altLang="zh-CN">
                <a:sym typeface="+mn-ea"/>
              </a:rPr>
              <a:t> IMKG </a:t>
            </a:r>
            <a:r>
              <a:rPr lang="zh-CN" altLang="en-US">
                <a:sym typeface="+mn-ea"/>
              </a:rPr>
              <a:t>中。</a:t>
            </a:r>
            <a:endParaRPr lang="zh-CN" altLang="en-US"/>
          </a:p>
          <a:p>
            <a:pPr>
              <a:spcAft>
                <a:spcPct val="60000"/>
              </a:spcAft>
            </a:pPr>
            <a:r>
              <a:rPr lang="zh-CN" altLang="en-US">
                <a:sym typeface="+mn-ea"/>
              </a:rPr>
              <a:t>识别设备类型后，系统会选择对应的</a:t>
            </a:r>
            <a:r>
              <a:rPr lang="en-US" altLang="zh-CN">
                <a:sym typeface="+mn-ea"/>
              </a:rPr>
              <a:t> IMKG</a:t>
            </a:r>
            <a:r>
              <a:rPr lang="zh-CN" altLang="en-US">
                <a:sym typeface="+mn-ea"/>
              </a:rPr>
              <a:t>。</a:t>
            </a:r>
            <a:r>
              <a:rPr lang="en-US" altLang="zh-CN">
                <a:sym typeface="+mn-ea"/>
              </a:rPr>
              <a:t>IMKG </a:t>
            </a:r>
            <a:r>
              <a:rPr lang="zh-CN" altLang="en-US">
                <a:sym typeface="+mn-ea"/>
              </a:rPr>
              <a:t>是一个三元组图谱，实体为各种组件、功能模块、属性等；关系主要为</a:t>
            </a:r>
            <a:r>
              <a:rPr lang="en-US" altLang="zh-CN">
                <a:sym typeface="+mn-ea"/>
              </a:rPr>
              <a:t> OPC UA </a:t>
            </a:r>
            <a:r>
              <a:rPr lang="zh-CN" altLang="en-US">
                <a:sym typeface="+mn-ea"/>
              </a:rPr>
              <a:t>中的</a:t>
            </a:r>
            <a:r>
              <a:rPr lang="en-US" altLang="zh-CN">
                <a:sym typeface="+mn-ea"/>
              </a:rPr>
              <a:t> HasComponent </a:t>
            </a:r>
            <a:r>
              <a:rPr lang="zh-CN" altLang="en-US">
                <a:sym typeface="+mn-ea"/>
              </a:rPr>
              <a:t>和</a:t>
            </a:r>
            <a:r>
              <a:rPr lang="en-US" altLang="zh-CN">
                <a:sym typeface="+mn-ea"/>
              </a:rPr>
              <a:t> HasProperty </a:t>
            </a:r>
            <a:r>
              <a:rPr lang="zh-CN" altLang="en-US">
                <a:sym typeface="+mn-ea"/>
              </a:rPr>
              <a:t>等引用结构。</a:t>
            </a:r>
            <a:endParaRPr lang="zh-CN" altLang="en-US"/>
          </a:p>
          <a:p>
            <a:pPr>
              <a:spcAft>
                <a:spcPct val="60000"/>
              </a:spcAft>
            </a:pPr>
            <a:r>
              <a:rPr lang="zh-CN" altLang="en-US">
                <a:sym typeface="+mn-ea"/>
              </a:rPr>
              <a:t>在处理未知设备时，数据帧中常常包含</a:t>
            </a:r>
            <a:r>
              <a:rPr lang="en-US" altLang="zh-CN">
                <a:sym typeface="+mn-ea"/>
              </a:rPr>
              <a:t> IMKG </a:t>
            </a:r>
            <a:r>
              <a:rPr lang="zh-CN" altLang="en-US">
                <a:sym typeface="+mn-ea"/>
              </a:rPr>
              <a:t>中未出现过的新键。系统必须自动判断这些键应该挂在</a:t>
            </a:r>
            <a:r>
              <a:rPr lang="en-US" altLang="zh-CN">
                <a:sym typeface="+mn-ea"/>
              </a:rPr>
              <a:t> IMKG </a:t>
            </a:r>
            <a:r>
              <a:rPr lang="zh-CN" altLang="en-US">
                <a:sym typeface="+mn-ea"/>
              </a:rPr>
              <a:t>的哪个父节点下，这属于开放世界知识补全问题。论文将补全任务表述为预测三元组中的头实体。例如补全</a:t>
            </a:r>
            <a:r>
              <a:rPr lang="en-US" altLang="zh-CN">
                <a:sym typeface="+mn-ea"/>
              </a:rPr>
              <a:t> (?, HasComponent, tail) </a:t>
            </a:r>
            <a:r>
              <a:rPr lang="zh-CN" altLang="en-US">
                <a:sym typeface="+mn-ea"/>
              </a:rPr>
              <a:t>中的</a:t>
            </a:r>
            <a:r>
              <a:rPr lang="en-US" altLang="zh-CN">
                <a:sym typeface="+mn-ea"/>
              </a:rPr>
              <a:t> head</a:t>
            </a:r>
            <a:r>
              <a:rPr lang="zh-CN" altLang="en-US">
                <a:sym typeface="+mn-ea"/>
              </a:rPr>
              <a:t>。</a:t>
            </a:r>
            <a:endParaRPr lang="zh-CN" altLang="en-US">
              <a:sym typeface="+mn-ea"/>
            </a:endParaRPr>
          </a:p>
          <a:p>
            <a:pPr>
              <a:spcAft>
                <a:spcPct val="60000"/>
              </a:spcAft>
            </a:pPr>
            <a:r>
              <a:rPr lang="zh-CN" altLang="en-US">
                <a:sym typeface="+mn-ea"/>
              </a:rPr>
              <a:t>论文提出的另一个重要点是字符级实体嵌入。</a:t>
            </a:r>
            <a:r>
              <a:rPr lang="en-US" altLang="zh-CN">
                <a:sym typeface="+mn-ea"/>
              </a:rPr>
              <a:t>IMKG </a:t>
            </a:r>
            <a:r>
              <a:rPr lang="zh-CN" altLang="en-US">
                <a:sym typeface="+mn-ea"/>
              </a:rPr>
              <a:t>中的实体名称往往是专业缩写，不适合直接使用词级模型。因此，论文使用字符级</a:t>
            </a:r>
            <a:r>
              <a:rPr lang="en-US" altLang="zh-CN">
                <a:sym typeface="+mn-ea"/>
              </a:rPr>
              <a:t> CBOW </a:t>
            </a:r>
            <a:r>
              <a:rPr lang="zh-CN" altLang="en-US">
                <a:sym typeface="+mn-ea"/>
              </a:rPr>
              <a:t>模型学习实体名的字符嵌入，能够更好地捕捉名称内部结构。然后，使用空间变换函数，将字符嵌入空间映射到</a:t>
            </a:r>
            <a:r>
              <a:rPr lang="en-US" altLang="zh-CN">
                <a:sym typeface="+mn-ea"/>
              </a:rPr>
              <a:t> ComplEx </a:t>
            </a:r>
            <a:r>
              <a:rPr lang="zh-CN" altLang="en-US">
                <a:sym typeface="+mn-ea"/>
              </a:rPr>
              <a:t>的</a:t>
            </a:r>
            <a:r>
              <a:rPr lang="en-US" altLang="zh-CN">
                <a:sym typeface="+mn-ea"/>
              </a:rPr>
              <a:t> KG </a:t>
            </a:r>
            <a:r>
              <a:rPr lang="zh-CN" altLang="en-US">
                <a:sym typeface="+mn-ea"/>
              </a:rPr>
              <a:t>嵌入空间。</a:t>
            </a:r>
            <a:endParaRPr lang="zh-CN" altLang="en-US"/>
          </a:p>
          <a:p>
            <a:pPr>
              <a:spcAft>
                <a:spcPct val="60000"/>
              </a:spcAft>
            </a:pPr>
            <a:r>
              <a:rPr lang="zh-CN" altLang="en-US">
                <a:sym typeface="+mn-ea"/>
              </a:rPr>
              <a:t>最终，系统枚举所有可能的头实体，通过</a:t>
            </a:r>
            <a:r>
              <a:rPr lang="en-US" altLang="zh-CN">
                <a:sym typeface="+mn-ea"/>
              </a:rPr>
              <a:t> ComplEx </a:t>
            </a:r>
            <a:r>
              <a:rPr lang="zh-CN" altLang="en-US">
                <a:sym typeface="+mn-ea"/>
              </a:rPr>
              <a:t>打分选择得分最高的节点作为补全结果。</a:t>
            </a:r>
            <a:endParaRPr lang="zh-CN" altLang="en-US">
              <a:sym typeface="+mn-ea"/>
            </a:endParaRPr>
          </a:p>
          <a:p>
            <a:pPr>
              <a:spcAft>
                <a:spcPct val="60000"/>
              </a:spcAft>
            </a:pPr>
            <a:endParaRPr lang="zh-CN" altLang="en-US"/>
          </a:p>
          <a:p>
            <a:pPr>
              <a:spcAft>
                <a:spcPct val="60000"/>
              </a:spcAft>
            </a:pPr>
            <a:r>
              <a:rPr lang="zh-CN" altLang="en-US"/>
              <a:t>在</a:t>
            </a:r>
            <a:r>
              <a:rPr lang="en-US" altLang="zh-CN"/>
              <a:t> ComplEx </a:t>
            </a:r>
            <a:r>
              <a:rPr lang="zh-CN" altLang="en-US"/>
              <a:t>完成开放世界补全后，我们得到的是扩展后的知识图谱三元组集合，但这些结果仍然属于事实层知识。</a:t>
            </a:r>
            <a:endParaRPr lang="zh-CN" altLang="en-US"/>
          </a:p>
          <a:p>
            <a:pPr>
              <a:spcAft>
                <a:spcPct val="60000"/>
              </a:spcAft>
            </a:pPr>
            <a:r>
              <a:rPr lang="zh-CN" altLang="en-US"/>
              <a:t>为了进一步与工业标准</a:t>
            </a:r>
            <a:r>
              <a:rPr lang="en-US" altLang="zh-CN"/>
              <a:t> OPC UA </a:t>
            </a:r>
            <a:r>
              <a:rPr lang="zh-CN" altLang="en-US"/>
              <a:t>对接，我们需要将补全后的</a:t>
            </a:r>
            <a:r>
              <a:rPr lang="en-US" altLang="zh-CN"/>
              <a:t> KG </a:t>
            </a:r>
            <a:r>
              <a:rPr lang="zh-CN" altLang="en-US"/>
              <a:t>转换为</a:t>
            </a:r>
            <a:r>
              <a:rPr lang="en-US" altLang="zh-CN"/>
              <a:t> OWL </a:t>
            </a:r>
            <a:r>
              <a:rPr lang="zh-CN" altLang="en-US"/>
              <a:t>本体文件。</a:t>
            </a:r>
            <a:endParaRPr lang="zh-CN" altLang="en-US"/>
          </a:p>
          <a:p>
            <a:pPr>
              <a:spcAft>
                <a:spcPct val="60000"/>
              </a:spcAft>
            </a:pPr>
            <a:r>
              <a:rPr lang="zh-CN" altLang="en-US"/>
              <a:t>即通过一系列</a:t>
            </a:r>
            <a:r>
              <a:rPr lang="en-US" altLang="zh-CN"/>
              <a:t> </a:t>
            </a:r>
            <a:r>
              <a:rPr lang="en-US" altLang="zh-CN"/>
              <a:t>jena/OWLAPI </a:t>
            </a:r>
            <a:r>
              <a:rPr lang="zh-CN" altLang="en-US"/>
              <a:t>将本体模型序列化导出为标准</a:t>
            </a:r>
            <a:r>
              <a:rPr lang="en-US" altLang="zh-CN"/>
              <a:t> OWL </a:t>
            </a:r>
            <a:r>
              <a:rPr lang="zh-CN" altLang="en-US"/>
              <a:t>文件，为后续</a:t>
            </a:r>
            <a:r>
              <a:rPr lang="en-US" altLang="zh-CN"/>
              <a:t> OPC UA NodeSet XML </a:t>
            </a:r>
            <a:r>
              <a:rPr lang="zh-CN" altLang="en-US"/>
              <a:t>的生成提供输入。</a:t>
            </a:r>
            <a:endParaRPr lang="zh-CN" altLang="en-US"/>
          </a:p>
          <a:p>
            <a:pPr indent="0">
              <a:buFont typeface="Arial" panose="020B0604020202020204"/>
              <a:buNone/>
            </a:pP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Aft>
                <a:spcPct val="60000"/>
              </a:spcAft>
            </a:pPr>
            <a:r>
              <a:rPr lang="zh-CN" altLang="en-US">
                <a:sym typeface="+mn-ea"/>
              </a:rPr>
              <a:t>在搭建完转化后的知识图谱之后问题为如何将其映射到</a:t>
            </a:r>
            <a:r>
              <a:rPr lang="en-US" altLang="zh-CN">
                <a:sym typeface="+mn-ea"/>
              </a:rPr>
              <a:t>OPC</a:t>
            </a:r>
            <a:r>
              <a:rPr lang="zh-CN" altLang="en-US">
                <a:sym typeface="+mn-ea"/>
              </a:rPr>
              <a:t>服务器地址空间中并基于现有内容完成组件搭建，即需要建立本体</a:t>
            </a:r>
            <a:r>
              <a:rPr lang="en-US" altLang="zh-CN">
                <a:sym typeface="+mn-ea"/>
              </a:rPr>
              <a:t>-</a:t>
            </a:r>
            <a:r>
              <a:rPr lang="zh-CN" altLang="en-US">
                <a:sym typeface="+mn-ea"/>
              </a:rPr>
              <a:t>工业标准</a:t>
            </a:r>
            <a:r>
              <a:rPr lang="en-US" altLang="zh-CN">
                <a:sym typeface="+mn-ea"/>
              </a:rPr>
              <a:t>-</a:t>
            </a:r>
            <a:r>
              <a:rPr lang="zh-CN" altLang="en-US">
                <a:sym typeface="+mn-ea"/>
              </a:rPr>
              <a:t>零代码组件的三方映射表，如图所示</a:t>
            </a:r>
            <a:endParaRPr lang="zh-CN" altLang="en-US"/>
          </a:p>
          <a:p>
            <a:pPr>
              <a:spcAft>
                <a:spcPct val="60000"/>
              </a:spcAft>
            </a:pPr>
            <a:r>
              <a:rPr lang="zh-CN" altLang="en-US">
                <a:sym typeface="+mn-ea"/>
              </a:rPr>
              <a:t>实际上前端零代码平台组件是一个嵌套式结构，主要内容有两部分，第一部分是组件名称，组件类型，组件</a:t>
            </a:r>
            <a:r>
              <a:rPr lang="en-US" altLang="zh-CN">
                <a:sym typeface="+mn-ea"/>
              </a:rPr>
              <a:t>value</a:t>
            </a:r>
            <a:r>
              <a:rPr lang="zh-CN" altLang="en-US">
                <a:sym typeface="+mn-ea"/>
              </a:rPr>
              <a:t>等结构性属性，第二部分是</a:t>
            </a:r>
            <a:r>
              <a:rPr lang="en-US" altLang="zh-CN">
                <a:sym typeface="+mn-ea"/>
              </a:rPr>
              <a:t>props</a:t>
            </a:r>
            <a:r>
              <a:rPr lang="zh-CN" altLang="en-US">
                <a:sym typeface="+mn-ea"/>
              </a:rPr>
              <a:t>，里面有初始赋值是否为叶节点结构等。本节的三方映射表主要是针对结构属性。</a:t>
            </a:r>
            <a:endParaRPr lang="zh-CN" altLang="en-US"/>
          </a:p>
          <a:p>
            <a:pPr>
              <a:spcAft>
                <a:spcPct val="60000"/>
              </a:spcAft>
            </a:pPr>
            <a:r>
              <a:rPr lang="zh-CN" altLang="en-US">
                <a:sym typeface="+mn-ea"/>
              </a:rPr>
              <a:t>同时在三方映射表搭的基本结构搭建完成之后还需要对</a:t>
            </a:r>
            <a:r>
              <a:rPr lang="en-US" altLang="zh-CN">
                <a:sym typeface="+mn-ea"/>
              </a:rPr>
              <a:t>props</a:t>
            </a:r>
            <a:r>
              <a:rPr lang="zh-CN" altLang="en-US">
                <a:sym typeface="+mn-ea"/>
              </a:rPr>
              <a:t>中</a:t>
            </a:r>
            <a:r>
              <a:rPr lang="zh-CN" altLang="en-US">
                <a:sym typeface="+mn-ea"/>
              </a:rPr>
              <a:t>一些平台组件</a:t>
            </a:r>
            <a:r>
              <a:rPr lang="en-US" altLang="zh-CN">
                <a:sym typeface="+mn-ea"/>
              </a:rPr>
              <a:t>setter</a:t>
            </a:r>
            <a:r>
              <a:rPr lang="zh-CN" altLang="en-US">
                <a:sym typeface="+mn-ea"/>
              </a:rPr>
              <a:t>进行定义，</a:t>
            </a:r>
            <a:r>
              <a:rPr lang="en-US" altLang="zh-CN">
                <a:sym typeface="+mn-ea"/>
              </a:rPr>
              <a:t>setter</a:t>
            </a:r>
            <a:r>
              <a:rPr lang="zh-CN" altLang="en-US">
                <a:sym typeface="+mn-ea"/>
              </a:rPr>
              <a:t>即前端组件的类型限制等约束</a:t>
            </a:r>
            <a:endParaRPr lang="zh-CN" altLang="en-US"/>
          </a:p>
          <a:p>
            <a:pPr indent="0">
              <a:buFont typeface="Arial" panose="020B0604020202020204"/>
              <a:buNone/>
            </a:pP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ct val="0"/>
              </a:spcBef>
            </a:pPr>
            <a:r>
              <a:rPr lang="zh-CN" altLang="en-US">
                <a:latin typeface="Google Sans"/>
                <a:ea typeface="Google Sans"/>
                <a:sym typeface="+mn-ea"/>
              </a:rPr>
              <a:t>对组件</a:t>
            </a:r>
            <a:r>
              <a:rPr lang="en-US" altLang="zh-CN">
                <a:latin typeface="Google Sans"/>
                <a:ea typeface="Google Sans"/>
                <a:sym typeface="+mn-ea"/>
              </a:rPr>
              <a:t>setter</a:t>
            </a:r>
            <a:r>
              <a:rPr lang="zh-CN" altLang="en-US">
                <a:latin typeface="Google Sans"/>
                <a:ea typeface="Google Sans"/>
                <a:sym typeface="+mn-ea"/>
              </a:rPr>
              <a:t>自动推断属于</a:t>
            </a:r>
            <a:r>
              <a:rPr lang="zh-CN" altLang="en-US">
                <a:latin typeface="Google Sans Text"/>
                <a:ea typeface="Google Sans Text"/>
                <a:sym typeface="+mn-ea"/>
              </a:rPr>
              <a:t>类型系统桥接的部分：即如何从</a:t>
            </a:r>
            <a:r>
              <a:rPr lang="en-US" altLang="zh-CN">
                <a:latin typeface="Google Sans Text"/>
                <a:ea typeface="Google Sans Text"/>
                <a:sym typeface="+mn-ea"/>
              </a:rPr>
              <a:t>XML</a:t>
            </a:r>
            <a:r>
              <a:rPr lang="zh-CN" altLang="en-US">
                <a:latin typeface="Google Sans Text"/>
                <a:ea typeface="Google Sans Text"/>
                <a:sym typeface="+mn-ea"/>
              </a:rPr>
              <a:t>约束</a:t>
            </a:r>
            <a:r>
              <a:rPr lang="en-US" altLang="zh-CN">
                <a:latin typeface="Google Sans Text"/>
                <a:ea typeface="Google Sans Text"/>
                <a:sym typeface="+mn-ea"/>
              </a:rPr>
              <a:t>XSD</a:t>
            </a:r>
            <a:r>
              <a:rPr lang="zh-CN" altLang="en-US">
                <a:latin typeface="Google Sans Text"/>
                <a:ea typeface="Google Sans Text"/>
                <a:sym typeface="+mn-ea"/>
              </a:rPr>
              <a:t>到零代码平台组件</a:t>
            </a:r>
            <a:r>
              <a:rPr lang="en-US" altLang="zh-CN">
                <a:latin typeface="Google Sans Text"/>
                <a:ea typeface="Google Sans Text"/>
                <a:sym typeface="+mn-ea"/>
              </a:rPr>
              <a:t>setter</a:t>
            </a:r>
            <a:r>
              <a:rPr lang="zh-CN" altLang="en-US">
                <a:latin typeface="Google Sans Text"/>
                <a:ea typeface="Google Sans Text"/>
                <a:sym typeface="+mn-ea"/>
              </a:rPr>
              <a:t>的自动推断</a:t>
            </a:r>
            <a:endParaRPr lang="zh-CN" altLang="en-US">
              <a:latin typeface="Google Sans Text"/>
              <a:ea typeface="Google Sans Text"/>
            </a:endParaRPr>
          </a:p>
          <a:p>
            <a:pPr>
              <a:spcBef>
                <a:spcPct val="0"/>
              </a:spcBef>
            </a:pPr>
            <a:r>
              <a:rPr lang="zh-CN" altLang="en-US">
                <a:latin typeface="Google Sans Text"/>
                <a:ea typeface="Google Sans Text"/>
                <a:sym typeface="+mn-ea"/>
              </a:rPr>
              <a:t>两者中后端是强类型的 </a:t>
            </a:r>
            <a:r>
              <a:rPr lang="en-US" altLang="zh-CN">
                <a:latin typeface="Google Sans Text"/>
                <a:ea typeface="Google Sans Text"/>
                <a:sym typeface="+mn-ea"/>
              </a:rPr>
              <a:t>OPC UA</a:t>
            </a:r>
            <a:r>
              <a:rPr lang="zh-CN" altLang="en-US">
                <a:latin typeface="Google Sans Text"/>
                <a:ea typeface="Google Sans Text"/>
                <a:sym typeface="+mn-ea"/>
              </a:rPr>
              <a:t>（如 </a:t>
            </a:r>
            <a:r>
              <a:rPr lang="en-US" altLang="zh-CN">
                <a:latin typeface="Google Sans Text"/>
                <a:ea typeface="Google Sans Text"/>
                <a:sym typeface="+mn-ea"/>
              </a:rPr>
              <a:t>Int32</a:t>
            </a:r>
            <a:r>
              <a:rPr lang="zh-CN" altLang="en-US">
                <a:latin typeface="Google Sans Text"/>
                <a:ea typeface="Google Sans Text"/>
                <a:sym typeface="+mn-ea"/>
              </a:rPr>
              <a:t>），前端是弱类型的 </a:t>
            </a:r>
            <a:r>
              <a:rPr lang="en-US" altLang="zh-CN">
                <a:latin typeface="Google Sans Text"/>
                <a:ea typeface="Google Sans Text"/>
                <a:sym typeface="+mn-ea"/>
              </a:rPr>
              <a:t>JS </a:t>
            </a:r>
            <a:r>
              <a:rPr lang="zh-CN" altLang="en-US">
                <a:latin typeface="Google Sans Text"/>
                <a:ea typeface="Google Sans Text"/>
                <a:sym typeface="+mn-ea"/>
              </a:rPr>
              <a:t>组件属性，低代码标准组件无法感知</a:t>
            </a:r>
            <a:r>
              <a:rPr lang="en-US" altLang="zh-CN">
                <a:latin typeface="Google Sans Text"/>
                <a:ea typeface="Google Sans Text"/>
                <a:sym typeface="+mn-ea"/>
              </a:rPr>
              <a:t> OPC UA </a:t>
            </a:r>
            <a:r>
              <a:rPr lang="zh-CN" altLang="en-US">
                <a:latin typeface="Google Sans Text"/>
                <a:ea typeface="Google Sans Text"/>
                <a:sym typeface="+mn-ea"/>
              </a:rPr>
              <a:t>协议，需要以后端为主导建立自动匹配规则。</a:t>
            </a:r>
            <a:endParaRPr lang="zh-CN" altLang="en-US">
              <a:latin typeface="Google Sans Text"/>
              <a:ea typeface="Google Sans Text"/>
              <a:sym typeface="+mn-ea"/>
            </a:endParaRPr>
          </a:p>
          <a:p>
            <a:pPr>
              <a:spcBef>
                <a:spcPct val="0"/>
              </a:spcBef>
            </a:pPr>
            <a:r>
              <a:rPr lang="en-US" altLang="zh-CN">
                <a:latin typeface="Google Sans Text"/>
                <a:ea typeface="Google Sans Text"/>
                <a:sym typeface="+mn-ea"/>
              </a:rPr>
              <a:t>setter</a:t>
            </a:r>
            <a:r>
              <a:rPr lang="zh-CN" altLang="en-US">
                <a:latin typeface="Google Sans Text"/>
                <a:ea typeface="Google Sans Text"/>
                <a:sym typeface="+mn-ea"/>
              </a:rPr>
              <a:t>三方映射表</a:t>
            </a:r>
            <a:r>
              <a:rPr lang="zh-CN" altLang="en-US">
                <a:latin typeface="Google Sans Text"/>
                <a:ea typeface="Google Sans Text"/>
                <a:sym typeface="+mn-ea"/>
              </a:rPr>
              <a:t>如图所示</a:t>
            </a:r>
            <a:endParaRPr lang="zh-CN" altLang="en-US">
              <a:latin typeface="Google Sans Text"/>
              <a:ea typeface="Google Sans Text"/>
              <a:sym typeface="+mn-ea"/>
            </a:endParaRPr>
          </a:p>
          <a:p>
            <a:pPr>
              <a:spcBef>
                <a:spcPct val="0"/>
              </a:spcBef>
            </a:pPr>
            <a:endParaRPr lang="zh-CN" altLang="en-US">
              <a:latin typeface="Google Sans Text"/>
              <a:ea typeface="Google Sans Text"/>
              <a:sym typeface="+mn-ea"/>
            </a:endParaRPr>
          </a:p>
          <a:p>
            <a:pPr>
              <a:spcBef>
                <a:spcPct val="0"/>
              </a:spcBef>
            </a:pPr>
            <a:r>
              <a:rPr lang="zh-CN" altLang="en-US">
                <a:latin typeface="Google Sans Text"/>
                <a:ea typeface="Google Sans Text"/>
                <a:sym typeface="+mn-ea"/>
              </a:rPr>
              <a:t>接下来是如何将零代码组件绑定到</a:t>
            </a:r>
            <a:r>
              <a:rPr lang="en-US" altLang="zh-CN">
                <a:latin typeface="Google Sans Text"/>
                <a:ea typeface="Google Sans Text"/>
                <a:sym typeface="+mn-ea"/>
              </a:rPr>
              <a:t>UA</a:t>
            </a:r>
            <a:r>
              <a:rPr lang="zh-CN" altLang="en-US">
                <a:latin typeface="Google Sans Text"/>
                <a:ea typeface="Google Sans Text"/>
                <a:sym typeface="+mn-ea"/>
              </a:rPr>
              <a:t>数据模型的问题，方法是组件通过内置状态类型读取</a:t>
            </a:r>
            <a:r>
              <a:rPr lang="zh-CN" altLang="en-US">
                <a:latin typeface="Google Sans Text"/>
                <a:ea typeface="Google Sans Text"/>
                <a:sym typeface="+mn-ea"/>
              </a:rPr>
              <a:t>数据</a:t>
            </a:r>
            <a:endParaRPr lang="zh-CN" altLang="en-US">
              <a:latin typeface="Google Sans Text"/>
              <a:ea typeface="Google Sans Text"/>
              <a:sym typeface="+mn-ea"/>
            </a:endParaRPr>
          </a:p>
          <a:p>
            <a:pPr>
              <a:spcBef>
                <a:spcPct val="0"/>
              </a:spcBef>
              <a:buFont typeface="Arial" panose="020B0604020202020204"/>
              <a:buChar char="•"/>
            </a:pPr>
            <a:r>
              <a:rPr lang="zh-CN" altLang="en-US">
                <a:sym typeface="+mn-ea"/>
              </a:rPr>
              <a:t>表达式转换引擎将图谱中的</a:t>
            </a:r>
            <a:r>
              <a:rPr lang="en-US" altLang="zh-CN">
                <a:sym typeface="+mn-ea"/>
              </a:rPr>
              <a:t>NodeId</a:t>
            </a:r>
            <a:r>
              <a:rPr lang="zh-CN" altLang="en-US">
                <a:sym typeface="+mn-ea"/>
              </a:rPr>
              <a:t>映射为</a:t>
            </a:r>
            <a:r>
              <a:rPr lang="en-US" altLang="zh-CN">
                <a:sym typeface="+mn-ea"/>
              </a:rPr>
              <a:t>JS</a:t>
            </a:r>
            <a:r>
              <a:rPr lang="zh-CN" altLang="en-US">
                <a:sym typeface="+mn-ea"/>
              </a:rPr>
              <a:t>可识别的变量路径</a:t>
            </a:r>
            <a:endParaRPr lang="zh-CN" altLang="en-US"/>
          </a:p>
          <a:p>
            <a:pPr>
              <a:spcBef>
                <a:spcPct val="0"/>
              </a:spcBef>
              <a:buFont typeface="Arial" panose="020B0604020202020204"/>
              <a:buChar char="•"/>
            </a:pPr>
            <a:r>
              <a:rPr lang="zh-CN" altLang="en-US">
                <a:sym typeface="+mn-ea"/>
              </a:rPr>
              <a:t>状态代理模块将维护全局的</a:t>
            </a:r>
            <a:r>
              <a:rPr lang="en-US" altLang="zh-CN">
                <a:sym typeface="+mn-ea"/>
              </a:rPr>
              <a:t>DeviceState</a:t>
            </a:r>
            <a:r>
              <a:rPr lang="zh-CN" altLang="en-US">
                <a:sym typeface="+mn-ea"/>
              </a:rPr>
              <a:t>对象作为数据的事实来源</a:t>
            </a:r>
            <a:endParaRPr lang="zh-CN" altLang="en-US"/>
          </a:p>
          <a:p>
            <a:pPr>
              <a:spcBef>
                <a:spcPct val="0"/>
              </a:spcBef>
              <a:buFont typeface="Arial" panose="020B0604020202020204"/>
              <a:buChar char="•"/>
            </a:pPr>
            <a:r>
              <a:rPr lang="zh-CN" altLang="en-US">
                <a:sym typeface="+mn-ea"/>
              </a:rPr>
              <a:t>后端建立订阅任务，当变量变化时，通过</a:t>
            </a:r>
            <a:r>
              <a:rPr lang="en-US" altLang="zh-CN">
                <a:sym typeface="+mn-ea"/>
              </a:rPr>
              <a:t>WebSocket</a:t>
            </a:r>
            <a:r>
              <a:rPr lang="zh-CN" altLang="en-US">
                <a:sym typeface="+mn-ea"/>
              </a:rPr>
              <a:t>将消息推送至前端</a:t>
            </a:r>
            <a:r>
              <a:rPr lang="en-US" altLang="zh-CN">
                <a:sym typeface="+mn-ea"/>
              </a:rPr>
              <a:t>Payload</a:t>
            </a:r>
            <a:r>
              <a:rPr lang="zh-CN" altLang="en-US">
                <a:sym typeface="+mn-ea"/>
              </a:rPr>
              <a:t>如图所示，前端在零代码组件</a:t>
            </a:r>
            <a:r>
              <a:rPr lang="en-US" altLang="zh-CN">
                <a:sym typeface="+mn-ea"/>
              </a:rPr>
              <a:t>Schema</a:t>
            </a:r>
            <a:r>
              <a:rPr lang="zh-CN" altLang="en-US">
                <a:sym typeface="+mn-ea"/>
              </a:rPr>
              <a:t>生成时，将组件</a:t>
            </a:r>
            <a:r>
              <a:rPr lang="en-US" altLang="zh-CN">
                <a:sym typeface="+mn-ea"/>
              </a:rPr>
              <a:t>props</a:t>
            </a:r>
            <a:r>
              <a:rPr lang="zh-CN" altLang="en-US">
                <a:sym typeface="+mn-ea"/>
              </a:rPr>
              <a:t>中联系数据的表达式设置为</a:t>
            </a:r>
            <a:r>
              <a:rPr lang="en-US" altLang="zh-CN">
                <a:sym typeface="+mn-ea"/>
              </a:rPr>
              <a:t>JSExpression</a:t>
            </a:r>
            <a:r>
              <a:rPr lang="zh-CN" altLang="en-US">
                <a:sym typeface="+mn-ea"/>
              </a:rPr>
              <a:t>通过公式</a:t>
            </a:r>
            <a:r>
              <a:rPr lang="en-US" altLang="zh-CN">
                <a:sym typeface="+mn-ea"/>
              </a:rPr>
              <a:t>BindingValue</a:t>
            </a:r>
            <a:r>
              <a:rPr lang="zh-CN" altLang="en-US">
                <a:sym typeface="+mn-ea"/>
              </a:rPr>
              <a:t>调用维护的</a:t>
            </a:r>
            <a:r>
              <a:rPr lang="en-US" altLang="zh-CN">
                <a:sym typeface="+mn-ea"/>
              </a:rPr>
              <a:t>DeviceState</a:t>
            </a:r>
            <a:r>
              <a:rPr lang="zh-CN" altLang="en-US">
                <a:sym typeface="+mn-ea"/>
              </a:rPr>
              <a:t>中的状态量，使得组件不在直接调用接口而是监听状态池</a:t>
            </a:r>
            <a:endParaRPr lang="zh-CN" altLang="en-US"/>
          </a:p>
          <a:p>
            <a:pPr indent="0">
              <a:spcBef>
                <a:spcPct val="0"/>
              </a:spcBef>
              <a:buFont typeface="Arial" panose="020B0604020202020204"/>
              <a:buNone/>
            </a:pPr>
            <a:endParaRPr lang="zh-CN" altLang="en-US"/>
          </a:p>
          <a:p>
            <a:pPr indent="0">
              <a:spcBef>
                <a:spcPct val="0"/>
              </a:spcBef>
              <a:buFont typeface="Arial" panose="020B0604020202020204"/>
              <a:buNone/>
            </a:pPr>
            <a:r>
              <a:rPr lang="zh-CN" altLang="en-US">
                <a:sym typeface="+mn-ea"/>
              </a:rPr>
              <a:t>在基本框架搭建完成之后需要对基本工作流进行定义：即在进行本体文件解析的时候同时处理</a:t>
            </a:r>
            <a:r>
              <a:rPr lang="en-US" altLang="zh-CN">
                <a:sym typeface="+mn-ea"/>
              </a:rPr>
              <a:t>OPC UA</a:t>
            </a:r>
            <a:r>
              <a:rPr lang="zh-CN" altLang="en-US">
                <a:sym typeface="+mn-ea"/>
              </a:rPr>
              <a:t>服务器节点结构和前端组件结构，最终生成能够连接</a:t>
            </a:r>
            <a:r>
              <a:rPr lang="en-US" altLang="zh-CN">
                <a:sym typeface="+mn-ea"/>
              </a:rPr>
              <a:t>OPC UA</a:t>
            </a:r>
            <a:r>
              <a:rPr lang="zh-CN" altLang="en-US">
                <a:sym typeface="+mn-ea"/>
              </a:rPr>
              <a:t>服务器的零代码平台组件</a:t>
            </a:r>
            <a:r>
              <a:rPr lang="en-US" altLang="zh-CN">
                <a:sym typeface="+mn-ea"/>
              </a:rPr>
              <a:t>Schema</a:t>
            </a:r>
            <a:endParaRPr lang="en-US" altLang="zh-CN"/>
          </a:p>
          <a:p>
            <a:pPr indent="0">
              <a:buFont typeface="Arial" panose="020B0604020202020204"/>
              <a:buNone/>
            </a:pP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Aft>
                <a:spcPct val="60000"/>
              </a:spcAft>
            </a:pPr>
            <a:r>
              <a:rPr lang="zh-CN" altLang="en-US">
                <a:sym typeface="+mn-ea"/>
              </a:rPr>
              <a:t>接下来介绍可信验证框架的基本结构，可信验证框架由三层组成，分别是静态验证、动态验证和工业语义</a:t>
            </a:r>
            <a:r>
              <a:rPr lang="zh-CN" altLang="en-US">
                <a:sym typeface="+mn-ea"/>
              </a:rPr>
              <a:t>场景下的验证。</a:t>
            </a:r>
            <a:endParaRPr lang="zh-CN" altLang="en-US">
              <a:sym typeface="+mn-ea"/>
            </a:endParaRPr>
          </a:p>
          <a:p>
            <a:pPr>
              <a:spcAft>
                <a:spcPct val="60000"/>
              </a:spcAft>
            </a:pPr>
            <a:r>
              <a:rPr lang="zh-CN" altLang="en-US">
                <a:sym typeface="+mn-ea"/>
              </a:rPr>
              <a:t>第一层验证聚焦结构和类型安全。系统通过解析</a:t>
            </a:r>
            <a:r>
              <a:rPr lang="en-US" altLang="zh-CN">
                <a:sym typeface="+mn-ea"/>
              </a:rPr>
              <a:t> NodeSet XML </a:t>
            </a:r>
            <a:r>
              <a:rPr lang="zh-CN" altLang="en-US">
                <a:sym typeface="+mn-ea"/>
              </a:rPr>
              <a:t>文件，自动提取合法</a:t>
            </a:r>
            <a:r>
              <a:rPr lang="en-US" altLang="zh-CN">
                <a:sym typeface="+mn-ea"/>
              </a:rPr>
              <a:t> NodeId</a:t>
            </a:r>
            <a:r>
              <a:rPr lang="zh-CN" altLang="en-US">
                <a:sym typeface="+mn-ea"/>
              </a:rPr>
              <a:t>、数据类型和访问权限，并基于这些约束生成专用校验器。</a:t>
            </a:r>
            <a:endParaRPr lang="zh-CN" altLang="en-US"/>
          </a:p>
          <a:p>
            <a:pPr>
              <a:spcAft>
                <a:spcPct val="60000"/>
              </a:spcAft>
            </a:pPr>
            <a:r>
              <a:rPr lang="zh-CN" altLang="en-US">
                <a:sym typeface="+mn-ea"/>
              </a:rPr>
              <a:t>在用户保存零代码页面时，系统会递归遍历组件</a:t>
            </a:r>
            <a:r>
              <a:rPr lang="en-US" altLang="zh-CN">
                <a:sym typeface="+mn-ea"/>
              </a:rPr>
              <a:t> Schema</a:t>
            </a:r>
            <a:r>
              <a:rPr lang="zh-CN" altLang="en-US">
                <a:sym typeface="+mn-ea"/>
              </a:rPr>
              <a:t>，确保所有数据绑定真实存在且类型匹配，从源头避免低级错误。</a:t>
            </a:r>
            <a:endParaRPr lang="zh-CN" altLang="en-US"/>
          </a:p>
          <a:p>
            <a:pPr>
              <a:spcAft>
                <a:spcPct val="60000"/>
              </a:spcAft>
            </a:pPr>
            <a:r>
              <a:rPr lang="zh-CN" altLang="en-US">
                <a:sym typeface="+mn-ea"/>
              </a:rPr>
              <a:t>第二层验证针对运行时逻辑。系统将用户逻辑代码解析为抽象语法树，对非法访问、动态执行、死循环和高复杂度逻辑进行检测。</a:t>
            </a:r>
            <a:endParaRPr lang="zh-CN" altLang="en-US"/>
          </a:p>
          <a:p>
            <a:pPr>
              <a:spcAft>
                <a:spcPct val="60000"/>
              </a:spcAft>
            </a:pPr>
            <a:r>
              <a:rPr lang="zh-CN" altLang="en-US">
                <a:sym typeface="+mn-ea"/>
              </a:rPr>
              <a:t>这一层确保生成代码在运行过程中行为可控，不会对工业系统稳定性造成影响。</a:t>
            </a:r>
            <a:endParaRPr lang="zh-CN" altLang="en-US"/>
          </a:p>
          <a:p>
            <a:pPr>
              <a:spcAft>
                <a:spcPct val="60000"/>
              </a:spcAft>
            </a:pPr>
            <a:r>
              <a:rPr lang="zh-CN" altLang="en-US">
                <a:sym typeface="+mn-ea"/>
              </a:rPr>
              <a:t>第三层验证是工业语义层面的验证。系统通过知识图谱提取设备物理边界，并构建影子</a:t>
            </a:r>
            <a:r>
              <a:rPr lang="en-US" altLang="zh-CN">
                <a:sym typeface="+mn-ea"/>
              </a:rPr>
              <a:t> OPC UA </a:t>
            </a:r>
            <a:r>
              <a:rPr lang="zh-CN" altLang="en-US">
                <a:sym typeface="+mn-ea"/>
              </a:rPr>
              <a:t>服务器，在隔离环境中对指令进行预执行模拟。</a:t>
            </a:r>
            <a:endParaRPr lang="zh-CN" altLang="en-US"/>
          </a:p>
          <a:p>
            <a:pPr>
              <a:spcAft>
                <a:spcPct val="60000"/>
              </a:spcAft>
            </a:pPr>
            <a:r>
              <a:rPr lang="zh-CN" altLang="en-US">
                <a:sym typeface="+mn-ea"/>
              </a:rPr>
              <a:t>结合本体推理规则，系统能够提前识别工艺冲突和越界风险，是工业安全的重要保障。</a:t>
            </a:r>
            <a:endParaRPr lang="zh-CN" altLang="en-US"/>
          </a:p>
          <a:p>
            <a:pPr indent="0">
              <a:buFont typeface="Arial" panose="020B0604020202020204"/>
              <a:buNone/>
            </a:pP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Aft>
                <a:spcPct val="60000"/>
              </a:spcAft>
            </a:pPr>
            <a:r>
              <a:rPr lang="zh-CN" altLang="en-US">
                <a:sym typeface="+mn-ea"/>
              </a:rPr>
              <a:t>在可信验证框架里，第一层</a:t>
            </a:r>
            <a:r>
              <a:rPr lang="en-US" altLang="zh-CN">
                <a:sym typeface="+mn-ea"/>
              </a:rPr>
              <a:t> L1 </a:t>
            </a:r>
            <a:r>
              <a:rPr lang="zh-CN" altLang="en-US">
                <a:sym typeface="+mn-ea"/>
              </a:rPr>
              <a:t>我做的是静态</a:t>
            </a:r>
            <a:r>
              <a:rPr lang="en-US" altLang="zh-CN">
                <a:sym typeface="+mn-ea"/>
              </a:rPr>
              <a:t> Schema </a:t>
            </a:r>
            <a:r>
              <a:rPr lang="zh-CN" altLang="en-US">
                <a:sym typeface="+mn-ea"/>
              </a:rPr>
              <a:t>一致性检验，它主要解决</a:t>
            </a:r>
            <a:r>
              <a:rPr lang="en-US" altLang="zh-CN">
                <a:sym typeface="+mn-ea"/>
              </a:rPr>
              <a:t>“</a:t>
            </a:r>
            <a:r>
              <a:rPr lang="zh-CN" altLang="en-US">
                <a:sym typeface="+mn-ea"/>
              </a:rPr>
              <a:t>组件配置在结构上、类型上是否天然就不可能正确</a:t>
            </a:r>
            <a:r>
              <a:rPr lang="en-US" altLang="zh-CN">
                <a:sym typeface="+mn-ea"/>
              </a:rPr>
              <a:t>”</a:t>
            </a:r>
            <a:r>
              <a:rPr lang="zh-CN" altLang="en-US">
                <a:sym typeface="+mn-ea"/>
              </a:rPr>
              <a:t>的问题。具体流程是：系统首先解析第二阶段生成的</a:t>
            </a:r>
            <a:r>
              <a:rPr lang="en-US" altLang="zh-CN">
                <a:sym typeface="+mn-ea"/>
              </a:rPr>
              <a:t> NodeSet XML </a:t>
            </a:r>
            <a:r>
              <a:rPr lang="zh-CN" altLang="en-US">
                <a:sym typeface="+mn-ea"/>
              </a:rPr>
              <a:t>资产文件，自动抽取该设备地址空间里所有合法的</a:t>
            </a:r>
            <a:r>
              <a:rPr lang="en-US" altLang="zh-CN">
                <a:sym typeface="+mn-ea"/>
              </a:rPr>
              <a:t> NodeId</a:t>
            </a:r>
            <a:r>
              <a:rPr lang="zh-CN" altLang="en-US">
                <a:sym typeface="+mn-ea"/>
              </a:rPr>
              <a:t>、每个节点的</a:t>
            </a:r>
            <a:r>
              <a:rPr lang="en-US" altLang="zh-CN">
                <a:sym typeface="+mn-ea"/>
              </a:rPr>
              <a:t> AccessLevel </a:t>
            </a:r>
            <a:r>
              <a:rPr lang="zh-CN" altLang="en-US">
                <a:sym typeface="+mn-ea"/>
              </a:rPr>
              <a:t>读写权限以及严格的数据</a:t>
            </a:r>
            <a:r>
              <a:rPr lang="en-US" altLang="zh-CN">
                <a:sym typeface="+mn-ea"/>
              </a:rPr>
              <a:t> DataType</a:t>
            </a:r>
            <a:r>
              <a:rPr lang="zh-CN" altLang="en-US">
                <a:sym typeface="+mn-ea"/>
              </a:rPr>
              <a:t>，基于</a:t>
            </a:r>
            <a:r>
              <a:rPr lang="en-US" altLang="zh-CN">
                <a:sym typeface="+mn-ea"/>
              </a:rPr>
              <a:t> Ajv(JSON Schema Validator) </a:t>
            </a:r>
            <a:r>
              <a:rPr lang="zh-CN" altLang="en-US">
                <a:sym typeface="+mn-ea"/>
              </a:rPr>
              <a:t>框架把这些工业约束注入到校验模板里，自动生成面向该设备的专用</a:t>
            </a:r>
            <a:r>
              <a:rPr lang="en-US" altLang="zh-CN">
                <a:sym typeface="+mn-ea"/>
              </a:rPr>
              <a:t> Validator</a:t>
            </a:r>
            <a:r>
              <a:rPr lang="zh-CN" altLang="en-US">
                <a:sym typeface="+mn-ea"/>
              </a:rPr>
              <a:t>。当用户在零代码平台里保存页面时，验证器会递归遍历整个组件</a:t>
            </a:r>
            <a:r>
              <a:rPr lang="en-US" altLang="zh-CN">
                <a:sym typeface="+mn-ea"/>
              </a:rPr>
              <a:t> Schema </a:t>
            </a:r>
            <a:r>
              <a:rPr lang="zh-CN" altLang="en-US">
                <a:sym typeface="+mn-ea"/>
              </a:rPr>
              <a:t>树，逐个检查每个</a:t>
            </a:r>
            <a:r>
              <a:rPr lang="en-US" altLang="zh-CN">
                <a:sym typeface="+mn-ea"/>
              </a:rPr>
              <a:t> DataSource </a:t>
            </a:r>
            <a:r>
              <a:rPr lang="zh-CN" altLang="en-US">
                <a:sym typeface="+mn-ea"/>
              </a:rPr>
              <a:t>绑定：第一，</a:t>
            </a:r>
            <a:r>
              <a:rPr lang="en-US" altLang="zh-CN">
                <a:sym typeface="+mn-ea"/>
              </a:rPr>
              <a:t>nodeId </a:t>
            </a:r>
            <a:r>
              <a:rPr lang="zh-CN" altLang="en-US">
                <a:sym typeface="+mn-ea"/>
              </a:rPr>
              <a:t>在当前</a:t>
            </a:r>
            <a:r>
              <a:rPr lang="en-US" altLang="zh-CN">
                <a:sym typeface="+mn-ea"/>
              </a:rPr>
              <a:t> OPC UA </a:t>
            </a:r>
            <a:r>
              <a:rPr lang="zh-CN" altLang="en-US">
                <a:sym typeface="+mn-ea"/>
              </a:rPr>
              <a:t>地址空间里是否真实存在；第二，写入值类型是否符合节点</a:t>
            </a:r>
            <a:r>
              <a:rPr lang="en-US" altLang="zh-CN">
                <a:sym typeface="+mn-ea"/>
              </a:rPr>
              <a:t> DataType</a:t>
            </a:r>
            <a:r>
              <a:rPr lang="zh-CN" altLang="en-US">
                <a:sym typeface="+mn-ea"/>
              </a:rPr>
              <a:t>，比如禁止向</a:t>
            </a:r>
            <a:r>
              <a:rPr lang="en-US" altLang="zh-CN">
                <a:sym typeface="+mn-ea"/>
              </a:rPr>
              <a:t> Double </a:t>
            </a:r>
            <a:r>
              <a:rPr lang="zh-CN" altLang="en-US">
                <a:sym typeface="+mn-ea"/>
              </a:rPr>
              <a:t>节点写</a:t>
            </a:r>
            <a:r>
              <a:rPr lang="en-US" altLang="zh-CN">
                <a:sym typeface="+mn-ea"/>
              </a:rPr>
              <a:t> String</a:t>
            </a:r>
            <a:r>
              <a:rPr lang="zh-CN" altLang="en-US">
                <a:sym typeface="+mn-ea"/>
              </a:rPr>
              <a:t>；第三，是否存在越权写入等权限错误。这样做的价值在于：在代码还没运行之前，就能把</a:t>
            </a:r>
            <a:r>
              <a:rPr lang="en-US" altLang="zh-CN">
                <a:sym typeface="+mn-ea"/>
              </a:rPr>
              <a:t> NodeId </a:t>
            </a:r>
            <a:r>
              <a:rPr lang="zh-CN" altLang="en-US">
                <a:sym typeface="+mn-ea"/>
              </a:rPr>
              <a:t>不对应、类型不匹配、权限越界、语法残缺这类</a:t>
            </a:r>
            <a:r>
              <a:rPr lang="en-US" altLang="zh-CN">
                <a:sym typeface="+mn-ea"/>
              </a:rPr>
              <a:t>“</a:t>
            </a:r>
            <a:r>
              <a:rPr lang="zh-CN" altLang="en-US">
                <a:sym typeface="+mn-ea"/>
              </a:rPr>
              <a:t>低级但致命</a:t>
            </a:r>
            <a:r>
              <a:rPr lang="en-US" altLang="zh-CN">
                <a:sym typeface="+mn-ea"/>
              </a:rPr>
              <a:t>”</a:t>
            </a:r>
            <a:r>
              <a:rPr lang="zh-CN" altLang="en-US">
                <a:sym typeface="+mn-ea"/>
              </a:rPr>
              <a:t>的问题提前拦住，为后续动态与语义层验证提供一个干净的输入。</a:t>
            </a:r>
            <a:endParaRPr lang="zh-CN" altLang="en-US"/>
          </a:p>
          <a:p>
            <a:pPr>
              <a:spcAft>
                <a:spcPct val="60000"/>
              </a:spcAft>
            </a:pPr>
            <a:endParaRPr lang="zh-CN" altLang="en-US"/>
          </a:p>
          <a:p>
            <a:pPr>
              <a:spcAft>
                <a:spcPct val="60000"/>
              </a:spcAft>
            </a:pPr>
            <a:r>
              <a:rPr lang="zh-CN" altLang="en-US">
                <a:sym typeface="+mn-ea"/>
              </a:rPr>
              <a:t>在</a:t>
            </a:r>
            <a:r>
              <a:rPr lang="en-US" altLang="zh-CN">
                <a:sym typeface="+mn-ea"/>
              </a:rPr>
              <a:t> L1 </a:t>
            </a:r>
            <a:r>
              <a:rPr lang="zh-CN" altLang="en-US">
                <a:sym typeface="+mn-ea"/>
              </a:rPr>
              <a:t>把结构与类型的硬错误挡住之后，</a:t>
            </a:r>
            <a:r>
              <a:rPr lang="en-US" altLang="zh-CN">
                <a:sym typeface="+mn-ea"/>
              </a:rPr>
              <a:t>L2 </a:t>
            </a:r>
            <a:r>
              <a:rPr lang="zh-CN" altLang="en-US">
                <a:sym typeface="+mn-ea"/>
              </a:rPr>
              <a:t>进一步关注的是运行时控制流与安全风险：即便</a:t>
            </a:r>
            <a:r>
              <a:rPr lang="en-US" altLang="zh-CN">
                <a:sym typeface="+mn-ea"/>
              </a:rPr>
              <a:t> Schema </a:t>
            </a:r>
            <a:r>
              <a:rPr lang="zh-CN" altLang="en-US">
                <a:sym typeface="+mn-ea"/>
              </a:rPr>
              <a:t>绑定都合法，用户写的逻辑代码仍可能在运行过程中造成工业应用不可接受的行为。按照</a:t>
            </a:r>
            <a:r>
              <a:rPr lang="en-US" altLang="zh-CN">
                <a:sym typeface="+mn-ea"/>
              </a:rPr>
              <a:t> PPT </a:t>
            </a:r>
            <a:r>
              <a:rPr lang="zh-CN" altLang="en-US">
                <a:sym typeface="+mn-ea"/>
              </a:rPr>
              <a:t>的实现路线，我使用</a:t>
            </a:r>
            <a:r>
              <a:rPr lang="en-US" altLang="zh-CN">
                <a:sym typeface="+mn-ea"/>
              </a:rPr>
              <a:t> Babel Parser </a:t>
            </a:r>
            <a:r>
              <a:rPr lang="zh-CN" altLang="en-US">
                <a:sym typeface="+mn-ea"/>
              </a:rPr>
              <a:t>将用户输入的字符串代码解析成标准</a:t>
            </a:r>
            <a:r>
              <a:rPr lang="en-US" altLang="zh-CN">
                <a:sym typeface="+mn-ea"/>
              </a:rPr>
              <a:t> AST </a:t>
            </a:r>
            <a:r>
              <a:rPr lang="zh-CN" altLang="en-US">
                <a:sym typeface="+mn-ea"/>
              </a:rPr>
              <a:t>抽象语法树，再用</a:t>
            </a:r>
            <a:r>
              <a:rPr lang="en-US" altLang="zh-CN">
                <a:sym typeface="+mn-ea"/>
              </a:rPr>
              <a:t> Visitor </a:t>
            </a:r>
            <a:r>
              <a:rPr lang="zh-CN" altLang="en-US">
                <a:sym typeface="+mn-ea"/>
              </a:rPr>
              <a:t>模式做特征遍历和规则扫描。</a:t>
            </a:r>
            <a:r>
              <a:rPr lang="zh-CN" altLang="en-US">
                <a:sym typeface="+mn-ea"/>
              </a:rPr>
              <a:t>首先重点阻断对</a:t>
            </a:r>
            <a:r>
              <a:rPr lang="en-US" altLang="zh-CN">
                <a:sym typeface="+mn-ea"/>
              </a:rPr>
              <a:t> window</a:t>
            </a:r>
            <a:r>
              <a:rPr lang="zh-CN" altLang="en-US">
                <a:sym typeface="+mn-ea"/>
              </a:rPr>
              <a:t>、</a:t>
            </a:r>
            <a:r>
              <a:rPr lang="en-US" altLang="zh-CN">
                <a:sym typeface="+mn-ea"/>
              </a:rPr>
              <a:t>document </a:t>
            </a:r>
            <a:r>
              <a:rPr lang="zh-CN" altLang="en-US">
                <a:sym typeface="+mn-ea"/>
              </a:rPr>
              <a:t>等浏览器全局对象的访问；同时是控制流与性能分析：我会对</a:t>
            </a:r>
            <a:r>
              <a:rPr lang="en-US" altLang="zh-CN">
                <a:sym typeface="+mn-ea"/>
              </a:rPr>
              <a:t> AST </a:t>
            </a:r>
            <a:r>
              <a:rPr lang="zh-CN" altLang="en-US">
                <a:sym typeface="+mn-ea"/>
              </a:rPr>
              <a:t>里的循环结构（</a:t>
            </a:r>
            <a:r>
              <a:rPr lang="en-US" altLang="zh-CN">
                <a:sym typeface="+mn-ea"/>
              </a:rPr>
              <a:t>for/while</a:t>
            </a:r>
            <a:r>
              <a:rPr lang="zh-CN" altLang="en-US">
                <a:sym typeface="+mn-ea"/>
              </a:rPr>
              <a:t>）和递归调用进行分析，检查是否存在无终止条件的循环、过深递归或明显高开销逻辑，避免工业控制页面出现卡顿、指令延迟或异步竞态冲突等问题。</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buFont typeface="Arial" panose="020B0604020202020204"/>
              <a:buNone/>
            </a:pPr>
            <a:r>
              <a:rPr lang="zh-CN" altLang="en-US">
                <a:sym typeface="+mn-ea"/>
              </a:rPr>
              <a:t>在通过</a:t>
            </a:r>
            <a:r>
              <a:rPr lang="en-US" altLang="zh-CN">
                <a:sym typeface="+mn-ea"/>
              </a:rPr>
              <a:t> L1 </a:t>
            </a:r>
            <a:r>
              <a:rPr lang="zh-CN" altLang="en-US">
                <a:sym typeface="+mn-ea"/>
              </a:rPr>
              <a:t>和</a:t>
            </a:r>
            <a:r>
              <a:rPr lang="en-US" altLang="zh-CN">
                <a:sym typeface="+mn-ea"/>
              </a:rPr>
              <a:t> L2 </a:t>
            </a:r>
            <a:r>
              <a:rPr lang="zh-CN" altLang="en-US">
                <a:sym typeface="+mn-ea"/>
              </a:rPr>
              <a:t>之后，应用在结构、类型和控制流层面基本可信，</a:t>
            </a:r>
            <a:r>
              <a:rPr lang="en-US" altLang="zh-CN">
                <a:sym typeface="+mn-ea"/>
              </a:rPr>
              <a:t>L3 </a:t>
            </a:r>
            <a:r>
              <a:rPr lang="zh-CN" altLang="en-US">
                <a:sym typeface="+mn-ea"/>
              </a:rPr>
              <a:t>做的是工业语义验证。具体做法是：首先加载</a:t>
            </a:r>
            <a:r>
              <a:rPr lang="en-US" altLang="zh-CN">
                <a:sym typeface="+mn-ea"/>
              </a:rPr>
              <a:t> IMKG </a:t>
            </a:r>
            <a:r>
              <a:rPr lang="zh-CN" altLang="en-US">
                <a:sym typeface="+mn-ea"/>
              </a:rPr>
              <a:t>知识图谱，从中提取具体设备的物理边界与约束信息，例如最大负载、量程上限</a:t>
            </a:r>
            <a:r>
              <a:rPr lang="en-US" altLang="zh-CN">
                <a:sym typeface="+mn-ea"/>
              </a:rPr>
              <a:t> </a:t>
            </a:r>
            <a:r>
              <a:rPr lang="zh-CN" altLang="en-US">
                <a:sym typeface="+mn-ea"/>
              </a:rPr>
              <a:t>等；然后在构建一个与真实</a:t>
            </a:r>
            <a:r>
              <a:rPr lang="en-US" altLang="zh-CN">
                <a:sym typeface="+mn-ea"/>
              </a:rPr>
              <a:t> PLC </a:t>
            </a:r>
            <a:r>
              <a:rPr lang="zh-CN" altLang="en-US">
                <a:sym typeface="+mn-ea"/>
              </a:rPr>
              <a:t>状态同步的</a:t>
            </a:r>
            <a:r>
              <a:rPr lang="en-US" altLang="zh-CN">
                <a:sym typeface="+mn-ea"/>
              </a:rPr>
              <a:t> Shadow OPC UA </a:t>
            </a:r>
            <a:r>
              <a:rPr lang="zh-CN" altLang="en-US">
                <a:sym typeface="+mn-ea"/>
              </a:rPr>
              <a:t>影子服务器，它是隔离的镜像地址空间</a:t>
            </a:r>
            <a:r>
              <a:rPr lang="en-US" altLang="zh-CN">
                <a:sym typeface="+mn-ea"/>
              </a:rPr>
              <a:t>——</a:t>
            </a:r>
            <a:r>
              <a:rPr lang="zh-CN" altLang="en-US">
                <a:sym typeface="+mn-ea"/>
              </a:rPr>
              <a:t>能反映当前状态，但不与物理硬件直接连接。接着在指令真正下发前，先在影子环境里做</a:t>
            </a:r>
            <a:r>
              <a:rPr lang="en-US" altLang="zh-CN">
                <a:sym typeface="+mn-ea"/>
              </a:rPr>
              <a:t>“</a:t>
            </a:r>
            <a:r>
              <a:rPr lang="zh-CN" altLang="en-US">
                <a:sym typeface="+mn-ea"/>
              </a:rPr>
              <a:t>预执行模拟</a:t>
            </a:r>
            <a:r>
              <a:rPr lang="en-US" altLang="zh-CN">
                <a:sym typeface="+mn-ea"/>
              </a:rPr>
              <a:t>”</a:t>
            </a:r>
            <a:r>
              <a:rPr lang="zh-CN" altLang="en-US">
                <a:sym typeface="+mn-ea"/>
              </a:rPr>
              <a:t>，用简化的物理公式调用</a:t>
            </a:r>
            <a:r>
              <a:rPr lang="en-US" altLang="zh-CN">
                <a:sym typeface="+mn-ea"/>
              </a:rPr>
              <a:t> Jena </a:t>
            </a:r>
            <a:r>
              <a:rPr lang="zh-CN" altLang="en-US">
                <a:sym typeface="+mn-ea"/>
              </a:rPr>
              <a:t>推理机运行</a:t>
            </a:r>
            <a:r>
              <a:rPr lang="en-US" altLang="zh-CN">
                <a:sym typeface="+mn-ea"/>
              </a:rPr>
              <a:t> OWL </a:t>
            </a:r>
            <a:r>
              <a:rPr lang="zh-CN" altLang="en-US">
                <a:sym typeface="+mn-ea"/>
              </a:rPr>
              <a:t>冲突规则，做语义冲突检测。比如逻辑同时触发</a:t>
            </a:r>
            <a:r>
              <a:rPr lang="en-US" altLang="zh-CN">
                <a:sym typeface="+mn-ea"/>
              </a:rPr>
              <a:t>“</a:t>
            </a:r>
            <a:r>
              <a:rPr lang="zh-CN" altLang="en-US">
                <a:sym typeface="+mn-ea"/>
              </a:rPr>
              <a:t>加热</a:t>
            </a:r>
            <a:r>
              <a:rPr lang="en-US" altLang="zh-CN">
                <a:sym typeface="+mn-ea"/>
              </a:rPr>
              <a:t>”</a:t>
            </a:r>
            <a:r>
              <a:rPr lang="zh-CN" altLang="en-US">
                <a:sym typeface="+mn-ea"/>
              </a:rPr>
              <a:t>和</a:t>
            </a:r>
            <a:r>
              <a:rPr lang="en-US" altLang="zh-CN">
                <a:sym typeface="+mn-ea"/>
              </a:rPr>
              <a:t>“</a:t>
            </a:r>
            <a:r>
              <a:rPr lang="zh-CN" altLang="en-US">
                <a:sym typeface="+mn-ea"/>
              </a:rPr>
              <a:t>制冷</a:t>
            </a:r>
            <a:r>
              <a:rPr lang="en-US" altLang="zh-CN">
                <a:sym typeface="+mn-ea"/>
              </a:rPr>
              <a:t>”</a:t>
            </a:r>
            <a:r>
              <a:rPr lang="zh-CN" altLang="en-US">
                <a:sym typeface="+mn-ea"/>
              </a:rPr>
              <a:t>，或在温度接近上限时仍执行加热，类似的指令应该是不被执行的。三层组合起来，自动生成的</a:t>
            </a:r>
            <a:r>
              <a:rPr lang="zh-CN" altLang="en-US">
                <a:sym typeface="+mn-ea"/>
              </a:rPr>
              <a:t>组件代码真正达到可运行、相对安全的可信标准。</a:t>
            </a:r>
            <a:endParaRPr lang="zh-CN" altLang="en-US"/>
          </a:p>
          <a:p>
            <a:pPr indent="0">
              <a:buFont typeface="Arial" panose="020B0604020202020204"/>
              <a:buNone/>
            </a:pP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image" Target="../media/image2.png"/><Relationship Id="rId7" Type="http://schemas.microsoft.com/office/2007/relationships/media" Target="../media/media1.mp3"/><Relationship Id="rId6" Type="http://schemas.openxmlformats.org/officeDocument/2006/relationships/audio" Target="../media/media1.mp3"/><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1.png"/><Relationship Id="rId11" Type="http://schemas.openxmlformats.org/officeDocument/2006/relationships/notesSlide" Target="../notesSlides/notesSlide1.xml"/><Relationship Id="rId10" Type="http://schemas.openxmlformats.org/officeDocument/2006/relationships/slideLayout" Target="../slideLayouts/slideLayout7.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7.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image" Target="../media/image3.png"/><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2" Type="http://schemas.openxmlformats.org/officeDocument/2006/relationships/notesSlide" Target="../notesSlides/notesSlide4.xml"/><Relationship Id="rId21" Type="http://schemas.openxmlformats.org/officeDocument/2006/relationships/slideLayout" Target="../slideLayouts/slideLayout7.xml"/><Relationship Id="rId20" Type="http://schemas.openxmlformats.org/officeDocument/2006/relationships/tags" Target="../tags/tag29.xml"/><Relationship Id="rId2" Type="http://schemas.openxmlformats.org/officeDocument/2006/relationships/tags" Target="../tags/tag12.xml"/><Relationship Id="rId19" Type="http://schemas.openxmlformats.org/officeDocument/2006/relationships/tags" Target="../tags/tag28.xml"/><Relationship Id="rId18" Type="http://schemas.openxmlformats.org/officeDocument/2006/relationships/tags" Target="../tags/tag27.xml"/><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image" Target="../media/image3.png"/><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0" Type="http://schemas.openxmlformats.org/officeDocument/2006/relationships/notesSlide" Target="../notesSlides/notesSlide5.xml"/><Relationship Id="rId2" Type="http://schemas.openxmlformats.org/officeDocument/2006/relationships/tags" Target="../tags/tag31.xml"/><Relationship Id="rId19" Type="http://schemas.openxmlformats.org/officeDocument/2006/relationships/slideLayout" Target="../slideLayouts/slideLayout7.xml"/><Relationship Id="rId18" Type="http://schemas.openxmlformats.org/officeDocument/2006/relationships/tags" Target="../tags/tag46.xml"/><Relationship Id="rId17" Type="http://schemas.openxmlformats.org/officeDocument/2006/relationships/tags" Target="../tags/tag45.xml"/><Relationship Id="rId16" Type="http://schemas.openxmlformats.org/officeDocument/2006/relationships/tags" Target="../tags/tag44.xml"/><Relationship Id="rId15" Type="http://schemas.openxmlformats.org/officeDocument/2006/relationships/tags" Target="../tags/tag43.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tags" Target="../tags/tag30.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2" Type="http://schemas.openxmlformats.org/officeDocument/2006/relationships/notesSlide" Target="../notesSlides/notesSlide7.xml"/><Relationship Id="rId11" Type="http://schemas.openxmlformats.org/officeDocument/2006/relationships/slideLayout" Target="../slideLayouts/slideLayout7.xml"/><Relationship Id="rId10" Type="http://schemas.openxmlformats.org/officeDocument/2006/relationships/tags" Target="../tags/tag55.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image" Target="../media/image5.png"/><Relationship Id="rId3" Type="http://schemas.openxmlformats.org/officeDocument/2006/relationships/tags" Target="../tags/tag57.xml"/><Relationship Id="rId2" Type="http://schemas.openxmlformats.org/officeDocument/2006/relationships/tags" Target="../tags/tag56.xml"/><Relationship Id="rId15" Type="http://schemas.openxmlformats.org/officeDocument/2006/relationships/notesSlide" Target="../notesSlides/notesSlide8.xml"/><Relationship Id="rId14" Type="http://schemas.openxmlformats.org/officeDocument/2006/relationships/slideLayout" Target="../slideLayouts/slideLayout7.xml"/><Relationship Id="rId13" Type="http://schemas.openxmlformats.org/officeDocument/2006/relationships/tags" Target="../tags/tag63.xml"/><Relationship Id="rId12" Type="http://schemas.openxmlformats.org/officeDocument/2006/relationships/image" Target="../media/image8.png"/><Relationship Id="rId11" Type="http://schemas.openxmlformats.org/officeDocument/2006/relationships/image" Target="../media/image7.png"/><Relationship Id="rId10" Type="http://schemas.openxmlformats.org/officeDocument/2006/relationships/image" Target="../media/image6.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image" Target="../media/image9.png"/><Relationship Id="rId10" Type="http://schemas.openxmlformats.org/officeDocument/2006/relationships/notesSlide" Target="../notesSlides/notesSlide9.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75.xml"/><Relationship Id="rId7" Type="http://schemas.openxmlformats.org/officeDocument/2006/relationships/image" Target="../media/image10.png"/><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0" Type="http://schemas.openxmlformats.org/officeDocument/2006/relationships/notesSlide" Target="../notesSlides/notesSlide10.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7.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image" Target="../media/image12.png"/><Relationship Id="rId3" Type="http://schemas.openxmlformats.org/officeDocument/2006/relationships/tags" Target="../tags/tag76.xml"/><Relationship Id="rId2" Type="http://schemas.openxmlformats.org/officeDocument/2006/relationships/image" Target="../media/image11.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9" Type="http://schemas.openxmlformats.org/officeDocument/2006/relationships/notesSlide" Target="../notesSlides/notesSlide12.xml"/><Relationship Id="rId18" Type="http://schemas.openxmlformats.org/officeDocument/2006/relationships/slideLayout" Target="../slideLayouts/slideLayout7.xml"/><Relationship Id="rId17" Type="http://schemas.openxmlformats.org/officeDocument/2006/relationships/tags" Target="../tags/tag95.xml"/><Relationship Id="rId16" Type="http://schemas.openxmlformats.org/officeDocument/2006/relationships/tags" Target="../tags/tag94.xml"/><Relationship Id="rId15" Type="http://schemas.openxmlformats.org/officeDocument/2006/relationships/tags" Target="../tags/tag93.xml"/><Relationship Id="rId14" Type="http://schemas.openxmlformats.org/officeDocument/2006/relationships/tags" Target="../tags/tag92.xml"/><Relationship Id="rId13" Type="http://schemas.openxmlformats.org/officeDocument/2006/relationships/tags" Target="../tags/tag91.xml"/><Relationship Id="rId12" Type="http://schemas.openxmlformats.org/officeDocument/2006/relationships/tags" Target="../tags/tag90.xml"/><Relationship Id="rId11" Type="http://schemas.openxmlformats.org/officeDocument/2006/relationships/tags" Target="../tags/tag89.xml"/><Relationship Id="rId10" Type="http://schemas.openxmlformats.org/officeDocument/2006/relationships/tags" Target="../tags/tag88.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7.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7.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image" Target="../media/image16.png"/><Relationship Id="rId6" Type="http://schemas.openxmlformats.org/officeDocument/2006/relationships/tags" Target="../tags/tag106.xml"/><Relationship Id="rId5" Type="http://schemas.openxmlformats.org/officeDocument/2006/relationships/image" Target="../media/image15.png"/><Relationship Id="rId4" Type="http://schemas.openxmlformats.org/officeDocument/2006/relationships/tags" Target="../tags/tag105.xml"/><Relationship Id="rId3" Type="http://schemas.openxmlformats.org/officeDocument/2006/relationships/image" Target="../media/image14.png"/><Relationship Id="rId2" Type="http://schemas.openxmlformats.org/officeDocument/2006/relationships/image" Target="../media/image13.png"/><Relationship Id="rId12" Type="http://schemas.openxmlformats.org/officeDocument/2006/relationships/notesSlide" Target="../notesSlides/notesSlide16.xml"/><Relationship Id="rId11" Type="http://schemas.openxmlformats.org/officeDocument/2006/relationships/slideLayout" Target="../slideLayouts/slideLayout7.xml"/><Relationship Id="rId10" Type="http://schemas.openxmlformats.org/officeDocument/2006/relationships/image" Target="../media/image17.pn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tags" Target="../tags/tag109.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3" Type="http://schemas.openxmlformats.org/officeDocument/2006/relationships/notesSlide" Target="../notesSlides/notesSlide17.xml"/><Relationship Id="rId12" Type="http://schemas.openxmlformats.org/officeDocument/2006/relationships/slideLayout" Target="../slideLayouts/slideLayout7.xml"/><Relationship Id="rId11" Type="http://schemas.openxmlformats.org/officeDocument/2006/relationships/tags" Target="../tags/tag111.xml"/><Relationship Id="rId10" Type="http://schemas.openxmlformats.org/officeDocument/2006/relationships/tags" Target="../tags/tag110.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7.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image" Target="../media/image3.png"/><Relationship Id="rId3" Type="http://schemas.openxmlformats.org/officeDocument/2006/relationships/tags" Target="../tags/tag113.xml"/><Relationship Id="rId2" Type="http://schemas.openxmlformats.org/officeDocument/2006/relationships/image" Target="../media/image1.png"/><Relationship Id="rId1" Type="http://schemas.openxmlformats.org/officeDocument/2006/relationships/tags" Target="../tags/tag1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2"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3"/>
            </p:custDataLst>
          </p:nvPr>
        </p:nvPicPr>
        <p:blipFill>
          <a:blip r:embed="rId2"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1760855"/>
            <a:ext cx="12192000" cy="33051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10185" y="2969260"/>
            <a:ext cx="11657965" cy="768350"/>
          </a:xfrm>
          <a:prstGeom prst="rect">
            <a:avLst/>
          </a:prstGeom>
          <a:noFill/>
        </p:spPr>
        <p:txBody>
          <a:bodyPr wrap="square" rtlCol="0">
            <a:spAutoFit/>
          </a:bodyPr>
          <a:lstStyle/>
          <a:p>
            <a:pPr indent="0" algn="ctr" fontAlgn="auto"/>
            <a:r>
              <a:rPr lang="zh-CN" altLang="en-US" sz="4400" b="1" dirty="0">
                <a:solidFill>
                  <a:schemeClr val="bg1"/>
                </a:solidFill>
                <a:latin typeface="微软雅黑" panose="020B0503020204020204" pitchFamily="34" charset="-122"/>
                <a:ea typeface="微软雅黑" panose="020B0503020204020204" pitchFamily="34" charset="-122"/>
                <a:sym typeface="+mn-ea"/>
              </a:rPr>
              <a:t>面向工业软件的零代码智能化构建平台研究</a:t>
            </a:r>
            <a:endParaRPr lang="zh-CN" altLang="en-US" sz="44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3" name="TextBox 6"/>
          <p:cNvSpPr txBox="1"/>
          <p:nvPr>
            <p:custDataLst>
              <p:tags r:id="rId4"/>
            </p:custDataLst>
          </p:nvPr>
        </p:nvSpPr>
        <p:spPr>
          <a:xfrm>
            <a:off x="4148436" y="5644929"/>
            <a:ext cx="1959610" cy="397510"/>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070C0"/>
                </a:solidFill>
                <a:latin typeface="微软雅黑" panose="020B0503020204020204" pitchFamily="34" charset="-122"/>
                <a:ea typeface="微软雅黑" panose="020B0503020204020204" pitchFamily="34" charset="-122"/>
              </a:rPr>
              <a:t>报告人</a:t>
            </a:r>
            <a:r>
              <a:rPr lang="zh-CN" altLang="en-US" dirty="0" smtClean="0">
                <a:solidFill>
                  <a:srgbClr val="0070C0"/>
                </a:solidFill>
                <a:latin typeface="微软雅黑" panose="020B0503020204020204" pitchFamily="34" charset="-122"/>
                <a:ea typeface="微软雅黑" panose="020B0503020204020204" pitchFamily="34" charset="-122"/>
              </a:rPr>
              <a:t>：</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刁浩宇</a:t>
            </a:r>
            <a:endParaRPr lang="zh-CN" altLang="en-US" dirty="0" smtClean="0">
              <a:solidFill>
                <a:srgbClr val="0070C0"/>
              </a:solidFill>
              <a:latin typeface="微软雅黑" panose="020B0503020204020204" pitchFamily="34" charset="-122"/>
              <a:ea typeface="微软雅黑" panose="020B0503020204020204" pitchFamily="34" charset="-122"/>
            </a:endParaRPr>
          </a:p>
        </p:txBody>
      </p:sp>
      <p:sp>
        <p:nvSpPr>
          <p:cNvPr id="14" name="TextBox 7"/>
          <p:cNvSpPr txBox="1"/>
          <p:nvPr>
            <p:custDataLst>
              <p:tags r:id="rId5"/>
            </p:custDataLst>
          </p:nvPr>
        </p:nvSpPr>
        <p:spPr>
          <a:xfrm>
            <a:off x="7157875" y="5644929"/>
            <a:ext cx="2035175" cy="397510"/>
          </a:xfrm>
          <a:prstGeom prst="rect">
            <a:avLst/>
          </a:prstGeom>
          <a:noFill/>
        </p:spPr>
        <p:txBody>
          <a:bodyPr wrap="none" lIns="91416" tIns="45708" rIns="91416" bIns="45708" rtlCol="0">
            <a:spAutoFit/>
          </a:bodyPr>
          <a:lstStyle/>
          <a:p>
            <a:pPr algn="ctr"/>
            <a:r>
              <a:rPr lang="zh-CN" altLang="en-US" sz="2000" b="1" dirty="0">
                <a:solidFill>
                  <a:srgbClr val="0070C0"/>
                </a:solidFill>
                <a:latin typeface="微软雅黑" panose="020B0503020204020204" pitchFamily="34" charset="-122"/>
                <a:ea typeface="微软雅黑" panose="020B0503020204020204" pitchFamily="34" charset="-122"/>
              </a:rPr>
              <a:t>报告时间</a:t>
            </a:r>
            <a:r>
              <a:rPr lang="zh-CN" altLang="en-US" sz="2000" dirty="0">
                <a:solidFill>
                  <a:srgbClr val="0070C0"/>
                </a:solidFill>
                <a:latin typeface="微软雅黑" panose="020B0503020204020204" pitchFamily="34" charset="-122"/>
                <a:ea typeface="微软雅黑" panose="020B0503020204020204" pitchFamily="34" charset="-122"/>
              </a:rPr>
              <a:t>：</a:t>
            </a:r>
            <a:r>
              <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rPr>
              <a:t>1.31</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4" name="Florian Bur - The Way">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609600" y="6311900"/>
            <a:ext cx="406400" cy="406400"/>
          </a:xfrm>
          <a:prstGeom prst="rect">
            <a:avLst/>
          </a:prstGeom>
        </p:spPr>
      </p:pic>
      <p:pic>
        <p:nvPicPr>
          <p:cNvPr id="2" name="图片 1" descr="校徽"/>
          <p:cNvPicPr>
            <a:picLocks noChangeAspect="1"/>
          </p:cNvPicPr>
          <p:nvPr/>
        </p:nvPicPr>
        <p:blipFill>
          <a:blip r:embed="rId9"/>
          <a:stretch>
            <a:fillRect/>
          </a:stretch>
        </p:blipFill>
        <p:spPr>
          <a:xfrm>
            <a:off x="3371215" y="83820"/>
            <a:ext cx="5438775" cy="15144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childTnLst>
            <p:audio>
              <p:cMediaNode vol="100000" numSld="100">
                <p:cTn id="2" repeatCount="indefinite" fill="hold" display="0">
                  <p:stCondLst>
                    <p:cond delay="indefinite"/>
                  </p:stCondLst>
                  <p:endCondLst>
                    <p:cond evt="onStopAudio" delay="0">
                      <p:tgtEl>
                        <p:sldTgt/>
                      </p:tgtEl>
                    </p:cond>
                  </p:endCondLst>
                </p:cTn>
                <p:tgtEl>
                  <p:spTgt spid="4"/>
                </p:tgtEl>
              </p:cMediaNode>
            </p:audio>
          </p:childTnLst>
        </p:cTn>
      </p:par>
    </p:tnLst>
    <p:bldLst>
      <p:bldP spid="8" grpId="0" bldLvl="0" animBg="1"/>
      <p:bldP spid="15" grpId="0"/>
      <p:bldP spid="13"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圆角矩形 1"/>
          <p:cNvSpPr/>
          <p:nvPr/>
        </p:nvSpPr>
        <p:spPr>
          <a:xfrm>
            <a:off x="-1556426" y="1998319"/>
            <a:ext cx="5261917" cy="2861362"/>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custDataLst>
              <p:tags r:id="rId1"/>
            </p:custDataLst>
          </p:nvPr>
        </p:nvSpPr>
        <p:spPr>
          <a:xfrm>
            <a:off x="5642044" y="2172952"/>
            <a:ext cx="9111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01</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7" name="圆角矩形 6"/>
          <p:cNvSpPr/>
          <p:nvPr>
            <p:custDataLst>
              <p:tags r:id="rId2"/>
            </p:custDataLst>
          </p:nvPr>
        </p:nvSpPr>
        <p:spPr>
          <a:xfrm>
            <a:off x="5642044" y="3140427"/>
            <a:ext cx="9111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02</a:t>
            </a:r>
            <a:endParaRPr lang="zh-CN" altLang="en-US" b="1" dirty="0"/>
          </a:p>
        </p:txBody>
      </p:sp>
      <p:sp>
        <p:nvSpPr>
          <p:cNvPr id="8" name="圆角矩形 7"/>
          <p:cNvSpPr/>
          <p:nvPr>
            <p:custDataLst>
              <p:tags r:id="rId3"/>
            </p:custDataLst>
          </p:nvPr>
        </p:nvSpPr>
        <p:spPr>
          <a:xfrm>
            <a:off x="5642044" y="4108352"/>
            <a:ext cx="9111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03</a:t>
            </a:r>
            <a:endParaRPr lang="zh-CN" altLang="en-US" b="1" dirty="0"/>
          </a:p>
        </p:txBody>
      </p:sp>
      <p:sp>
        <p:nvSpPr>
          <p:cNvPr id="59" name="圆角矩形 58"/>
          <p:cNvSpPr/>
          <p:nvPr>
            <p:custDataLst>
              <p:tags r:id="rId4"/>
            </p:custDataLst>
          </p:nvPr>
        </p:nvSpPr>
        <p:spPr>
          <a:xfrm>
            <a:off x="6746944" y="2172952"/>
            <a:ext cx="34765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mn-ea"/>
              </a:rPr>
              <a:t>课题框架概述</a:t>
            </a:r>
            <a:endParaRPr lang="zh-CN" altLang="en-US" sz="2000" b="1" dirty="0"/>
          </a:p>
        </p:txBody>
      </p:sp>
      <p:sp>
        <p:nvSpPr>
          <p:cNvPr id="61" name="圆角矩形 60"/>
          <p:cNvSpPr/>
          <p:nvPr>
            <p:custDataLst>
              <p:tags r:id="rId5"/>
            </p:custDataLst>
          </p:nvPr>
        </p:nvSpPr>
        <p:spPr>
          <a:xfrm>
            <a:off x="6746944" y="3140427"/>
            <a:ext cx="34765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2000" b="1" dirty="0">
                <a:solidFill>
                  <a:schemeClr val="bg1"/>
                </a:solidFill>
                <a:latin typeface="微软雅黑" panose="020B0503020204020204" pitchFamily="34" charset="-122"/>
                <a:ea typeface="微软雅黑" panose="020B0503020204020204" pitchFamily="34" charset="-122"/>
                <a:sym typeface="+mn-ea"/>
              </a:rPr>
              <a:t>技术路线</a:t>
            </a:r>
            <a:endParaRPr lang="zh-CN" altLang="en-US" sz="2000" b="1" dirty="0">
              <a:solidFill>
                <a:schemeClr val="bg1"/>
              </a:solidFill>
              <a:latin typeface="微软雅黑" panose="020B0503020204020204" pitchFamily="34" charset="-122"/>
              <a:ea typeface="微软雅黑" panose="020B0503020204020204" pitchFamily="34" charset="-122"/>
              <a:sym typeface="+mn-ea"/>
            </a:endParaRPr>
          </a:p>
        </p:txBody>
      </p:sp>
      <p:sp>
        <p:nvSpPr>
          <p:cNvPr id="62" name="圆角矩形 61"/>
          <p:cNvSpPr/>
          <p:nvPr>
            <p:custDataLst>
              <p:tags r:id="rId6"/>
            </p:custDataLst>
          </p:nvPr>
        </p:nvSpPr>
        <p:spPr>
          <a:xfrm>
            <a:off x="6746944" y="4108352"/>
            <a:ext cx="34765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2000" b="1" dirty="0">
                <a:solidFill>
                  <a:schemeClr val="bg1"/>
                </a:solidFill>
                <a:latin typeface="微软雅黑" panose="020B0503020204020204" pitchFamily="34" charset="-122"/>
                <a:ea typeface="微软雅黑" panose="020B0503020204020204" pitchFamily="34" charset="-122"/>
              </a:rPr>
              <a:t>已完成的</a:t>
            </a:r>
            <a:r>
              <a:rPr lang="zh-CN" altLang="en-US" sz="2000" b="1" dirty="0">
                <a:solidFill>
                  <a:schemeClr val="bg1"/>
                </a:solidFill>
                <a:latin typeface="微软雅黑" panose="020B0503020204020204" pitchFamily="34" charset="-122"/>
                <a:ea typeface="微软雅黑" panose="020B0503020204020204" pitchFamily="34" charset="-122"/>
              </a:rPr>
              <a:t>工作</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4" name="TextBox 78"/>
          <p:cNvSpPr txBox="1"/>
          <p:nvPr/>
        </p:nvSpPr>
        <p:spPr>
          <a:xfrm>
            <a:off x="565975" y="3733289"/>
            <a:ext cx="2063385" cy="502766"/>
          </a:xfrm>
          <a:prstGeom prst="rect">
            <a:avLst/>
          </a:prstGeom>
          <a:noFill/>
        </p:spPr>
        <p:txBody>
          <a:bodyPr wrap="none" rtlCol="0">
            <a:spAutoFit/>
          </a:bodyPr>
          <a:lstStyle/>
          <a:p>
            <a:pPr algn="ctr"/>
            <a:r>
              <a:rPr lang="en-US" altLang="zh-CN" sz="2665" b="1" dirty="0">
                <a:solidFill>
                  <a:schemeClr val="bg1"/>
                </a:solidFill>
                <a:latin typeface="Impact MT Std" pitchFamily="34" charset="0"/>
                <a:ea typeface="微软雅黑" panose="020B0503020204020204" pitchFamily="34" charset="-122"/>
              </a:rPr>
              <a:t>CONTENTS</a:t>
            </a:r>
            <a:endParaRPr lang="zh-CN" altLang="en-US" sz="2665" b="1" dirty="0">
              <a:solidFill>
                <a:schemeClr val="bg1"/>
              </a:solidFill>
              <a:latin typeface="Impact MT Std" pitchFamily="34" charset="0"/>
              <a:ea typeface="微软雅黑" panose="020B0503020204020204" pitchFamily="34" charset="-122"/>
            </a:endParaRPr>
          </a:p>
        </p:txBody>
      </p:sp>
      <p:sp>
        <p:nvSpPr>
          <p:cNvPr id="65" name="TextBox 79"/>
          <p:cNvSpPr txBox="1"/>
          <p:nvPr/>
        </p:nvSpPr>
        <p:spPr>
          <a:xfrm>
            <a:off x="641317" y="2677173"/>
            <a:ext cx="1912703" cy="995209"/>
          </a:xfrm>
          <a:prstGeom prst="rect">
            <a:avLst/>
          </a:prstGeom>
          <a:noFill/>
        </p:spPr>
        <p:txBody>
          <a:bodyPr wrap="none" rtlCol="0">
            <a:spAutoFit/>
          </a:bodyPr>
          <a:lstStyle/>
          <a:p>
            <a:pPr algn="ctr"/>
            <a:r>
              <a:rPr lang="zh-CN" altLang="en-US" sz="5865" b="1" dirty="0">
                <a:solidFill>
                  <a:schemeClr val="bg1"/>
                </a:solidFill>
                <a:latin typeface="微软雅黑" panose="020B0503020204020204" pitchFamily="34" charset="-122"/>
                <a:ea typeface="微软雅黑" panose="020B0503020204020204" pitchFamily="34" charset="-122"/>
              </a:rPr>
              <a:t>目 录</a:t>
            </a:r>
            <a:endParaRPr lang="zh-CN" altLang="en-US" sz="5865"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17" grpId="0" bldLvl="0" animBg="1"/>
      <p:bldP spid="2" grpId="0" bldLvl="0" animBg="1"/>
      <p:bldP spid="5" grpId="0" bldLvl="0" animBg="1"/>
      <p:bldP spid="7" grpId="0" bldLvl="0" animBg="1"/>
      <p:bldP spid="8" grpId="0" bldLvl="0" animBg="1"/>
      <p:bldP spid="59" grpId="0" bldLvl="0" animBg="1"/>
      <p:bldP spid="61" grpId="0" bldLvl="0" animBg="1"/>
      <p:bldP spid="62" grpId="0" bldLvl="0" animBg="1"/>
      <p:bldP spid="64" grpId="0"/>
      <p:bldP spid="6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196340" cy="460375"/>
          </a:xfrm>
          <a:prstGeom prst="rect">
            <a:avLst/>
          </a:prstGeom>
          <a:noFill/>
        </p:spPr>
        <p:txBody>
          <a:bodyPr wrap="none" rtlCol="0">
            <a:spAutoFit/>
          </a:bodyPr>
          <a:lstStyle/>
          <a:p>
            <a:r>
              <a:rPr lang="en-US" altLang="zh-CN" sz="2400" dirty="0" smtClean="0">
                <a:solidFill>
                  <a:srgbClr val="0070C0"/>
                </a:solidFill>
                <a:latin typeface="微软雅黑" panose="020B0503020204020204" pitchFamily="34" charset="-122"/>
                <a:ea typeface="微软雅黑" panose="020B0503020204020204" pitchFamily="34" charset="-122"/>
              </a:rPr>
              <a:t>Part.01</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latin typeface="微软雅黑" panose="020B0503020204020204" pitchFamily="34" charset="-122"/>
                <a:ea typeface="微软雅黑" panose="020B0503020204020204" pitchFamily="34" charset="-122"/>
              </a:rPr>
              <a:t>课题框架概述</a:t>
            </a:r>
            <a:endParaRPr lang="zh-CN" altLang="en-US" sz="4000" b="1" spc="600" dirty="0">
              <a:solidFill>
                <a:srgbClr val="0070C0"/>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91345" y="1592254"/>
            <a:ext cx="3943455" cy="92293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3" grpId="0" bldLvl="0" animBg="1"/>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custDataLst>
              <p:tags r:id="rId1"/>
            </p:custDataLst>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custDataLst>
              <p:tags r:id="rId2"/>
            </p:custDataLst>
          </p:nvPr>
        </p:nvSpPr>
        <p:spPr>
          <a:xfrm>
            <a:off x="3231850"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custDataLst>
              <p:tags r:id="rId3"/>
            </p:custDataLst>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课题</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框架概述</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custDataLst>
              <p:tags r:id="rId4"/>
            </p:custDataLst>
          </p:nvPr>
        </p:nvSpPr>
        <p:spPr>
          <a:xfrm>
            <a:off x="5051349" y="215904"/>
            <a:ext cx="1344000"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技术路线</a:t>
            </a:r>
            <a:endParaRPr lang="zh-CN" altLang="en-US" sz="1600" b="1" dirty="0" smtClean="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9"/>
          <p:cNvSpPr txBox="1"/>
          <p:nvPr>
            <p:custDataLst>
              <p:tags r:id="rId5"/>
            </p:custDataLst>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已完成的工作</a:t>
            </a:r>
            <a:endParaRPr lang="zh-CN" altLang="en-US" sz="1600" b="1" dirty="0" smtClean="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custDataLst>
              <p:tags r:id="rId6"/>
            </p:custDataLst>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custDataLst>
              <p:tags r:id="rId7"/>
            </p:custDataLst>
          </p:nvPr>
        </p:nvPicPr>
        <p:blipFill>
          <a:blip r:embed="rId8"/>
          <a:stretch>
            <a:fillRect/>
          </a:stretch>
        </p:blipFill>
        <p:spPr>
          <a:xfrm>
            <a:off x="281305" y="0"/>
            <a:ext cx="2687955" cy="749300"/>
          </a:xfrm>
          <a:prstGeom prst="rect">
            <a:avLst/>
          </a:prstGeom>
          <a:noFill/>
        </p:spPr>
      </p:pic>
      <p:sp>
        <p:nvSpPr>
          <p:cNvPr id="5" name="学论网-矩形 1"/>
          <p:cNvSpPr/>
          <p:nvPr>
            <p:custDataLst>
              <p:tags r:id="rId9"/>
            </p:custDataLst>
          </p:nvPr>
        </p:nvSpPr>
        <p:spPr>
          <a:xfrm>
            <a:off x="8183245" y="3527425"/>
            <a:ext cx="3133090" cy="217551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6" name="学论网-矩形 1"/>
          <p:cNvSpPr/>
          <p:nvPr>
            <p:custDataLst>
              <p:tags r:id="rId10"/>
            </p:custDataLst>
          </p:nvPr>
        </p:nvSpPr>
        <p:spPr>
          <a:xfrm>
            <a:off x="4593590" y="3525520"/>
            <a:ext cx="3131820" cy="217805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8" name="学论网-矩形 1"/>
          <p:cNvSpPr/>
          <p:nvPr>
            <p:custDataLst>
              <p:tags r:id="rId11"/>
            </p:custDataLst>
          </p:nvPr>
        </p:nvSpPr>
        <p:spPr>
          <a:xfrm>
            <a:off x="1024255" y="3526790"/>
            <a:ext cx="3133725" cy="217614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9" name="学论网-www.xuelun.me"/>
          <p:cNvSpPr txBox="1"/>
          <p:nvPr>
            <p:custDataLst>
              <p:tags r:id="rId12"/>
            </p:custDataLst>
          </p:nvPr>
        </p:nvSpPr>
        <p:spPr>
          <a:xfrm>
            <a:off x="8276590" y="3632200"/>
            <a:ext cx="2945130" cy="1892300"/>
          </a:xfrm>
          <a:prstGeom prst="rect">
            <a:avLst/>
          </a:prstGeom>
          <a:noFill/>
          <a:ln>
            <a:noFill/>
          </a:ln>
        </p:spPr>
        <p:txBody>
          <a:bodyPr wrap="square" lIns="0" tIns="0" rIns="0" bIns="0" rtlCol="0">
            <a:noAutofit/>
          </a:bodyPr>
          <a:lstStyle/>
          <a:p>
            <a:pPr indent="457200" algn="l">
              <a:lnSpc>
                <a:spcPct val="150000"/>
              </a:lnSpc>
              <a:buClrTx/>
              <a:buSzTx/>
              <a:buFontTx/>
            </a:pPr>
            <a:r>
              <a:rPr sz="1600">
                <a:latin typeface="微软雅黑" panose="020B0503020204020204" pitchFamily="34" charset="-122"/>
                <a:ea typeface="微软雅黑" panose="020B0503020204020204" pitchFamily="34" charset="-122"/>
                <a:cs typeface="微软雅黑" panose="020B0503020204020204" pitchFamily="34" charset="-122"/>
                <a:sym typeface="+mn-ea"/>
              </a:rPr>
              <a:t>静态验证代码语法树的真实性，</a:t>
            </a:r>
            <a:r>
              <a:rPr sz="1600">
                <a:latin typeface="微软雅黑" panose="020B0503020204020204" pitchFamily="34" charset="-122"/>
                <a:ea typeface="微软雅黑" panose="020B0503020204020204" pitchFamily="34" charset="-122"/>
                <a:cs typeface="微软雅黑" panose="020B0503020204020204" pitchFamily="34" charset="-122"/>
                <a:sym typeface="+mn-ea"/>
              </a:rPr>
              <a:t>构建虚拟执行环境</a:t>
            </a:r>
            <a:r>
              <a:rPr sz="1600">
                <a:latin typeface="微软雅黑" panose="020B0503020204020204" pitchFamily="34" charset="-122"/>
                <a:ea typeface="微软雅黑" panose="020B0503020204020204" pitchFamily="34" charset="-122"/>
                <a:cs typeface="微软雅黑" panose="020B0503020204020204" pitchFamily="34" charset="-122"/>
                <a:sym typeface="+mn-ea"/>
              </a:rPr>
              <a:t>动态验证时序逻辑的真实性。在验证的同时集成</a:t>
            </a:r>
            <a:r>
              <a:rPr sz="1600">
                <a:latin typeface="微软雅黑" panose="020B0503020204020204" pitchFamily="34" charset="-122"/>
                <a:ea typeface="微软雅黑" panose="020B0503020204020204" pitchFamily="34" charset="-122"/>
                <a:cs typeface="微软雅黑" panose="020B0503020204020204" pitchFamily="34" charset="-122"/>
                <a:sym typeface="+mn-ea"/>
              </a:rPr>
              <a:t>提供修复建议和逻辑改进</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学论网-www.xuelun.me"/>
          <p:cNvSpPr txBox="1"/>
          <p:nvPr>
            <p:custDataLst>
              <p:tags r:id="rId13"/>
            </p:custDataLst>
          </p:nvPr>
        </p:nvSpPr>
        <p:spPr>
          <a:xfrm>
            <a:off x="4672965" y="3632200"/>
            <a:ext cx="2961640" cy="1891030"/>
          </a:xfrm>
          <a:prstGeom prst="rect">
            <a:avLst/>
          </a:prstGeom>
          <a:noFill/>
          <a:ln>
            <a:noFill/>
          </a:ln>
        </p:spPr>
        <p:txBody>
          <a:bodyPr wrap="square" lIns="0" tIns="0" rIns="0" bIns="0" rtlCol="0">
            <a:noAutofit/>
          </a:bodyPr>
          <a:lstStyle/>
          <a:p>
            <a:pPr indent="457200" algn="just">
              <a:lnSpc>
                <a:spcPct val="150000"/>
              </a:lnSpc>
              <a:buClrTx/>
              <a:buSzTx/>
              <a:buFontTx/>
            </a:pPr>
            <a:r>
              <a:rPr sz="1600">
                <a:latin typeface="微软雅黑" panose="020B0503020204020204" pitchFamily="34" charset="-122"/>
                <a:ea typeface="微软雅黑" panose="020B0503020204020204" pitchFamily="34" charset="-122"/>
                <a:cs typeface="微软雅黑" panose="020B0503020204020204" pitchFamily="34" charset="-122"/>
              </a:rPr>
              <a:t>在完成</a:t>
            </a:r>
            <a:r>
              <a:rPr lang="zh-CN" sz="1600">
                <a:latin typeface="微软雅黑" panose="020B0503020204020204" pitchFamily="34" charset="-122"/>
                <a:ea typeface="微软雅黑" panose="020B0503020204020204" pitchFamily="34" charset="-122"/>
                <a:cs typeface="微软雅黑" panose="020B0503020204020204" pitchFamily="34" charset="-122"/>
              </a:rPr>
              <a:t>企业领域知识的知识图谱映射之后，根据多源异构的开发工具需求，针对不同领域的</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IMKG</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，构建自动化的组件</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搭建流程。</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学论网-www.xuelun.me"/>
          <p:cNvSpPr txBox="1"/>
          <p:nvPr>
            <p:custDataLst>
              <p:tags r:id="rId14"/>
            </p:custDataLst>
          </p:nvPr>
        </p:nvSpPr>
        <p:spPr>
          <a:xfrm>
            <a:off x="1080770" y="3618230"/>
            <a:ext cx="2961640" cy="1908175"/>
          </a:xfrm>
          <a:prstGeom prst="rect">
            <a:avLst/>
          </a:prstGeom>
          <a:noFill/>
          <a:ln>
            <a:noFill/>
          </a:ln>
        </p:spPr>
        <p:txBody>
          <a:bodyPr wrap="square" lIns="0" tIns="0" rIns="0" bIns="0" rtlCol="0">
            <a:noAutofit/>
          </a:bodyPr>
          <a:lstStyle/>
          <a:p>
            <a:pPr indent="457200" algn="just" fontAlgn="auto">
              <a:lnSpc>
                <a:spcPct val="150000"/>
              </a:lnSpc>
              <a:buClrTx/>
              <a:buSzTx/>
              <a:buFontTx/>
            </a:pPr>
            <a:r>
              <a:rPr sz="1600">
                <a:latin typeface="微软雅黑" panose="020B0503020204020204" pitchFamily="34" charset="-122"/>
                <a:ea typeface="微软雅黑" panose="020B0503020204020204" pitchFamily="34" charset="-122"/>
                <a:cs typeface="微软雅黑" panose="020B0503020204020204" pitchFamily="34" charset="-122"/>
                <a:sym typeface="+mn-ea"/>
              </a:rPr>
              <a:t>知识图谱具备语义统一潜力，同时OPC UA信息模型</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与</a:t>
            </a:r>
            <a:r>
              <a:rPr sz="1600">
                <a:latin typeface="微软雅黑" panose="020B0503020204020204" pitchFamily="34" charset="-122"/>
                <a:ea typeface="微软雅黑" panose="020B0503020204020204" pitchFamily="34" charset="-122"/>
                <a:cs typeface="微软雅黑" panose="020B0503020204020204" pitchFamily="34" charset="-122"/>
                <a:sym typeface="+mn-ea"/>
              </a:rPr>
              <a:t>KG数据组织</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相似，将工业设备数据帧中的信息以知识图谱的形式组织起来，为搭建平台组件</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提供信息。</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 name="文本框 15"/>
          <p:cNvSpPr txBox="1"/>
          <p:nvPr>
            <p:custDataLst>
              <p:tags r:id="rId15"/>
            </p:custDataLst>
          </p:nvPr>
        </p:nvSpPr>
        <p:spPr>
          <a:xfrm>
            <a:off x="1210945" y="2668270"/>
            <a:ext cx="2701290" cy="677545"/>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altLang="en-US" sz="1600" b="1" dirty="0">
                <a:latin typeface="微软雅黑" panose="020B0503020204020204" pitchFamily="34" charset="-122"/>
                <a:ea typeface="微软雅黑" panose="020B0503020204020204" pitchFamily="34" charset="-122"/>
                <a:sym typeface="+mn-ea"/>
              </a:rPr>
              <a:t>实现</a:t>
            </a:r>
            <a:r>
              <a:rPr lang="zh-CN" altLang="en-US" sz="1600" b="1" dirty="0">
                <a:solidFill>
                  <a:srgbClr val="C00000"/>
                </a:solidFill>
                <a:latin typeface="微软雅黑" panose="020B0503020204020204" pitchFamily="34" charset="-122"/>
                <a:ea typeface="微软雅黑" panose="020B0503020204020204" pitchFamily="34" charset="-122"/>
                <a:sym typeface="+mn-ea"/>
              </a:rPr>
              <a:t>工业领域知识</a:t>
            </a:r>
            <a:r>
              <a:rPr lang="zh-CN" altLang="en-US" sz="1600" b="1" dirty="0">
                <a:latin typeface="微软雅黑" panose="020B0503020204020204" pitchFamily="34" charset="-122"/>
                <a:ea typeface="微软雅黑" panose="020B0503020204020204" pitchFamily="34" charset="-122"/>
                <a:sym typeface="+mn-ea"/>
              </a:rPr>
              <a:t>到</a:t>
            </a:r>
            <a:r>
              <a:rPr lang="zh-CN" altLang="en-US" sz="1600" b="1" dirty="0">
                <a:solidFill>
                  <a:srgbClr val="C00000"/>
                </a:solidFill>
                <a:latin typeface="微软雅黑" panose="020B0503020204020204" pitchFamily="34" charset="-122"/>
                <a:ea typeface="微软雅黑" panose="020B0503020204020204" pitchFamily="34" charset="-122"/>
                <a:sym typeface="+mn-ea"/>
              </a:rPr>
              <a:t>知识图谱</a:t>
            </a:r>
            <a:r>
              <a:rPr lang="en-US" altLang="zh-CN" sz="1600" b="1" dirty="0">
                <a:latin typeface="微软雅黑" panose="020B0503020204020204" pitchFamily="34" charset="-122"/>
                <a:ea typeface="微软雅黑" panose="020B0503020204020204" pitchFamily="34" charset="-122"/>
                <a:sym typeface="+mn-ea"/>
              </a:rPr>
              <a:t>的建模</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custDataLst>
              <p:tags r:id="rId16"/>
            </p:custDataLst>
          </p:nvPr>
        </p:nvSpPr>
        <p:spPr>
          <a:xfrm>
            <a:off x="4803775" y="2668270"/>
            <a:ext cx="2700020" cy="676910"/>
          </a:xfrm>
          <a:prstGeom prst="rect">
            <a:avLst/>
          </a:prstGeom>
          <a:solidFill>
            <a:schemeClr val="accent5">
              <a:lumMod val="40000"/>
              <a:lumOff val="60000"/>
            </a:schemeClr>
          </a:solidFill>
          <a:ln w="12700">
            <a:noFill/>
          </a:ln>
        </p:spPr>
        <p:txBody>
          <a:bodyPr wrap="square" rtlCol="0" anchor="ctr" anchorCtr="0">
            <a:noAutofit/>
          </a:bodyPr>
          <a:p>
            <a:pPr marL="0" lvl="2" algn="ctr">
              <a:lnSpc>
                <a:spcPct val="100000"/>
              </a:lnSpc>
              <a:buClrTx/>
              <a:buSzTx/>
              <a:buFontTx/>
            </a:pPr>
            <a:r>
              <a:rPr lang="zh-CN" altLang="en-US" sz="1600" b="1" dirty="0">
                <a:latin typeface="微软雅黑" panose="020B0503020204020204" pitchFamily="34" charset="-122"/>
                <a:ea typeface="微软雅黑" panose="020B0503020204020204" pitchFamily="34" charset="-122"/>
                <a:sym typeface="+mn-ea"/>
              </a:rPr>
              <a:t>支持搭建多源异构工业APP的</a:t>
            </a:r>
            <a:r>
              <a:rPr lang="zh-CN" altLang="en-US" sz="1600" b="1" dirty="0">
                <a:solidFill>
                  <a:srgbClr val="C00000"/>
                </a:solidFill>
                <a:latin typeface="微软雅黑" panose="020B0503020204020204" pitchFamily="34" charset="-122"/>
                <a:ea typeface="微软雅黑" panose="020B0503020204020204" pitchFamily="34" charset="-122"/>
                <a:sym typeface="+mn-ea"/>
              </a:rPr>
              <a:t>零代码开发工具</a:t>
            </a:r>
            <a:endParaRPr lang="zh-CN" altLang="en-US" sz="1600" b="1" dirty="0">
              <a:solidFill>
                <a:srgbClr val="C00000"/>
              </a:solidFill>
              <a:latin typeface="微软雅黑" panose="020B0503020204020204" pitchFamily="34" charset="-122"/>
              <a:ea typeface="微软雅黑" panose="020B0503020204020204" pitchFamily="34" charset="-122"/>
              <a:sym typeface="+mn-ea"/>
            </a:endParaRPr>
          </a:p>
        </p:txBody>
      </p:sp>
      <p:sp>
        <p:nvSpPr>
          <p:cNvPr id="18" name="文本框 17"/>
          <p:cNvSpPr txBox="1"/>
          <p:nvPr>
            <p:custDataLst>
              <p:tags r:id="rId17"/>
            </p:custDataLst>
          </p:nvPr>
        </p:nvSpPr>
        <p:spPr>
          <a:xfrm>
            <a:off x="8395335" y="2668270"/>
            <a:ext cx="2700655" cy="657860"/>
          </a:xfrm>
          <a:prstGeom prst="rect">
            <a:avLst/>
          </a:prstGeom>
          <a:solidFill>
            <a:schemeClr val="accent5">
              <a:lumMod val="40000"/>
              <a:lumOff val="60000"/>
            </a:schemeClr>
          </a:solidFill>
          <a:ln w="12700">
            <a:noFill/>
          </a:ln>
        </p:spPr>
        <p:txBody>
          <a:bodyPr wrap="square" rtlCol="0" anchor="ctr" anchorCtr="0">
            <a:noAutofit/>
          </a:bodyPr>
          <a:p>
            <a:pPr marL="0" lvl="2" algn="ctr">
              <a:lnSpc>
                <a:spcPct val="100000"/>
              </a:lnSpc>
              <a:buClrTx/>
              <a:buSzTx/>
              <a:buFontTx/>
            </a:pPr>
            <a:r>
              <a:rPr lang="zh-CN" altLang="en-US" sz="1600" b="1" dirty="0">
                <a:latin typeface="微软雅黑" panose="020B0503020204020204" pitchFamily="34" charset="-122"/>
                <a:ea typeface="微软雅黑" panose="020B0503020204020204" pitchFamily="34" charset="-122"/>
                <a:sym typeface="+mn-ea"/>
              </a:rPr>
              <a:t>搭建判断</a:t>
            </a:r>
            <a:r>
              <a:rPr lang="zh-CN" altLang="en-US" sz="1600" b="1" dirty="0">
                <a:latin typeface="微软雅黑" panose="020B0503020204020204" pitchFamily="34" charset="-122"/>
                <a:ea typeface="微软雅黑" panose="020B0503020204020204" pitchFamily="34" charset="-122"/>
                <a:sym typeface="+mn-ea"/>
              </a:rPr>
              <a:t>代码合规的</a:t>
            </a:r>
            <a:r>
              <a:rPr lang="zh-CN" altLang="en-US" sz="1600" b="1" dirty="0">
                <a:solidFill>
                  <a:srgbClr val="C00000"/>
                </a:solidFill>
                <a:latin typeface="微软雅黑" panose="020B0503020204020204" pitchFamily="34" charset="-122"/>
                <a:ea typeface="微软雅黑" panose="020B0503020204020204" pitchFamily="34" charset="-122"/>
                <a:sym typeface="+mn-ea"/>
              </a:rPr>
              <a:t>可信验证框架</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19" name="下箭头 18"/>
          <p:cNvSpPr/>
          <p:nvPr>
            <p:custDataLst>
              <p:tags r:id="rId18"/>
            </p:custDataLst>
          </p:nvPr>
        </p:nvSpPr>
        <p:spPr>
          <a:xfrm rot="16200000">
            <a:off x="4316730" y="2834005"/>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下箭头 19"/>
          <p:cNvSpPr/>
          <p:nvPr>
            <p:custDataLst>
              <p:tags r:id="rId19"/>
            </p:custDataLst>
          </p:nvPr>
        </p:nvSpPr>
        <p:spPr>
          <a:xfrm rot="16200000">
            <a:off x="7908290" y="2834005"/>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文本框 32"/>
          <p:cNvSpPr txBox="1"/>
          <p:nvPr>
            <p:custDataLst>
              <p:tags r:id="rId20"/>
            </p:custDataLst>
          </p:nvPr>
        </p:nvSpPr>
        <p:spPr>
          <a:xfrm>
            <a:off x="281305" y="1654175"/>
            <a:ext cx="11562080" cy="812800"/>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50000"/>
              </a:lnSpc>
              <a:buClrTx/>
              <a:buSzTx/>
              <a:buNone/>
            </a:pPr>
            <a:r>
              <a:rPr lang="en-US" altLang="zh-CN" sz="1600" b="1" dirty="0">
                <a:latin typeface="微软雅黑" panose="020B0503020204020204" pitchFamily="34" charset="-122"/>
                <a:ea typeface="微软雅黑" panose="020B0503020204020204" pitchFamily="34" charset="-122"/>
              </a:rPr>
              <a:t>为打通自动化系统IT域和OT域，解决传统自动化系统</a:t>
            </a:r>
            <a:r>
              <a:rPr lang="en-US" altLang="zh-CN" sz="1600" b="1" dirty="0">
                <a:solidFill>
                  <a:srgbClr val="C00000"/>
                </a:solidFill>
                <a:latin typeface="微软雅黑" panose="020B0503020204020204" pitchFamily="34" charset="-122"/>
                <a:ea typeface="微软雅黑" panose="020B0503020204020204" pitchFamily="34" charset="-122"/>
              </a:rPr>
              <a:t>异构性</a:t>
            </a:r>
            <a:r>
              <a:rPr lang="en-US" altLang="zh-CN" sz="1600" b="1" dirty="0">
                <a:latin typeface="微软雅黑" panose="020B0503020204020204" pitchFamily="34" charset="-122"/>
                <a:ea typeface="微软雅黑" panose="020B0503020204020204" pitchFamily="34" charset="-122"/>
              </a:rPr>
              <a:t>问题，解决传统工业软件在</a:t>
            </a:r>
            <a:r>
              <a:rPr lang="en-US" altLang="zh-CN" sz="1600" b="1" dirty="0">
                <a:solidFill>
                  <a:srgbClr val="C00000"/>
                </a:solidFill>
                <a:latin typeface="微软雅黑" panose="020B0503020204020204" pitchFamily="34" charset="-122"/>
                <a:ea typeface="微软雅黑" panose="020B0503020204020204" pitchFamily="34" charset="-122"/>
              </a:rPr>
              <a:t>开发模式</a:t>
            </a:r>
            <a:r>
              <a:rPr lang="en-US" altLang="zh-CN" sz="1600" b="1" dirty="0">
                <a:latin typeface="微软雅黑" panose="020B0503020204020204" pitchFamily="34" charset="-122"/>
                <a:ea typeface="微软雅黑" panose="020B0503020204020204" pitchFamily="34" charset="-122"/>
              </a:rPr>
              <a:t>上不够灵活、在</a:t>
            </a:r>
            <a:r>
              <a:rPr lang="en-US" altLang="zh-CN" sz="1600" b="1" dirty="0">
                <a:solidFill>
                  <a:srgbClr val="C00000"/>
                </a:solidFill>
                <a:latin typeface="微软雅黑" panose="020B0503020204020204" pitchFamily="34" charset="-122"/>
                <a:ea typeface="微软雅黑" panose="020B0503020204020204" pitchFamily="34" charset="-122"/>
              </a:rPr>
              <a:t>系统架构</a:t>
            </a:r>
            <a:r>
              <a:rPr lang="en-US" altLang="zh-CN" sz="1600" b="1" dirty="0">
                <a:latin typeface="微软雅黑" panose="020B0503020204020204" pitchFamily="34" charset="-122"/>
                <a:ea typeface="微软雅黑" panose="020B0503020204020204" pitchFamily="34" charset="-122"/>
              </a:rPr>
              <a:t>上不易拓展、在用户体验上不够友好、以及难以处理</a:t>
            </a:r>
            <a:r>
              <a:rPr lang="en-US" altLang="zh-CN" sz="1600" b="1" dirty="0">
                <a:solidFill>
                  <a:srgbClr val="C00000"/>
                </a:solidFill>
                <a:latin typeface="微软雅黑" panose="020B0503020204020204" pitchFamily="34" charset="-122"/>
                <a:ea typeface="微软雅黑" panose="020B0503020204020204" pitchFamily="34" charset="-122"/>
              </a:rPr>
              <a:t>个性化、动态的生产环境</a:t>
            </a:r>
            <a:r>
              <a:rPr lang="en-US" altLang="zh-CN" sz="1600" b="1" dirty="0">
                <a:latin typeface="微软雅黑" panose="020B0503020204020204" pitchFamily="34" charset="-122"/>
                <a:ea typeface="微软雅黑" panose="020B0503020204020204" pitchFamily="34" charset="-122"/>
              </a:rPr>
              <a:t>的问题，提出一种</a:t>
            </a:r>
            <a:r>
              <a:rPr lang="en-US" altLang="zh-CN" sz="1600" b="1" dirty="0">
                <a:solidFill>
                  <a:srgbClr val="C00000"/>
                </a:solidFill>
                <a:latin typeface="微软雅黑" panose="020B0503020204020204" pitchFamily="34" charset="-122"/>
                <a:ea typeface="微软雅黑" panose="020B0503020204020204" pitchFamily="34" charset="-122"/>
              </a:rPr>
              <a:t>零代码</a:t>
            </a:r>
            <a:r>
              <a:rPr lang="en-US" altLang="zh-CN" sz="1600" b="1" dirty="0">
                <a:latin typeface="微软雅黑" panose="020B0503020204020204" pitchFamily="34" charset="-122"/>
                <a:ea typeface="微软雅黑" panose="020B0503020204020204" pitchFamily="34" charset="-122"/>
              </a:rPr>
              <a:t>的</a:t>
            </a:r>
            <a:r>
              <a:rPr lang="en-US" altLang="zh-CN" sz="1600" b="1" dirty="0">
                <a:solidFill>
                  <a:srgbClr val="C00000"/>
                </a:solidFill>
                <a:latin typeface="微软雅黑" panose="020B0503020204020204" pitchFamily="34" charset="-122"/>
                <a:ea typeface="微软雅黑" panose="020B0503020204020204" pitchFamily="34" charset="-122"/>
              </a:rPr>
              <a:t>工业APP构造方法</a:t>
            </a:r>
            <a:r>
              <a:rPr lang="en-US" altLang="zh-CN" sz="1600" b="1" dirty="0">
                <a:latin typeface="微软雅黑" panose="020B0503020204020204" pitchFamily="34" charset="-122"/>
                <a:ea typeface="微软雅黑" panose="020B0503020204020204" pitchFamily="34" charset="-122"/>
              </a:rPr>
              <a:t>。</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custDataLst>
              <p:tags r:id="rId1"/>
            </p:custDataLst>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custDataLst>
              <p:tags r:id="rId2"/>
            </p:custDataLst>
          </p:nvPr>
        </p:nvSpPr>
        <p:spPr>
          <a:xfrm>
            <a:off x="3231850"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custDataLst>
              <p:tags r:id="rId3"/>
            </p:custDataLst>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课题</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框架概述</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custDataLst>
              <p:tags r:id="rId4"/>
            </p:custDataLst>
          </p:nvPr>
        </p:nvSpPr>
        <p:spPr>
          <a:xfrm>
            <a:off x="5051349" y="215904"/>
            <a:ext cx="1344000"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技术路线</a:t>
            </a:r>
            <a:endParaRPr lang="zh-CN" altLang="en-US" sz="1600" b="1" dirty="0" smtClean="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9"/>
          <p:cNvSpPr txBox="1"/>
          <p:nvPr>
            <p:custDataLst>
              <p:tags r:id="rId5"/>
            </p:custDataLst>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已完成的工作</a:t>
            </a:r>
            <a:endParaRPr lang="zh-CN" altLang="en-US" sz="1600" b="1" dirty="0" smtClean="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custDataLst>
              <p:tags r:id="rId6"/>
            </p:custDataLst>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custDataLst>
              <p:tags r:id="rId7"/>
            </p:custDataLst>
          </p:nvPr>
        </p:nvPicPr>
        <p:blipFill>
          <a:blip r:embed="rId8"/>
          <a:stretch>
            <a:fillRect/>
          </a:stretch>
        </p:blipFill>
        <p:spPr>
          <a:xfrm>
            <a:off x="281305" y="0"/>
            <a:ext cx="2687955" cy="749300"/>
          </a:xfrm>
          <a:prstGeom prst="rect">
            <a:avLst/>
          </a:prstGeom>
          <a:noFill/>
        </p:spPr>
      </p:pic>
      <p:grpSp>
        <p:nvGrpSpPr>
          <p:cNvPr id="25" name="组合 24"/>
          <p:cNvGrpSpPr/>
          <p:nvPr>
            <p:custDataLst>
              <p:tags r:id="rId9"/>
            </p:custDataLst>
          </p:nvPr>
        </p:nvGrpSpPr>
        <p:grpSpPr>
          <a:xfrm>
            <a:off x="72390" y="1038225"/>
            <a:ext cx="1909445" cy="5375275"/>
            <a:chOff x="1763643" y="1731147"/>
            <a:chExt cx="1283075" cy="3668466"/>
          </a:xfrm>
        </p:grpSpPr>
        <p:sp>
          <p:nvSpPr>
            <p:cNvPr id="37" name="学论网-www.xuelun.me"/>
            <p:cNvSpPr/>
            <p:nvPr>
              <p:custDataLst>
                <p:tags r:id="rId10"/>
              </p:custDataLst>
            </p:nvPr>
          </p:nvSpPr>
          <p:spPr>
            <a:xfrm rot="5400000">
              <a:off x="1763643" y="1731147"/>
              <a:ext cx="1283075" cy="1283075"/>
            </a:xfrm>
            <a:prstGeom prst="blockArc">
              <a:avLst>
                <a:gd name="adj1" fmla="val 10800000"/>
                <a:gd name="adj2" fmla="val 149699"/>
                <a:gd name="adj3" fmla="val 698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学论网-www.xuelun.me"/>
            <p:cNvSpPr/>
            <p:nvPr>
              <p:custDataLst>
                <p:tags r:id="rId11"/>
              </p:custDataLst>
            </p:nvPr>
          </p:nvSpPr>
          <p:spPr>
            <a:xfrm rot="16200000" flipH="1">
              <a:off x="1763643" y="2922916"/>
              <a:ext cx="1283075" cy="1283075"/>
            </a:xfrm>
            <a:prstGeom prst="blockArc">
              <a:avLst>
                <a:gd name="adj1" fmla="val 10800000"/>
                <a:gd name="adj2" fmla="val 149699"/>
                <a:gd name="adj3" fmla="val 698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学论网-www.xuelun.me"/>
            <p:cNvSpPr/>
            <p:nvPr>
              <p:custDataLst>
                <p:tags r:id="rId12"/>
              </p:custDataLst>
            </p:nvPr>
          </p:nvSpPr>
          <p:spPr>
            <a:xfrm rot="5400000">
              <a:off x="1763643" y="4116538"/>
              <a:ext cx="1283075" cy="1283075"/>
            </a:xfrm>
            <a:prstGeom prst="blockArc">
              <a:avLst>
                <a:gd name="adj1" fmla="val 10800000"/>
                <a:gd name="adj2" fmla="val 149699"/>
                <a:gd name="adj3" fmla="val 698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1" name="学论网-www.xuelun.me"/>
          <p:cNvSpPr/>
          <p:nvPr>
            <p:custDataLst>
              <p:tags r:id="rId13"/>
            </p:custDataLst>
          </p:nvPr>
        </p:nvSpPr>
        <p:spPr>
          <a:xfrm>
            <a:off x="257175" y="1289685"/>
            <a:ext cx="1360805" cy="133985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latin typeface="微软雅黑" panose="020B0503020204020204" pitchFamily="34" charset="-122"/>
                <a:ea typeface="微软雅黑" panose="020B0503020204020204" pitchFamily="34" charset="-122"/>
              </a:rPr>
              <a:t>A.</a:t>
            </a:r>
            <a:endParaRPr lang="en-US" altLang="zh-CN" sz="3200" b="1" dirty="0" smtClean="0">
              <a:latin typeface="微软雅黑" panose="020B0503020204020204" pitchFamily="34" charset="-122"/>
              <a:ea typeface="微软雅黑" panose="020B0503020204020204" pitchFamily="34" charset="-122"/>
            </a:endParaRPr>
          </a:p>
        </p:txBody>
      </p:sp>
      <p:sp>
        <p:nvSpPr>
          <p:cNvPr id="42" name="学论网-www.xuelun.me"/>
          <p:cNvSpPr/>
          <p:nvPr>
            <p:custDataLst>
              <p:tags r:id="rId14"/>
            </p:custDataLst>
          </p:nvPr>
        </p:nvSpPr>
        <p:spPr>
          <a:xfrm>
            <a:off x="346710" y="3018155"/>
            <a:ext cx="1360805" cy="133985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latin typeface="微软雅黑" panose="020B0503020204020204" pitchFamily="34" charset="-122"/>
                <a:ea typeface="微软雅黑" panose="020B0503020204020204" pitchFamily="34" charset="-122"/>
              </a:rPr>
              <a:t>B.</a:t>
            </a:r>
            <a:endParaRPr lang="en-US" altLang="zh-CN" sz="3200" b="1" dirty="0" smtClean="0">
              <a:latin typeface="微软雅黑" panose="020B0503020204020204" pitchFamily="34" charset="-122"/>
              <a:ea typeface="微软雅黑" panose="020B0503020204020204" pitchFamily="34" charset="-122"/>
            </a:endParaRPr>
          </a:p>
        </p:txBody>
      </p:sp>
      <p:sp>
        <p:nvSpPr>
          <p:cNvPr id="43" name="学论网-www.xuelun.me"/>
          <p:cNvSpPr/>
          <p:nvPr>
            <p:custDataLst>
              <p:tags r:id="rId15"/>
            </p:custDataLst>
          </p:nvPr>
        </p:nvSpPr>
        <p:spPr>
          <a:xfrm>
            <a:off x="335915" y="4777740"/>
            <a:ext cx="1360805" cy="133985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latin typeface="微软雅黑" panose="020B0503020204020204" pitchFamily="34" charset="-122"/>
                <a:ea typeface="微软雅黑" panose="020B0503020204020204" pitchFamily="34" charset="-122"/>
              </a:rPr>
              <a:t>C.</a:t>
            </a:r>
            <a:endParaRPr lang="en-US" altLang="zh-CN" sz="3200" b="1" dirty="0" smtClean="0">
              <a:latin typeface="微软雅黑" panose="020B0503020204020204" pitchFamily="34" charset="-122"/>
              <a:ea typeface="微软雅黑" panose="020B0503020204020204" pitchFamily="34" charset="-122"/>
            </a:endParaRPr>
          </a:p>
        </p:txBody>
      </p:sp>
      <p:sp>
        <p:nvSpPr>
          <p:cNvPr id="45" name="学论网-www.xuelun.me"/>
          <p:cNvSpPr txBox="1"/>
          <p:nvPr>
            <p:custDataLst>
              <p:tags r:id="rId16"/>
            </p:custDataLst>
          </p:nvPr>
        </p:nvSpPr>
        <p:spPr>
          <a:xfrm>
            <a:off x="2165985" y="1344295"/>
            <a:ext cx="9109075" cy="1082040"/>
          </a:xfrm>
          <a:prstGeom prst="rect">
            <a:avLst/>
          </a:prstGeom>
          <a:noFill/>
          <a:ln>
            <a:noFill/>
          </a:ln>
        </p:spPr>
        <p:txBody>
          <a:bodyPr wrap="square" lIns="0" tIns="0" rIns="0" bIns="0" rtlCol="0">
            <a:noAutofit/>
          </a:bodyPr>
          <a:lstStyle/>
          <a:p>
            <a:pPr indent="406400" fontAlgn="auto">
              <a:lnSpc>
                <a:spcPct val="150000"/>
              </a:lnSpc>
              <a:extLst>
                <a:ext uri="{35155182-B16C-46BC-9424-99874614C6A1}">
                  <wpsdc:indentchars xmlns:wpsdc="http://www.wps.cn/officeDocument/2017/drawingmlCustomData" val="200" checksum="1740828767"/>
                </a:ext>
              </a:extLst>
            </a:pPr>
            <a:r>
              <a:rPr lang="zh-CN" altLang="en-US" sz="1600" b="1" dirty="0">
                <a:latin typeface="微软雅黑" panose="020B0503020204020204" pitchFamily="34" charset="-122"/>
                <a:ea typeface="微软雅黑" panose="020B0503020204020204" pitchFamily="34" charset="-122"/>
                <a:sym typeface="+mn-ea"/>
              </a:rPr>
              <a:t>实现</a:t>
            </a:r>
            <a:r>
              <a:rPr lang="zh-CN" altLang="en-US" sz="1600" b="1" dirty="0">
                <a:solidFill>
                  <a:srgbClr val="C00000"/>
                </a:solidFill>
                <a:latin typeface="微软雅黑" panose="020B0503020204020204" pitchFamily="34" charset="-122"/>
                <a:ea typeface="微软雅黑" panose="020B0503020204020204" pitchFamily="34" charset="-122"/>
                <a:sym typeface="+mn-ea"/>
              </a:rPr>
              <a:t>工业领域知识</a:t>
            </a:r>
            <a:r>
              <a:rPr lang="zh-CN" altLang="en-US" sz="1600" b="1" dirty="0">
                <a:latin typeface="微软雅黑" panose="020B0503020204020204" pitchFamily="34" charset="-122"/>
                <a:ea typeface="微软雅黑" panose="020B0503020204020204" pitchFamily="34" charset="-122"/>
                <a:sym typeface="+mn-ea"/>
              </a:rPr>
              <a:t>到</a:t>
            </a:r>
            <a:r>
              <a:rPr lang="zh-CN" altLang="en-US" sz="1600" b="1" dirty="0">
                <a:solidFill>
                  <a:srgbClr val="C00000"/>
                </a:solidFill>
                <a:latin typeface="微软雅黑" panose="020B0503020204020204" pitchFamily="34" charset="-122"/>
                <a:ea typeface="微软雅黑" panose="020B0503020204020204" pitchFamily="34" charset="-122"/>
                <a:sym typeface="+mn-ea"/>
              </a:rPr>
              <a:t>知识图谱</a:t>
            </a:r>
            <a:r>
              <a:rPr lang="en-US" altLang="zh-CN" sz="1600" b="1" dirty="0">
                <a:latin typeface="微软雅黑" panose="020B0503020204020204" pitchFamily="34" charset="-122"/>
                <a:ea typeface="微软雅黑" panose="020B0503020204020204" pitchFamily="34" charset="-122"/>
                <a:sym typeface="+mn-ea"/>
              </a:rPr>
              <a:t>的建模</a:t>
            </a:r>
            <a:endParaRPr lang="en-US" altLang="zh-CN" sz="1600" b="1" dirty="0">
              <a:latin typeface="微软雅黑" panose="020B0503020204020204" pitchFamily="34" charset="-122"/>
              <a:ea typeface="微软雅黑" panose="020B0503020204020204" pitchFamily="34" charset="-122"/>
              <a:sym typeface="+mn-ea"/>
            </a:endParaRPr>
          </a:p>
          <a:p>
            <a:pPr indent="406400" fontAlgn="auto">
              <a:lnSpc>
                <a:spcPct val="150000"/>
              </a:lnSpc>
              <a:extLst>
                <a:ext uri="{35155182-B16C-46BC-9424-99874614C6A1}">
                  <wpsdc:indentchars xmlns:wpsdc="http://www.wps.cn/officeDocument/2017/drawingmlCustomData" val="200" checksum="1740828767"/>
                </a:ext>
              </a:extLst>
            </a:pPr>
            <a:r>
              <a:rPr lang="zh-CN" sz="1600" dirty="0">
                <a:solidFill>
                  <a:schemeClr val="tx1">
                    <a:lumMod val="65000"/>
                    <a:lumOff val="35000"/>
                  </a:schemeClr>
                </a:solidFill>
                <a:latin typeface="微软雅黑" panose="020B0503020204020204" pitchFamily="34" charset="-122"/>
                <a:ea typeface="微软雅黑" panose="020B0503020204020204" pitchFamily="34" charset="-122"/>
              </a:rPr>
              <a:t>开发一个算法流程能够使得利用现有的数据</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如工业设备数据帧等</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自动构建知识图谱，并转换成</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OWL</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本体</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文件</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0" name="学论网-www.xuelun.me"/>
          <p:cNvSpPr txBox="1"/>
          <p:nvPr>
            <p:custDataLst>
              <p:tags r:id="rId17"/>
            </p:custDataLst>
          </p:nvPr>
        </p:nvSpPr>
        <p:spPr>
          <a:xfrm>
            <a:off x="2165985" y="3125470"/>
            <a:ext cx="9109075" cy="1082040"/>
          </a:xfrm>
          <a:prstGeom prst="rect">
            <a:avLst/>
          </a:prstGeom>
          <a:noFill/>
          <a:ln>
            <a:noFill/>
          </a:ln>
        </p:spPr>
        <p:txBody>
          <a:bodyPr wrap="square" lIns="0" tIns="0" rIns="0" bIns="0" rtlCol="0">
            <a:noAutofit/>
          </a:bodyPr>
          <a:lstStyle/>
          <a:p>
            <a:pPr marL="0" lvl="2" indent="406400" fontAlgn="auto">
              <a:lnSpc>
                <a:spcPct val="150000"/>
              </a:lnSpc>
              <a:extLst>
                <a:ext uri="{35155182-B16C-46BC-9424-99874614C6A1}">
                  <wpsdc:indentchars xmlns:wpsdc="http://www.wps.cn/officeDocument/2017/drawingmlCustomData" val="200" checksum="1740828767"/>
                </a:ext>
              </a:extLst>
            </a:pPr>
            <a:r>
              <a:rPr lang="zh-CN" altLang="en-US" sz="1600" b="1" dirty="0">
                <a:latin typeface="微软雅黑" panose="020B0503020204020204" pitchFamily="34" charset="-122"/>
                <a:ea typeface="微软雅黑" panose="020B0503020204020204" pitchFamily="34" charset="-122"/>
                <a:sym typeface="+mn-ea"/>
              </a:rPr>
              <a:t>支持搭建多源异构工业APP的</a:t>
            </a:r>
            <a:r>
              <a:rPr lang="zh-CN" altLang="en-US" sz="1600" b="1" dirty="0">
                <a:solidFill>
                  <a:srgbClr val="C00000"/>
                </a:solidFill>
                <a:latin typeface="微软雅黑" panose="020B0503020204020204" pitchFamily="34" charset="-122"/>
                <a:ea typeface="微软雅黑" panose="020B0503020204020204" pitchFamily="34" charset="-122"/>
                <a:sym typeface="+mn-ea"/>
              </a:rPr>
              <a:t>零代码开发工具</a:t>
            </a:r>
            <a:endParaRPr lang="zh-CN" altLang="en-US" sz="1600" b="1" dirty="0">
              <a:solidFill>
                <a:srgbClr val="C00000"/>
              </a:solidFill>
              <a:latin typeface="微软雅黑" panose="020B0503020204020204" pitchFamily="34" charset="-122"/>
              <a:ea typeface="微软雅黑" panose="020B0503020204020204" pitchFamily="34" charset="-122"/>
              <a:sym typeface="+mn-ea"/>
            </a:endParaRPr>
          </a:p>
          <a:p>
            <a:pPr indent="406400" fontAlgn="auto">
              <a:lnSpc>
                <a:spcPct val="150000"/>
              </a:lnSpc>
              <a:extLst>
                <a:ext uri="{35155182-B16C-46BC-9424-99874614C6A1}">
                  <wpsdc:indentchars xmlns:wpsdc="http://www.wps.cn/officeDocument/2017/drawingmlCustomData" val="200" checksum="1740828767"/>
                </a:ext>
              </a:extLst>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将</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OWL</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本体文件生成为</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OPC UA</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信息模型合规</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XML</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文件和零代码平台组件</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schema</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，并利用</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XML</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文件搭建</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OPC UA</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服务器地址空间的数据模型；利用</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schema</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生成零代码</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平台组件</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2" name="学论网-www.xuelun.me"/>
          <p:cNvSpPr txBox="1"/>
          <p:nvPr>
            <p:custDataLst>
              <p:tags r:id="rId18"/>
            </p:custDataLst>
          </p:nvPr>
        </p:nvSpPr>
        <p:spPr>
          <a:xfrm>
            <a:off x="2165985" y="4906645"/>
            <a:ext cx="9109075" cy="1082040"/>
          </a:xfrm>
          <a:prstGeom prst="rect">
            <a:avLst/>
          </a:prstGeom>
          <a:noFill/>
          <a:ln>
            <a:noFill/>
          </a:ln>
        </p:spPr>
        <p:txBody>
          <a:bodyPr wrap="square" lIns="0" tIns="0" rIns="0" bIns="0" rtlCol="0">
            <a:noAutofit/>
          </a:bodyPr>
          <a:lstStyle/>
          <a:p>
            <a:pPr marL="0" lvl="2" indent="406400" fontAlgn="auto">
              <a:lnSpc>
                <a:spcPct val="150000"/>
              </a:lnSpc>
              <a:extLst>
                <a:ext uri="{35155182-B16C-46BC-9424-99874614C6A1}">
                  <wpsdc:indentchars xmlns:wpsdc="http://www.wps.cn/officeDocument/2017/drawingmlCustomData" val="200" checksum="1740828767"/>
                </a:ext>
              </a:extLst>
            </a:pPr>
            <a:r>
              <a:rPr lang="zh-CN" altLang="en-US" sz="1600" b="1" dirty="0">
                <a:latin typeface="微软雅黑" panose="020B0503020204020204" pitchFamily="34" charset="-122"/>
                <a:ea typeface="微软雅黑" panose="020B0503020204020204" pitchFamily="34" charset="-122"/>
                <a:sym typeface="+mn-ea"/>
              </a:rPr>
              <a:t>搭建判断用户需求合规的</a:t>
            </a:r>
            <a:r>
              <a:rPr lang="zh-CN" altLang="en-US" sz="1600" b="1" dirty="0">
                <a:solidFill>
                  <a:srgbClr val="C00000"/>
                </a:solidFill>
                <a:latin typeface="微软雅黑" panose="020B0503020204020204" pitchFamily="34" charset="-122"/>
                <a:ea typeface="微软雅黑" panose="020B0503020204020204" pitchFamily="34" charset="-122"/>
                <a:sym typeface="+mn-ea"/>
              </a:rPr>
              <a:t>可信验证框架</a:t>
            </a:r>
            <a:endParaRPr lang="zh-CN" altLang="en-US" sz="1600" b="1" dirty="0">
              <a:solidFill>
                <a:srgbClr val="C00000"/>
              </a:solidFill>
              <a:latin typeface="微软雅黑" panose="020B0503020204020204" pitchFamily="34" charset="-122"/>
              <a:ea typeface="微软雅黑" panose="020B0503020204020204" pitchFamily="34" charset="-122"/>
            </a:endParaRPr>
          </a:p>
          <a:p>
            <a:pPr indent="406400" fontAlgn="auto">
              <a:lnSpc>
                <a:spcPct val="150000"/>
              </a:lnSpc>
              <a:extLst>
                <a:ext uri="{35155182-B16C-46BC-9424-99874614C6A1}">
                  <wpsdc:indentchars xmlns:wpsdc="http://www.wps.cn/officeDocument/2017/drawingmlCustomData" val="200" checksum="1740828767"/>
                </a:ext>
              </a:extLst>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上述研究以输入为驱动，可信验证框架将实现对生成代码可行性进行判定，主要分为三个部分：静态验证，动态验证和工业语义验证，并在此基础上</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进行反馈优化，集成大模型语言等工具提供修复建议和逻辑改进。</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a:p>
            <a:pPr indent="406400" fontAlgn="auto">
              <a:lnSpc>
                <a:spcPct val="150000"/>
              </a:lnSpc>
              <a:extLst>
                <a:ext uri="{35155182-B16C-46BC-9424-99874614C6A1}">
                  <wpsdc:indentchars xmlns:wpsdc="http://www.wps.cn/officeDocument/2017/drawingmlCustomData" val="200" checksum="1740828767"/>
                </a:ext>
              </a:extLst>
            </a:pP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6" grpId="0"/>
      <p:bldP spid="41" grpId="0" bldLvl="0" animBg="1"/>
      <p:bldP spid="42" grpId="0" bldLvl="0" animBg="1"/>
      <p:bldP spid="43" grpId="0" bldLvl="0" animBg="1"/>
      <p:bldP spid="45" grpId="0"/>
      <p:bldP spid="30" grpId="0"/>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196340" cy="460375"/>
          </a:xfrm>
          <a:prstGeom prst="rect">
            <a:avLst/>
          </a:prstGeom>
          <a:noFill/>
        </p:spPr>
        <p:txBody>
          <a:bodyPr wrap="none" rtlCol="0">
            <a:spAutoFit/>
          </a:bodyPr>
          <a:lstStyle/>
          <a:p>
            <a:r>
              <a:rPr lang="en-US" altLang="zh-CN" sz="2400" dirty="0" smtClean="0">
                <a:solidFill>
                  <a:srgbClr val="0070C0"/>
                </a:solidFill>
                <a:latin typeface="微软雅黑" panose="020B0503020204020204" pitchFamily="34" charset="-122"/>
                <a:ea typeface="微软雅黑" panose="020B0503020204020204" pitchFamily="34" charset="-122"/>
              </a:rPr>
              <a:t>Part.02</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latin typeface="微软雅黑" panose="020B0503020204020204" pitchFamily="34" charset="-122"/>
                <a:ea typeface="微软雅黑" panose="020B0503020204020204" pitchFamily="34" charset="-122"/>
              </a:rPr>
              <a:t>技术路线</a:t>
            </a:r>
            <a:endParaRPr lang="zh-CN" altLang="en-US" sz="4000" b="1" spc="600" dirty="0">
              <a:solidFill>
                <a:srgbClr val="0070C0"/>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91345" y="1592254"/>
            <a:ext cx="3943455" cy="92293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3" grpId="0" bldLvl="0" animBg="1"/>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课题</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52695" y="215900"/>
            <a:ext cx="1344295" cy="347980"/>
          </a:xfrm>
          <a:prstGeom prst="rect">
            <a:avLst/>
          </a:prstGeom>
          <a:noFill/>
        </p:spPr>
        <p:txBody>
          <a:bodyPr wrap="square" lIns="0" tIns="48000" rIns="0" bIns="48000" rtlCol="0">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技术路线</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已完成的工作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nvPicPr>
        <p:blipFill>
          <a:blip r:embed="rId1"/>
          <a:stretch>
            <a:fillRect/>
          </a:stretch>
        </p:blipFill>
        <p:spPr>
          <a:xfrm>
            <a:off x="281305" y="0"/>
            <a:ext cx="2687955" cy="749300"/>
          </a:xfrm>
          <a:prstGeom prst="rect">
            <a:avLst/>
          </a:prstGeom>
          <a:noFill/>
        </p:spPr>
      </p:pic>
      <p:sp>
        <p:nvSpPr>
          <p:cNvPr id="32" name="文本框 31"/>
          <p:cNvSpPr txBox="1"/>
          <p:nvPr>
            <p:custDataLst>
              <p:tags r:id="rId2"/>
            </p:custDataLst>
          </p:nvPr>
        </p:nvSpPr>
        <p:spPr>
          <a:xfrm>
            <a:off x="403225" y="1119505"/>
            <a:ext cx="400685" cy="3235960"/>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altLang="en-US" sz="1600" b="1" dirty="0">
                <a:latin typeface="微软雅黑" panose="020B0503020204020204" pitchFamily="34" charset="-122"/>
                <a:ea typeface="微软雅黑" panose="020B0503020204020204" pitchFamily="34" charset="-122"/>
                <a:sym typeface="+mn-ea"/>
              </a:rPr>
              <a:t>关键技术难点与</a:t>
            </a:r>
            <a:r>
              <a:rPr lang="zh-CN" altLang="en-US" sz="1600" b="1" dirty="0">
                <a:latin typeface="微软雅黑" panose="020B0503020204020204" pitchFamily="34" charset="-122"/>
                <a:ea typeface="微软雅黑" panose="020B0503020204020204" pitchFamily="34" charset="-122"/>
                <a:sym typeface="+mn-ea"/>
              </a:rPr>
              <a:t>解决方案</a:t>
            </a:r>
            <a:endParaRPr lang="zh-CN" altLang="en-US" sz="1600" b="1" dirty="0">
              <a:latin typeface="微软雅黑" panose="020B0503020204020204" pitchFamily="34" charset="-122"/>
              <a:ea typeface="微软雅黑" panose="020B0503020204020204" pitchFamily="34" charset="-122"/>
              <a:sym typeface="+mn-ea"/>
            </a:endParaRPr>
          </a:p>
        </p:txBody>
      </p:sp>
      <p:sp>
        <p:nvSpPr>
          <p:cNvPr id="14" name="学论网-矩形 1"/>
          <p:cNvSpPr/>
          <p:nvPr>
            <p:custDataLst>
              <p:tags r:id="rId3"/>
            </p:custDataLst>
          </p:nvPr>
        </p:nvSpPr>
        <p:spPr>
          <a:xfrm>
            <a:off x="949325" y="1119505"/>
            <a:ext cx="10246360" cy="323596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16" name="学论网-www.xuelun.me"/>
          <p:cNvSpPr txBox="1"/>
          <p:nvPr>
            <p:custDataLst>
              <p:tags r:id="rId4"/>
            </p:custDataLst>
          </p:nvPr>
        </p:nvSpPr>
        <p:spPr>
          <a:xfrm>
            <a:off x="1005840" y="1210945"/>
            <a:ext cx="10081895" cy="3015615"/>
          </a:xfrm>
          <a:prstGeom prst="rect">
            <a:avLst/>
          </a:prstGeom>
          <a:noFill/>
          <a:ln>
            <a:noFill/>
          </a:ln>
        </p:spPr>
        <p:txBody>
          <a:bodyPr wrap="square" lIns="0" tIns="0" rIns="0" bIns="0" rtlCol="0">
            <a:noAutofit/>
          </a:bodyPr>
          <a:lstStyle/>
          <a:p>
            <a:pPr indent="457200" algn="l" fontAlgn="auto">
              <a:lnSpc>
                <a:spcPct val="150000"/>
              </a:lnSpc>
              <a:buClrTx/>
              <a:buSzTx/>
              <a:buFontTx/>
            </a:pP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问题</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：工业协议缩写多，语义</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难理解</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采用字符级词</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embedding</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，非传统词级</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embedding</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，直接捕捉</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缩写特征。</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问题</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：新设备接入时</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字段未知</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利用开放世界知识补全</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ComplEx</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模型，根据上下文语义预测新字段的</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归属</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问题</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：零代码</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平台组件与</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数据解耦</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引入</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OPC UA</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信息模型作为中间标准层，实现异构数据</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标准模型</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通用组件的</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解耦</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问题</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：自动生成的应用代码不</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可靠</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引入静态</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动态可信验证框架，确保逻辑正确性和</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类型安全</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文本框 16"/>
          <p:cNvSpPr txBox="1"/>
          <p:nvPr>
            <p:custDataLst>
              <p:tags r:id="rId5"/>
            </p:custDataLst>
          </p:nvPr>
        </p:nvSpPr>
        <p:spPr>
          <a:xfrm>
            <a:off x="403225" y="4666615"/>
            <a:ext cx="400685" cy="1842135"/>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altLang="en-US" sz="1600" b="1" dirty="0">
                <a:latin typeface="微软雅黑" panose="020B0503020204020204" pitchFamily="34" charset="-122"/>
                <a:ea typeface="微软雅黑" panose="020B0503020204020204" pitchFamily="34" charset="-122"/>
                <a:sym typeface="+mn-ea"/>
              </a:rPr>
              <a:t>关键</a:t>
            </a:r>
            <a:r>
              <a:rPr lang="zh-CN" altLang="en-US" sz="1600" b="1" dirty="0">
                <a:latin typeface="微软雅黑" panose="020B0503020204020204" pitchFamily="34" charset="-122"/>
                <a:ea typeface="微软雅黑" panose="020B0503020204020204" pitchFamily="34" charset="-122"/>
                <a:sym typeface="+mn-ea"/>
              </a:rPr>
              <a:t>技术路线</a:t>
            </a:r>
            <a:endParaRPr lang="zh-CN" altLang="en-US" sz="1600" b="1" dirty="0">
              <a:latin typeface="微软雅黑" panose="020B0503020204020204" pitchFamily="34" charset="-122"/>
              <a:ea typeface="微软雅黑" panose="020B0503020204020204" pitchFamily="34" charset="-122"/>
              <a:sym typeface="+mn-ea"/>
            </a:endParaRPr>
          </a:p>
        </p:txBody>
      </p:sp>
      <p:sp>
        <p:nvSpPr>
          <p:cNvPr id="18" name="学论网-矩形 1"/>
          <p:cNvSpPr/>
          <p:nvPr>
            <p:custDataLst>
              <p:tags r:id="rId6"/>
            </p:custDataLst>
          </p:nvPr>
        </p:nvSpPr>
        <p:spPr>
          <a:xfrm>
            <a:off x="949325" y="4703445"/>
            <a:ext cx="10246360" cy="180657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2" name="文本框 1"/>
          <p:cNvSpPr txBox="1"/>
          <p:nvPr>
            <p:custDataLst>
              <p:tags r:id="rId7"/>
            </p:custDataLst>
          </p:nvPr>
        </p:nvSpPr>
        <p:spPr>
          <a:xfrm>
            <a:off x="1099185" y="5214620"/>
            <a:ext cx="1939925" cy="922020"/>
          </a:xfrm>
          <a:prstGeom prst="rect">
            <a:avLst/>
          </a:prstGeom>
          <a:solidFill>
            <a:schemeClr val="accent5">
              <a:lumMod val="40000"/>
              <a:lumOff val="60000"/>
            </a:schemeClr>
          </a:solidFill>
          <a:ln w="12700">
            <a:noFill/>
          </a:ln>
        </p:spPr>
        <p:txBody>
          <a:bodyPr wrap="square" rtlCol="0" anchor="ctr" anchorCtr="0">
            <a:sp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rPr>
              <a:t>字符</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embedding做实体识别，判断基本</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设备类型</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7" name="下箭头 76"/>
          <p:cNvSpPr/>
          <p:nvPr/>
        </p:nvSpPr>
        <p:spPr>
          <a:xfrm rot="16200000">
            <a:off x="8641715" y="5433695"/>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custDataLst>
              <p:tags r:id="rId8"/>
            </p:custDataLst>
          </p:nvPr>
        </p:nvSpPr>
        <p:spPr>
          <a:xfrm>
            <a:off x="9035415" y="5347970"/>
            <a:ext cx="1939925" cy="645160"/>
          </a:xfrm>
          <a:prstGeom prst="rect">
            <a:avLst/>
          </a:prstGeom>
          <a:solidFill>
            <a:schemeClr val="accent5">
              <a:lumMod val="40000"/>
              <a:lumOff val="60000"/>
            </a:schemeClr>
          </a:solidFill>
          <a:ln w="12700">
            <a:noFill/>
          </a:ln>
        </p:spPr>
        <p:txBody>
          <a:bodyPr wrap="square" rtlCol="0" anchor="ctr" anchorCtr="0">
            <a:sp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基于知识图谱的组件实例化</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文本框 6"/>
          <p:cNvSpPr txBox="1"/>
          <p:nvPr>
            <p:custDataLst>
              <p:tags r:id="rId9"/>
            </p:custDataLst>
          </p:nvPr>
        </p:nvSpPr>
        <p:spPr>
          <a:xfrm>
            <a:off x="3744595" y="5211445"/>
            <a:ext cx="1939925" cy="934720"/>
          </a:xfrm>
          <a:prstGeom prst="rect">
            <a:avLst/>
          </a:prstGeom>
          <a:solidFill>
            <a:schemeClr val="accent5">
              <a:lumMod val="40000"/>
              <a:lumOff val="60000"/>
            </a:schemeClr>
          </a:solidFill>
          <a:ln w="12700">
            <a:noFill/>
          </a:ln>
        </p:spPr>
        <p:txBody>
          <a:bodyPr wrap="square" rtlCol="0" anchor="ctr" anchorCtr="0">
            <a:no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字符向量</a:t>
            </a:r>
            <a:endParaRPr lang="en-US" altLang="zh-CN">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KG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向量</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3" name="文本框 32"/>
          <p:cNvSpPr txBox="1"/>
          <p:nvPr>
            <p:custDataLst>
              <p:tags r:id="rId10"/>
            </p:custDataLst>
          </p:nvPr>
        </p:nvSpPr>
        <p:spPr>
          <a:xfrm>
            <a:off x="6390005" y="5211445"/>
            <a:ext cx="1939925" cy="925830"/>
          </a:xfrm>
          <a:prstGeom prst="rect">
            <a:avLst/>
          </a:prstGeom>
          <a:solidFill>
            <a:schemeClr val="accent5">
              <a:lumMod val="40000"/>
              <a:lumOff val="60000"/>
            </a:schemeClr>
          </a:solidFill>
          <a:ln w="12700">
            <a:noFill/>
          </a:ln>
        </p:spPr>
        <p:txBody>
          <a:bodyPr wrap="square" rtlCol="0" anchor="ctr" anchorCtr="0">
            <a:no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ComplEx对每个未知</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tail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做头节点预测</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 name="下箭头 33"/>
          <p:cNvSpPr/>
          <p:nvPr/>
        </p:nvSpPr>
        <p:spPr>
          <a:xfrm rot="16200000">
            <a:off x="5996305" y="547878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下箭头 34"/>
          <p:cNvSpPr/>
          <p:nvPr/>
        </p:nvSpPr>
        <p:spPr>
          <a:xfrm rot="16200000">
            <a:off x="3350895" y="547370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课题</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52695" y="215900"/>
            <a:ext cx="1344295" cy="347980"/>
          </a:xfrm>
          <a:prstGeom prst="rect">
            <a:avLst/>
          </a:prstGeom>
          <a:noFill/>
        </p:spPr>
        <p:txBody>
          <a:bodyPr wrap="square" lIns="0" tIns="48000" rIns="0" bIns="48000" rtlCol="0">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技术路线</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已完成的工作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nvPicPr>
        <p:blipFill>
          <a:blip r:embed="rId1"/>
          <a:stretch>
            <a:fillRect/>
          </a:stretch>
        </p:blipFill>
        <p:spPr>
          <a:xfrm>
            <a:off x="281305" y="0"/>
            <a:ext cx="2687955" cy="749300"/>
          </a:xfrm>
          <a:prstGeom prst="rect">
            <a:avLst/>
          </a:prstGeom>
          <a:noFill/>
        </p:spPr>
      </p:pic>
      <p:sp>
        <p:nvSpPr>
          <p:cNvPr id="54" name="学论网-矩形 1"/>
          <p:cNvSpPr/>
          <p:nvPr>
            <p:custDataLst>
              <p:tags r:id="rId2"/>
            </p:custDataLst>
          </p:nvPr>
        </p:nvSpPr>
        <p:spPr>
          <a:xfrm>
            <a:off x="224790" y="949325"/>
            <a:ext cx="3460115" cy="134874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7" name="学论网-www.xuelun.me"/>
          <p:cNvSpPr txBox="1"/>
          <p:nvPr>
            <p:custDataLst>
              <p:tags r:id="rId3"/>
            </p:custDataLst>
          </p:nvPr>
        </p:nvSpPr>
        <p:spPr>
          <a:xfrm>
            <a:off x="281305" y="1040765"/>
            <a:ext cx="3329305" cy="1183005"/>
          </a:xfrm>
          <a:prstGeom prst="rect">
            <a:avLst/>
          </a:prstGeom>
          <a:noFill/>
          <a:ln>
            <a:noFill/>
          </a:ln>
        </p:spPr>
        <p:txBody>
          <a:bodyPr wrap="square" lIns="0" tIns="0" rIns="0" bIns="0" rtlCol="0">
            <a:noAutofit/>
          </a:bodyPr>
          <a:lstStyle/>
          <a:p>
            <a:pPr indent="457200" algn="l" fontAlgn="auto">
              <a:lnSpc>
                <a:spcPct val="150000"/>
              </a:lnSpc>
              <a:buClrTx/>
              <a:buSzTx/>
              <a:buFontTx/>
            </a:pPr>
            <a:r>
              <a:rPr lang="zh-CN" sz="1600" b="1">
                <a:latin typeface="微软雅黑" panose="020B0503020204020204" pitchFamily="34" charset="-122"/>
                <a:ea typeface="微软雅黑" panose="020B0503020204020204" pitchFamily="34" charset="-122"/>
                <a:cs typeface="微软雅黑" panose="020B0503020204020204" pitchFamily="34" charset="-122"/>
                <a:sym typeface="+mn-ea"/>
              </a:rPr>
              <a:t>问题形式化：</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如何将</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工业设备数据帧转化为知识图谱并基于现有非结构化内容完成</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知识图谱的</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搭建。</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 name="C9F754DE-2CAD-44b6-B708-469DEB6407EB-1" descr="C:/Users/hebgy/AppData/Local/Temp/wpp.NiulRnwpp"/>
          <p:cNvPicPr>
            <a:picLocks noChangeAspect="1"/>
          </p:cNvPicPr>
          <p:nvPr/>
        </p:nvPicPr>
        <p:blipFill>
          <a:blip r:embed="rId4"/>
          <a:stretch>
            <a:fillRect/>
          </a:stretch>
        </p:blipFill>
        <p:spPr>
          <a:xfrm>
            <a:off x="225425" y="2701290"/>
            <a:ext cx="3501390" cy="2256790"/>
          </a:xfrm>
          <a:prstGeom prst="rect">
            <a:avLst/>
          </a:prstGeom>
        </p:spPr>
      </p:pic>
      <p:sp>
        <p:nvSpPr>
          <p:cNvPr id="70" name="文本框 69"/>
          <p:cNvSpPr txBox="1"/>
          <p:nvPr>
            <p:custDataLst>
              <p:tags r:id="rId5"/>
            </p:custDataLst>
          </p:nvPr>
        </p:nvSpPr>
        <p:spPr>
          <a:xfrm>
            <a:off x="4220210" y="1175385"/>
            <a:ext cx="2701290" cy="368300"/>
          </a:xfrm>
          <a:prstGeom prst="rect">
            <a:avLst/>
          </a:prstGeom>
          <a:solidFill>
            <a:schemeClr val="accent5">
              <a:lumMod val="40000"/>
              <a:lumOff val="60000"/>
            </a:schemeClr>
          </a:solidFill>
          <a:ln w="12700">
            <a:noFill/>
          </a:ln>
        </p:spPr>
        <p:txBody>
          <a:bodyPr wrap="square" rtlCol="0">
            <a:spAutoFit/>
          </a:bodyPr>
          <a:p>
            <a:pPr algn="ctr"/>
            <a:r>
              <a:rPr lang="zh-CN" altLang="en-US"/>
              <a:t>预处理阶段拆分</a:t>
            </a:r>
            <a:r>
              <a:rPr lang="zh-CN" altLang="en-US"/>
              <a:t>字符序列</a:t>
            </a:r>
            <a:endParaRPr lang="zh-CN" altLang="en-US"/>
          </a:p>
        </p:txBody>
      </p:sp>
      <p:sp>
        <p:nvSpPr>
          <p:cNvPr id="71" name="文本框 70"/>
          <p:cNvSpPr txBox="1"/>
          <p:nvPr>
            <p:custDataLst>
              <p:tags r:id="rId6"/>
            </p:custDataLst>
          </p:nvPr>
        </p:nvSpPr>
        <p:spPr>
          <a:xfrm>
            <a:off x="4220210" y="2220595"/>
            <a:ext cx="2701290" cy="368300"/>
          </a:xfrm>
          <a:prstGeom prst="rect">
            <a:avLst/>
          </a:prstGeom>
          <a:solidFill>
            <a:schemeClr val="accent5">
              <a:lumMod val="40000"/>
              <a:lumOff val="60000"/>
            </a:schemeClr>
          </a:solidFill>
          <a:ln w="12700">
            <a:noFill/>
          </a:ln>
        </p:spPr>
        <p:txBody>
          <a:bodyPr wrap="square" rtlCol="0">
            <a:spAutoFit/>
          </a:bodyPr>
          <a:p>
            <a:pPr algn="ctr"/>
            <a:r>
              <a:rPr lang="zh-CN" altLang="en-US"/>
              <a:t>多通道卷积提取</a:t>
            </a:r>
            <a:r>
              <a:rPr lang="zh-CN" altLang="en-US"/>
              <a:t>局部特征</a:t>
            </a:r>
            <a:endParaRPr lang="zh-CN" altLang="en-US"/>
          </a:p>
        </p:txBody>
      </p:sp>
      <p:sp>
        <p:nvSpPr>
          <p:cNvPr id="72" name="文本框 71"/>
          <p:cNvSpPr txBox="1"/>
          <p:nvPr>
            <p:custDataLst>
              <p:tags r:id="rId7"/>
            </p:custDataLst>
          </p:nvPr>
        </p:nvSpPr>
        <p:spPr>
          <a:xfrm>
            <a:off x="4220210" y="3265170"/>
            <a:ext cx="2700655" cy="368300"/>
          </a:xfrm>
          <a:prstGeom prst="rect">
            <a:avLst/>
          </a:prstGeom>
          <a:solidFill>
            <a:schemeClr val="accent5">
              <a:lumMod val="40000"/>
              <a:lumOff val="60000"/>
            </a:schemeClr>
          </a:solidFill>
          <a:ln w="12700">
            <a:noFill/>
          </a:ln>
        </p:spPr>
        <p:txBody>
          <a:bodyPr wrap="square" rtlCol="0">
            <a:spAutoFit/>
          </a:bodyPr>
          <a:p>
            <a:pPr algn="ctr"/>
            <a:r>
              <a:rPr lang="zh-CN" altLang="en-US"/>
              <a:t>池化固定输出</a:t>
            </a:r>
            <a:r>
              <a:rPr lang="zh-CN" altLang="en-US"/>
              <a:t>长度</a:t>
            </a:r>
            <a:endParaRPr lang="zh-CN" altLang="en-US"/>
          </a:p>
        </p:txBody>
      </p:sp>
      <p:sp>
        <p:nvSpPr>
          <p:cNvPr id="3" name="下箭头 2"/>
          <p:cNvSpPr/>
          <p:nvPr/>
        </p:nvSpPr>
        <p:spPr>
          <a:xfrm>
            <a:off x="5528310" y="1704975"/>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8" name="下箭头 77"/>
          <p:cNvSpPr/>
          <p:nvPr/>
        </p:nvSpPr>
        <p:spPr>
          <a:xfrm>
            <a:off x="5528310" y="2750185"/>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3" name="学论网-矩形 1"/>
          <p:cNvSpPr/>
          <p:nvPr>
            <p:custDataLst>
              <p:tags r:id="rId8"/>
            </p:custDataLst>
          </p:nvPr>
        </p:nvSpPr>
        <p:spPr>
          <a:xfrm>
            <a:off x="4095750" y="992505"/>
            <a:ext cx="2961640" cy="396557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74" name="文本框 73"/>
          <p:cNvSpPr txBox="1"/>
          <p:nvPr>
            <p:custDataLst>
              <p:tags r:id="rId9"/>
            </p:custDataLst>
          </p:nvPr>
        </p:nvSpPr>
        <p:spPr>
          <a:xfrm>
            <a:off x="4220845" y="4311015"/>
            <a:ext cx="2700655" cy="368300"/>
          </a:xfrm>
          <a:prstGeom prst="rect">
            <a:avLst/>
          </a:prstGeom>
          <a:solidFill>
            <a:schemeClr val="accent5">
              <a:lumMod val="40000"/>
              <a:lumOff val="60000"/>
            </a:schemeClr>
          </a:solidFill>
          <a:ln w="12700">
            <a:noFill/>
          </a:ln>
        </p:spPr>
        <p:txBody>
          <a:bodyPr wrap="square" rtlCol="0">
            <a:spAutoFit/>
          </a:bodyPr>
          <a:p>
            <a:pPr algn="ctr"/>
            <a:r>
              <a:rPr lang="en-US" altLang="zh-CN"/>
              <a:t>Softmax</a:t>
            </a:r>
            <a:r>
              <a:rPr lang="zh-CN" altLang="en-US"/>
              <a:t>分类</a:t>
            </a:r>
            <a:endParaRPr lang="zh-CN" altLang="en-US"/>
          </a:p>
        </p:txBody>
      </p:sp>
      <p:sp>
        <p:nvSpPr>
          <p:cNvPr id="75" name="下箭头 74"/>
          <p:cNvSpPr/>
          <p:nvPr/>
        </p:nvSpPr>
        <p:spPr>
          <a:xfrm>
            <a:off x="5528945" y="379603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3458845" y="5126355"/>
            <a:ext cx="4235450" cy="379730"/>
          </a:xfrm>
          <a:prstGeom prst="rect">
            <a:avLst/>
          </a:prstGeom>
          <a:noFill/>
        </p:spPr>
        <p:txBody>
          <a:bodyPr wrap="square" rtlCol="0" anchor="t">
            <a:noAutofit/>
          </a:bodyPr>
          <a:p>
            <a:pPr algn="ctr"/>
            <a:r>
              <a:rPr lang="zh-CN">
                <a:latin typeface="微软雅黑" panose="020B0503020204020204" pitchFamily="34" charset="-122"/>
                <a:ea typeface="微软雅黑" panose="020B0503020204020204" pitchFamily="34" charset="-122"/>
                <a:cs typeface="微软雅黑" panose="020B0503020204020204" pitchFamily="34" charset="-122"/>
                <a:sym typeface="+mn-ea"/>
              </a:rPr>
              <a:t>字符级</a:t>
            </a:r>
            <a:r>
              <a:rPr>
                <a:latin typeface="微软雅黑" panose="020B0503020204020204" pitchFamily="34" charset="-122"/>
                <a:ea typeface="微软雅黑" panose="020B0503020204020204" pitchFamily="34" charset="-122"/>
                <a:cs typeface="微软雅黑" panose="020B0503020204020204" pitchFamily="34" charset="-122"/>
                <a:sym typeface="+mn-ea"/>
              </a:rPr>
              <a:t>TextCNN分类器 + NER实体识别</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9" name="图片 8"/>
          <p:cNvPicPr>
            <a:picLocks noChangeAspect="1"/>
          </p:cNvPicPr>
          <p:nvPr/>
        </p:nvPicPr>
        <p:blipFill>
          <a:blip r:embed="rId10"/>
          <a:stretch>
            <a:fillRect/>
          </a:stretch>
        </p:blipFill>
        <p:spPr>
          <a:xfrm>
            <a:off x="7746365" y="960755"/>
            <a:ext cx="1744980" cy="1547495"/>
          </a:xfrm>
          <a:prstGeom prst="rect">
            <a:avLst/>
          </a:prstGeom>
        </p:spPr>
      </p:pic>
      <p:sp>
        <p:nvSpPr>
          <p:cNvPr id="10" name="下箭头 9"/>
          <p:cNvSpPr/>
          <p:nvPr/>
        </p:nvSpPr>
        <p:spPr>
          <a:xfrm rot="16200000">
            <a:off x="9763125" y="1500505"/>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p:cNvPicPr>
            <a:picLocks noChangeAspect="1"/>
          </p:cNvPicPr>
          <p:nvPr/>
        </p:nvPicPr>
        <p:blipFill>
          <a:blip r:embed="rId11"/>
          <a:stretch>
            <a:fillRect/>
          </a:stretch>
        </p:blipFill>
        <p:spPr>
          <a:xfrm>
            <a:off x="10116820" y="1040765"/>
            <a:ext cx="1589405" cy="1398905"/>
          </a:xfrm>
          <a:prstGeom prst="rect">
            <a:avLst/>
          </a:prstGeom>
        </p:spPr>
      </p:pic>
      <p:pic>
        <p:nvPicPr>
          <p:cNvPr id="12" name="图片 11"/>
          <p:cNvPicPr>
            <a:picLocks noChangeAspect="1"/>
          </p:cNvPicPr>
          <p:nvPr/>
        </p:nvPicPr>
        <p:blipFill>
          <a:blip r:embed="rId12"/>
          <a:stretch>
            <a:fillRect/>
          </a:stretch>
        </p:blipFill>
        <p:spPr>
          <a:xfrm>
            <a:off x="8282940" y="2912110"/>
            <a:ext cx="2969895" cy="1633855"/>
          </a:xfrm>
          <a:prstGeom prst="rect">
            <a:avLst/>
          </a:prstGeom>
        </p:spPr>
      </p:pic>
      <p:sp>
        <p:nvSpPr>
          <p:cNvPr id="13" name="下箭头 12"/>
          <p:cNvSpPr/>
          <p:nvPr/>
        </p:nvSpPr>
        <p:spPr>
          <a:xfrm>
            <a:off x="10869930" y="2498725"/>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下箭头 18"/>
          <p:cNvSpPr/>
          <p:nvPr/>
        </p:nvSpPr>
        <p:spPr>
          <a:xfrm>
            <a:off x="9726930" y="460502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custDataLst>
              <p:tags r:id="rId13"/>
            </p:custDataLst>
          </p:nvPr>
        </p:nvSpPr>
        <p:spPr>
          <a:xfrm>
            <a:off x="8797925" y="5126355"/>
            <a:ext cx="1939925" cy="368300"/>
          </a:xfrm>
          <a:prstGeom prst="rect">
            <a:avLst/>
          </a:prstGeom>
          <a:solidFill>
            <a:schemeClr val="accent5">
              <a:lumMod val="40000"/>
              <a:lumOff val="60000"/>
            </a:schemeClr>
          </a:solidFill>
          <a:ln w="12700">
            <a:noFill/>
          </a:ln>
        </p:spPr>
        <p:txBody>
          <a:bodyPr wrap="square" rtlCol="0" anchor="ctr" anchorCtr="0">
            <a:sp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rPr>
              <a:t>得到</a:t>
            </a:r>
            <a:r>
              <a:rPr lang="zh-CN" altLang="en-US">
                <a:latin typeface="微软雅黑" panose="020B0503020204020204" pitchFamily="34" charset="-122"/>
                <a:ea typeface="微软雅黑" panose="020B0503020204020204" pitchFamily="34" charset="-122"/>
                <a:cs typeface="微软雅黑" panose="020B0503020204020204" pitchFamily="34" charset="-122"/>
              </a:rPr>
              <a:t>分类结果</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课题</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52695" y="215900"/>
            <a:ext cx="1344295" cy="347980"/>
          </a:xfrm>
          <a:prstGeom prst="rect">
            <a:avLst/>
          </a:prstGeom>
          <a:noFill/>
        </p:spPr>
        <p:txBody>
          <a:bodyPr wrap="square" lIns="0" tIns="48000" rIns="0" bIns="48000" rtlCol="0">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技术路线</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已完成的工作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nvPicPr>
        <p:blipFill>
          <a:blip r:embed="rId1"/>
          <a:stretch>
            <a:fillRect/>
          </a:stretch>
        </p:blipFill>
        <p:spPr>
          <a:xfrm>
            <a:off x="281305" y="0"/>
            <a:ext cx="2687955" cy="749300"/>
          </a:xfrm>
          <a:prstGeom prst="rect">
            <a:avLst/>
          </a:prstGeom>
          <a:noFill/>
        </p:spPr>
      </p:pic>
      <p:sp>
        <p:nvSpPr>
          <p:cNvPr id="25" name="内容占位符 2"/>
          <p:cNvSpPr>
            <a:spLocks noGrp="1"/>
          </p:cNvSpPr>
          <p:nvPr/>
        </p:nvSpPr>
        <p:spPr>
          <a:xfrm>
            <a:off x="5657215" y="1313180"/>
            <a:ext cx="5744210" cy="249174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每种设备类型有单独的</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IMKG(</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信息模型知识图谱</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不同类别设备之间差距很大，异构性较强</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边缘网关算力有限，这也同时是采用</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CNN</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而不是</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Bert</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等推理模型的原因所在</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由此我们采用先</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进行设备类型识别，然后根据对应类型</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IMKG</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做补全和建模</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文本框 28"/>
          <p:cNvSpPr txBox="1"/>
          <p:nvPr/>
        </p:nvSpPr>
        <p:spPr>
          <a:xfrm>
            <a:off x="676275" y="6104890"/>
            <a:ext cx="10725150" cy="368300"/>
          </a:xfrm>
          <a:prstGeom prst="rect">
            <a:avLst/>
          </a:prstGeom>
          <a:solidFill>
            <a:schemeClr val="accent5">
              <a:lumMod val="40000"/>
              <a:lumOff val="60000"/>
            </a:schemeClr>
          </a:solidFill>
          <a:ln>
            <a:solidFill>
              <a:schemeClr val="accent1"/>
            </a:solidFill>
          </a:ln>
        </p:spPr>
        <p:txBody>
          <a:bodyPr wrap="square" rtlCol="0">
            <a:spAutoFit/>
          </a:bodyPr>
          <a:p>
            <a:r>
              <a:rPr lang="zh-CN" altLang="en-US">
                <a:latin typeface="微软雅黑" panose="020B0503020204020204" pitchFamily="34" charset="-122"/>
                <a:ea typeface="微软雅黑" panose="020B0503020204020204" pitchFamily="34" charset="-122"/>
                <a:cs typeface="微软雅黑" panose="020B0503020204020204" pitchFamily="34" charset="-122"/>
              </a:rPr>
              <a:t>我们需要进行的是在</a:t>
            </a:r>
            <a:r>
              <a:rPr>
                <a:latin typeface="微软雅黑" panose="020B0503020204020204" pitchFamily="34" charset="-122"/>
                <a:ea typeface="微软雅黑" panose="020B0503020204020204" pitchFamily="34" charset="-122"/>
                <a:cs typeface="微软雅黑" panose="020B0503020204020204" pitchFamily="34" charset="-122"/>
                <a:sym typeface="+mn-ea"/>
              </a:rPr>
              <a:t>构建三元组集合 </a:t>
            </a:r>
            <a:r>
              <a:rPr lang="en-US">
                <a:latin typeface="微软雅黑" panose="020B0503020204020204" pitchFamily="34" charset="-122"/>
                <a:ea typeface="微软雅黑" panose="020B0503020204020204" pitchFamily="34" charset="-122"/>
                <a:cs typeface="微软雅黑" panose="020B0503020204020204" pitchFamily="34" charset="-122"/>
                <a:sym typeface="+mn-ea"/>
              </a:rPr>
              <a:t>&lt;</a:t>
            </a:r>
            <a:r>
              <a:rPr>
                <a:latin typeface="微软雅黑" panose="020B0503020204020204" pitchFamily="34" charset="-122"/>
                <a:ea typeface="微软雅黑" panose="020B0503020204020204" pitchFamily="34" charset="-122"/>
                <a:cs typeface="微软雅黑" panose="020B0503020204020204" pitchFamily="34" charset="-122"/>
                <a:sym typeface="+mn-ea"/>
              </a:rPr>
              <a:t>实体–关系–实体</a:t>
            </a:r>
            <a:r>
              <a:rPr lang="en-US">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基础上进行</a:t>
            </a:r>
            <a:r>
              <a:rPr>
                <a:latin typeface="微软雅黑" panose="020B0503020204020204" pitchFamily="34" charset="-122"/>
                <a:ea typeface="微软雅黑" panose="020B0503020204020204" pitchFamily="34" charset="-122"/>
                <a:cs typeface="微软雅黑" panose="020B0503020204020204" pitchFamily="34" charset="-122"/>
                <a:sym typeface="+mn-ea"/>
              </a:rPr>
              <a:t>基于领域本体的语义约束与融合规则。</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4" name="组合 33"/>
          <p:cNvGrpSpPr/>
          <p:nvPr/>
        </p:nvGrpSpPr>
        <p:grpSpPr>
          <a:xfrm>
            <a:off x="676275" y="1313180"/>
            <a:ext cx="4911090" cy="2491740"/>
            <a:chOff x="10931" y="4431"/>
            <a:chExt cx="7734" cy="3924"/>
          </a:xfrm>
        </p:grpSpPr>
        <p:pic>
          <p:nvPicPr>
            <p:cNvPr id="35" name="图片 34"/>
            <p:cNvPicPr>
              <a:picLocks noChangeAspect="1"/>
            </p:cNvPicPr>
            <p:nvPr/>
          </p:nvPicPr>
          <p:blipFill>
            <a:blip r:embed="rId2"/>
            <a:stretch>
              <a:fillRect/>
            </a:stretch>
          </p:blipFill>
          <p:spPr>
            <a:xfrm>
              <a:off x="11597" y="4749"/>
              <a:ext cx="6423" cy="899"/>
            </a:xfrm>
            <a:prstGeom prst="rect">
              <a:avLst/>
            </a:prstGeom>
          </p:spPr>
        </p:pic>
        <p:sp>
          <p:nvSpPr>
            <p:cNvPr id="36" name="文本框 35"/>
            <p:cNvSpPr txBox="1"/>
            <p:nvPr/>
          </p:nvSpPr>
          <p:spPr>
            <a:xfrm>
              <a:off x="11597" y="5947"/>
              <a:ext cx="6423" cy="2082"/>
            </a:xfrm>
            <a:prstGeom prst="rect">
              <a:avLst/>
            </a:prstGeom>
          </p:spPr>
          <p:txBody>
            <a:bodyPr wrap="square">
              <a:spAutoFit/>
            </a:bodyPr>
            <a:p>
              <a:r>
                <a:rPr lang="en-US" altLang="zh-CN" sz="1600">
                  <a:latin typeface="微软雅黑" panose="020B0503020204020204" pitchFamily="34" charset="-122"/>
                  <a:ea typeface="微软雅黑" panose="020B0503020204020204" pitchFamily="34" charset="-122"/>
                  <a:cs typeface="微软雅黑" panose="020B0503020204020204" pitchFamily="34" charset="-122"/>
                </a:rPr>
                <a:t>tail =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设备数据帧中的未知字段（新实体）</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a:latin typeface="微软雅黑" panose="020B0503020204020204" pitchFamily="34" charset="-122"/>
                  <a:ea typeface="微软雅黑" panose="020B0503020204020204" pitchFamily="34" charset="-122"/>
                  <a:cs typeface="微软雅黑" panose="020B0503020204020204" pitchFamily="34" charset="-122"/>
                </a:rPr>
                <a:t>head =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需要预测的 </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IMKG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中已有实体</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a:latin typeface="微软雅黑" panose="020B0503020204020204" pitchFamily="34" charset="-122"/>
                  <a:ea typeface="微软雅黑" panose="020B0503020204020204" pitchFamily="34" charset="-122"/>
                  <a:cs typeface="微软雅黑" panose="020B0503020204020204" pitchFamily="34" charset="-122"/>
                </a:rPr>
                <a:t>relation = HasComponent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（已知）</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学论网-矩形 1"/>
            <p:cNvSpPr/>
            <p:nvPr>
              <p:custDataLst>
                <p:tags r:id="rId3"/>
              </p:custDataLst>
            </p:nvPr>
          </p:nvSpPr>
          <p:spPr>
            <a:xfrm>
              <a:off x="10931" y="4431"/>
              <a:ext cx="7734" cy="3924"/>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grpSp>
      <p:sp>
        <p:nvSpPr>
          <p:cNvPr id="38" name="文本框 37"/>
          <p:cNvSpPr txBox="1"/>
          <p:nvPr>
            <p:custDataLst>
              <p:tags r:id="rId4"/>
            </p:custDataLst>
          </p:nvPr>
        </p:nvSpPr>
        <p:spPr>
          <a:xfrm>
            <a:off x="1099185" y="4414520"/>
            <a:ext cx="1939925" cy="922020"/>
          </a:xfrm>
          <a:prstGeom prst="rect">
            <a:avLst/>
          </a:prstGeom>
          <a:solidFill>
            <a:schemeClr val="accent5">
              <a:lumMod val="40000"/>
              <a:lumOff val="60000"/>
            </a:schemeClr>
          </a:solidFill>
          <a:ln w="12700">
            <a:noFill/>
          </a:ln>
        </p:spPr>
        <p:txBody>
          <a:bodyPr wrap="square" rtlCol="0" anchor="ctr" anchorCtr="0">
            <a:sp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rPr>
              <a:t>实体名字做字符级词</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embedding</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tLang="zh-CN">
                <a:latin typeface="微软雅黑" panose="020B0503020204020204" pitchFamily="34" charset="-122"/>
                <a:ea typeface="微软雅黑" panose="020B0503020204020204" pitchFamily="34" charset="-122"/>
                <a:cs typeface="微软雅黑" panose="020B0503020204020204" pitchFamily="34" charset="-122"/>
              </a:rPr>
              <a:t>CBOW</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下箭头 38"/>
          <p:cNvSpPr/>
          <p:nvPr/>
        </p:nvSpPr>
        <p:spPr>
          <a:xfrm rot="16200000">
            <a:off x="8641715" y="4633595"/>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学论网-矩形 1"/>
          <p:cNvSpPr/>
          <p:nvPr>
            <p:custDataLst>
              <p:tags r:id="rId5"/>
            </p:custDataLst>
          </p:nvPr>
        </p:nvSpPr>
        <p:spPr>
          <a:xfrm>
            <a:off x="676275" y="4016375"/>
            <a:ext cx="10724515" cy="173799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41" name="文本框 40"/>
          <p:cNvSpPr txBox="1"/>
          <p:nvPr>
            <p:custDataLst>
              <p:tags r:id="rId6"/>
            </p:custDataLst>
          </p:nvPr>
        </p:nvSpPr>
        <p:spPr>
          <a:xfrm>
            <a:off x="9035415" y="4409440"/>
            <a:ext cx="1939925" cy="922020"/>
          </a:xfrm>
          <a:prstGeom prst="rect">
            <a:avLst/>
          </a:prstGeom>
          <a:solidFill>
            <a:schemeClr val="accent5">
              <a:lumMod val="40000"/>
              <a:lumOff val="60000"/>
            </a:schemeClr>
          </a:solidFill>
          <a:ln w="12700">
            <a:noFill/>
          </a:ln>
        </p:spPr>
        <p:txBody>
          <a:bodyPr wrap="square" rtlCol="0" anchor="ctr" anchorCtr="0">
            <a:spAutoFit/>
          </a:bodyPr>
          <a:p>
            <a:pPr algn="ctr"/>
            <a:r>
              <a:rPr lang="en-US" altLang="zh-C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ComplEx</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对每个未知</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tail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做</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head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预测</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文本框 41"/>
          <p:cNvSpPr txBox="1"/>
          <p:nvPr>
            <p:custDataLst>
              <p:tags r:id="rId7"/>
            </p:custDataLst>
          </p:nvPr>
        </p:nvSpPr>
        <p:spPr>
          <a:xfrm>
            <a:off x="3744595" y="4411345"/>
            <a:ext cx="1939925" cy="934720"/>
          </a:xfrm>
          <a:prstGeom prst="rect">
            <a:avLst/>
          </a:prstGeom>
          <a:solidFill>
            <a:schemeClr val="accent5">
              <a:lumMod val="40000"/>
              <a:lumOff val="60000"/>
            </a:schemeClr>
          </a:solidFill>
          <a:ln w="12700">
            <a:noFill/>
          </a:ln>
        </p:spPr>
        <p:txBody>
          <a:bodyPr wrap="square" rtlCol="0" anchor="ctr" anchorCtr="0">
            <a:no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字符向量</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KG</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向量</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3" name="文本框 42"/>
          <p:cNvSpPr txBox="1"/>
          <p:nvPr>
            <p:custDataLst>
              <p:tags r:id="rId8"/>
            </p:custDataLst>
          </p:nvPr>
        </p:nvSpPr>
        <p:spPr>
          <a:xfrm>
            <a:off x="6390005" y="4411345"/>
            <a:ext cx="1939925" cy="925830"/>
          </a:xfrm>
          <a:prstGeom prst="rect">
            <a:avLst/>
          </a:prstGeom>
          <a:solidFill>
            <a:schemeClr val="accent5">
              <a:lumMod val="40000"/>
              <a:lumOff val="60000"/>
            </a:schemeClr>
          </a:solidFill>
          <a:ln w="12700">
            <a:noFill/>
          </a:ln>
        </p:spPr>
        <p:txBody>
          <a:bodyPr wrap="square" rtlCol="0" anchor="ctr" anchorCtr="0">
            <a:noAutofit/>
          </a:bodyPr>
          <a:p>
            <a:pPr algn="ct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IMKG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中的实体做</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KG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嵌入</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下箭头 43"/>
          <p:cNvSpPr/>
          <p:nvPr/>
        </p:nvSpPr>
        <p:spPr>
          <a:xfrm rot="16200000">
            <a:off x="5996305" y="467868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下箭头 44"/>
          <p:cNvSpPr/>
          <p:nvPr/>
        </p:nvSpPr>
        <p:spPr>
          <a:xfrm rot="16200000">
            <a:off x="3350895" y="467360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课题</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52695" y="215900"/>
            <a:ext cx="1344295" cy="347980"/>
          </a:xfrm>
          <a:prstGeom prst="rect">
            <a:avLst/>
          </a:prstGeom>
          <a:noFill/>
        </p:spPr>
        <p:txBody>
          <a:bodyPr wrap="square" lIns="0" tIns="48000" rIns="0" bIns="48000" rtlCol="0">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技术路线</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已完成的工作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nvPicPr>
        <p:blipFill>
          <a:blip r:embed="rId1"/>
          <a:stretch>
            <a:fillRect/>
          </a:stretch>
        </p:blipFill>
        <p:spPr>
          <a:xfrm>
            <a:off x="281305" y="0"/>
            <a:ext cx="2687955" cy="749300"/>
          </a:xfrm>
          <a:prstGeom prst="rect">
            <a:avLst/>
          </a:prstGeom>
          <a:noFill/>
        </p:spPr>
      </p:pic>
      <p:graphicFrame>
        <p:nvGraphicFramePr>
          <p:cNvPr id="5" name="表格 4"/>
          <p:cNvGraphicFramePr/>
          <p:nvPr>
            <p:custDataLst>
              <p:tags r:id="rId2"/>
            </p:custDataLst>
          </p:nvPr>
        </p:nvGraphicFramePr>
        <p:xfrm>
          <a:off x="213995" y="3183890"/>
          <a:ext cx="11663728" cy="2899410"/>
        </p:xfrm>
        <a:graphic>
          <a:graphicData uri="http://schemas.openxmlformats.org/drawingml/2006/table">
            <a:tbl>
              <a:tblPr firstRow="1" bandRow="1">
                <a:tableStyleId>{5C22544A-7EE6-4342-B048-85BDC9FD1C3A}</a:tableStyleId>
              </a:tblPr>
              <a:tblGrid>
                <a:gridCol w="1767253"/>
                <a:gridCol w="2459990"/>
                <a:gridCol w="3314065"/>
                <a:gridCol w="4122420"/>
              </a:tblGrid>
              <a:tr h="415290">
                <a:tc>
                  <a:txBody>
                    <a:bodyPr/>
                    <a:p>
                      <a:pPr algn="ctr">
                        <a:buNone/>
                      </a:pPr>
                      <a:endParaRPr lang="zh-CN" altLang="en-US" sz="16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a:txBody>
                    <a:bodyPr/>
                    <a:p>
                      <a:pPr indent="0" algn="ctr" fontAlgn="auto" latinLnBrk="1">
                        <a:buNone/>
                      </a:pPr>
                      <a:r>
                        <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OWL XML</a:t>
                      </a:r>
                      <a:endPar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ctr" fontAlgn="auto" latinLnBrk="1">
                        <a:buNone/>
                      </a:pPr>
                      <a:r>
                        <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&lt;Class=“Motor”&gt;</a:t>
                      </a:r>
                      <a:r>
                        <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a:txBody>
                    <a:bodyPr/>
                    <a:p>
                      <a:pPr indent="0" algn="ctr" fontAlgn="auto" latinLnBrk="1">
                        <a:buNone/>
                      </a:pPr>
                      <a:r>
                        <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OPC UA Nodeset</a:t>
                      </a:r>
                      <a:endPar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ctr" fontAlgn="auto" latinLnBrk="1">
                        <a:buNone/>
                      </a:pPr>
                      <a:r>
                        <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(&lt;UAObject</a:t>
                      </a:r>
                      <a:r>
                        <a:rPr lang="en-US" altLang="zh-CN"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NodeId="ns=1;s=Motor1"&gt;)</a:t>
                      </a:r>
                      <a:endPar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tc>
                <a:tc>
                  <a:txBody>
                    <a:bodyPr/>
                    <a:p>
                      <a:pPr marL="0" indent="0" algn="ctr" fontAlgn="auto" latinLnBrk="1">
                        <a:buNone/>
                      </a:pPr>
                      <a:r>
                        <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No-code Schema</a:t>
                      </a:r>
                      <a:endPar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marL="0" lvl="1" indent="0" algn="ctr" fontAlgn="auto" latinLnBrk="1">
                        <a:buNone/>
                      </a:pPr>
                      <a:r>
                        <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({"componentName": "MotorCard", "props": {"id": "Motor1"}})</a:t>
                      </a:r>
                      <a:endParaRPr lang="zh-CN" altLang="en-US" sz="16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tc>
              </a:tr>
              <a:tr h="415290">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对象层</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owl:Class</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UAObjectType</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No-Code Component</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r>
              <a:tr h="415290">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实例层</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owl:Individual</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UAObject</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Component Instance</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r>
              <a:tr h="415290">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属性层</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owl:DatatypeProperty</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UAVariable</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Component Prop</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r>
              <a:tr h="415290">
                <a:tc>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绑定层</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gridSpan="3">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NodeId(OPC UA地址空间)➡DataSourceBinding(零代码平台)</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hMerge="1">
                  <a:tcPr/>
                </a:tc>
                <a:tc hMerge="1">
                  <a:tcPr/>
                </a:tc>
              </a:tr>
              <a:tr h="415290">
                <a:tc gridSpan="4">
                  <a:txBody>
                    <a:bodyPr/>
                    <a:p>
                      <a:pPr algn="ctr">
                        <a:buNone/>
                      </a:pPr>
                      <a:r>
                        <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OPC UA的层级结构映射为零代码引擎的Container(容器)与Item(子项)的嵌套结构</a:t>
                      </a:r>
                      <a:endParaRPr lang="zh-CN" altLang="en-US" sz="16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tc>
                <a:tc hMerge="1">
                  <a:tcPr/>
                </a:tc>
                <a:tc hMerge="1">
                  <a:tcPr/>
                </a:tc>
                <a:tc hMerge="1">
                  <a:tcPr/>
                </a:tc>
              </a:tr>
            </a:tbl>
          </a:graphicData>
        </a:graphic>
      </p:graphicFrame>
      <p:sp>
        <p:nvSpPr>
          <p:cNvPr id="54" name="学论网-矩形 1"/>
          <p:cNvSpPr/>
          <p:nvPr>
            <p:custDataLst>
              <p:tags r:id="rId3"/>
            </p:custDataLst>
          </p:nvPr>
        </p:nvSpPr>
        <p:spPr>
          <a:xfrm>
            <a:off x="865505" y="1218565"/>
            <a:ext cx="3460115" cy="175196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7" name="学论网-www.xuelun.me"/>
          <p:cNvSpPr txBox="1"/>
          <p:nvPr>
            <p:custDataLst>
              <p:tags r:id="rId4"/>
            </p:custDataLst>
          </p:nvPr>
        </p:nvSpPr>
        <p:spPr>
          <a:xfrm>
            <a:off x="922020" y="1310005"/>
            <a:ext cx="3329305" cy="1536065"/>
          </a:xfrm>
          <a:prstGeom prst="rect">
            <a:avLst/>
          </a:prstGeom>
          <a:noFill/>
          <a:ln>
            <a:noFill/>
          </a:ln>
        </p:spPr>
        <p:txBody>
          <a:bodyPr wrap="square" lIns="0" tIns="0" rIns="0" bIns="0" rtlCol="0">
            <a:noAutofit/>
          </a:bodyPr>
          <a:lstStyle/>
          <a:p>
            <a:pPr indent="457200" algn="l" fontAlgn="auto">
              <a:lnSpc>
                <a:spcPct val="150000"/>
              </a:lnSpc>
              <a:buClrTx/>
              <a:buSzTx/>
              <a:buFontTx/>
            </a:pPr>
            <a:r>
              <a:rPr lang="zh-CN" sz="1600" b="1">
                <a:latin typeface="微软雅黑" panose="020B0503020204020204" pitchFamily="34" charset="-122"/>
                <a:ea typeface="微软雅黑" panose="020B0503020204020204" pitchFamily="34" charset="-122"/>
                <a:cs typeface="微软雅黑" panose="020B0503020204020204" pitchFamily="34" charset="-122"/>
                <a:sym typeface="+mn-ea"/>
              </a:rPr>
              <a:t>问题形式化：</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如何将</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转化后的知识图谱映射到</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OPC UA</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服务器地址空间中并基于现有</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OPC UA</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空间</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内容完成组件库组件的</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搭建。</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学论网-矩形 1"/>
          <p:cNvSpPr/>
          <p:nvPr>
            <p:custDataLst>
              <p:tags r:id="rId5"/>
            </p:custDataLst>
          </p:nvPr>
        </p:nvSpPr>
        <p:spPr>
          <a:xfrm>
            <a:off x="4551680" y="1218565"/>
            <a:ext cx="3460115" cy="175196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16" name="学论网-www.xuelun.me"/>
          <p:cNvSpPr txBox="1"/>
          <p:nvPr>
            <p:custDataLst>
              <p:tags r:id="rId6"/>
            </p:custDataLst>
          </p:nvPr>
        </p:nvSpPr>
        <p:spPr>
          <a:xfrm>
            <a:off x="4608195" y="1310005"/>
            <a:ext cx="3329305" cy="1536065"/>
          </a:xfrm>
          <a:prstGeom prst="rect">
            <a:avLst/>
          </a:prstGeom>
          <a:noFill/>
          <a:ln>
            <a:noFill/>
          </a:ln>
        </p:spPr>
        <p:txBody>
          <a:bodyPr wrap="square" lIns="0" tIns="0" rIns="0" bIns="0" rtlCol="0">
            <a:noAutofit/>
          </a:bodyPr>
          <a:lstStyle/>
          <a:p>
            <a:pPr indent="457200" algn="l" fontAlgn="auto">
              <a:lnSpc>
                <a:spcPct val="150000"/>
              </a:lnSpc>
              <a:buClrTx/>
              <a:buSzTx/>
              <a:buFontTx/>
            </a:pPr>
            <a:r>
              <a:rPr lang="zh-CN" sz="1600" b="1">
                <a:latin typeface="微软雅黑" panose="020B0503020204020204" pitchFamily="34" charset="-122"/>
                <a:ea typeface="微软雅黑" panose="020B0503020204020204" pitchFamily="34" charset="-122"/>
                <a:cs typeface="微软雅黑" panose="020B0503020204020204" pitchFamily="34" charset="-122"/>
                <a:sym typeface="+mn-ea"/>
              </a:rPr>
              <a:t>解决问题：</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建立“本体</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知识图谱</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-工业标准</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后端</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OPC UA</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地址空间节点</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-零代码平台</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前端组件</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S</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chema)</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”的三方映射表。</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8" name="图片 17"/>
          <p:cNvPicPr>
            <a:picLocks noChangeAspect="1"/>
          </p:cNvPicPr>
          <p:nvPr/>
        </p:nvPicPr>
        <p:blipFill>
          <a:blip r:embed="rId7"/>
          <a:stretch>
            <a:fillRect/>
          </a:stretch>
        </p:blipFill>
        <p:spPr>
          <a:xfrm>
            <a:off x="8545830" y="1166495"/>
            <a:ext cx="2895600" cy="1856105"/>
          </a:xfrm>
          <a:prstGeom prst="rect">
            <a:avLst/>
          </a:prstGeom>
        </p:spPr>
      </p:pic>
      <p:sp>
        <p:nvSpPr>
          <p:cNvPr id="34" name="文本框 33"/>
          <p:cNvSpPr txBox="1"/>
          <p:nvPr>
            <p:custDataLst>
              <p:tags r:id="rId8"/>
            </p:custDataLst>
          </p:nvPr>
        </p:nvSpPr>
        <p:spPr>
          <a:xfrm>
            <a:off x="1993900" y="6244590"/>
            <a:ext cx="8204200" cy="430530"/>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altLang="en-US" sz="1600" b="1" dirty="0">
                <a:latin typeface="微软雅黑" panose="020B0503020204020204" pitchFamily="34" charset="-122"/>
                <a:ea typeface="微软雅黑" panose="020B0503020204020204" pitchFamily="34" charset="-122"/>
                <a:sym typeface="+mn-ea"/>
              </a:rPr>
              <a:t>在语义</a:t>
            </a:r>
            <a:r>
              <a:rPr lang="en-US" altLang="zh-CN" sz="1600" b="1" dirty="0">
                <a:latin typeface="微软雅黑" panose="020B0503020204020204" pitchFamily="34" charset="-122"/>
                <a:ea typeface="微软雅黑" panose="020B0503020204020204" pitchFamily="34" charset="-122"/>
                <a:sym typeface="+mn-ea"/>
              </a:rPr>
              <a:t>-</a:t>
            </a:r>
            <a:r>
              <a:rPr lang="zh-CN" altLang="en-US" sz="1600" b="1" dirty="0">
                <a:latin typeface="微软雅黑" panose="020B0503020204020204" pitchFamily="34" charset="-122"/>
                <a:ea typeface="微软雅黑" panose="020B0503020204020204" pitchFamily="34" charset="-122"/>
                <a:sym typeface="+mn-ea"/>
              </a:rPr>
              <a:t>约束映射的基本结构对应之后，还要对平台组件</a:t>
            </a:r>
            <a:r>
              <a:rPr lang="en-US" altLang="zh-CN" sz="1600" b="1" dirty="0">
                <a:latin typeface="微软雅黑" panose="020B0503020204020204" pitchFamily="34" charset="-122"/>
                <a:ea typeface="微软雅黑" panose="020B0503020204020204" pitchFamily="34" charset="-122"/>
                <a:sym typeface="+mn-ea"/>
              </a:rPr>
              <a:t>setter</a:t>
            </a:r>
            <a:r>
              <a:rPr lang="zh-CN" altLang="en-US" sz="1600" b="1" dirty="0">
                <a:latin typeface="微软雅黑" panose="020B0503020204020204" pitchFamily="34" charset="-122"/>
                <a:ea typeface="微软雅黑" panose="020B0503020204020204" pitchFamily="34" charset="-122"/>
                <a:sym typeface="+mn-ea"/>
              </a:rPr>
              <a:t>进行定义，以连接</a:t>
            </a:r>
            <a:r>
              <a:rPr lang="zh-CN" altLang="en-US" sz="1600" b="1" dirty="0">
                <a:latin typeface="微软雅黑" panose="020B0503020204020204" pitchFamily="34" charset="-122"/>
                <a:ea typeface="微软雅黑" panose="020B0503020204020204" pitchFamily="34" charset="-122"/>
                <a:sym typeface="+mn-ea"/>
              </a:rPr>
              <a:t>复杂约束</a:t>
            </a:r>
            <a:endParaRPr lang="zh-CN" altLang="en-US" sz="1600" b="1"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课题</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52695" y="215900"/>
            <a:ext cx="1344295" cy="347980"/>
          </a:xfrm>
          <a:prstGeom prst="rect">
            <a:avLst/>
          </a:prstGeom>
          <a:noFill/>
        </p:spPr>
        <p:txBody>
          <a:bodyPr wrap="square" lIns="0" tIns="48000" rIns="0" bIns="48000" rtlCol="0">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技术路线</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已完成的工作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nvPicPr>
        <p:blipFill>
          <a:blip r:embed="rId1"/>
          <a:stretch>
            <a:fillRect/>
          </a:stretch>
        </p:blipFill>
        <p:spPr>
          <a:xfrm>
            <a:off x="281305" y="0"/>
            <a:ext cx="2687955" cy="749300"/>
          </a:xfrm>
          <a:prstGeom prst="rect">
            <a:avLst/>
          </a:prstGeom>
          <a:noFill/>
        </p:spPr>
      </p:pic>
      <p:graphicFrame>
        <p:nvGraphicFramePr>
          <p:cNvPr id="2" name="表格 1"/>
          <p:cNvGraphicFramePr/>
          <p:nvPr/>
        </p:nvGraphicFramePr>
        <p:xfrm>
          <a:off x="137795" y="1224915"/>
          <a:ext cx="7816215" cy="2545080"/>
        </p:xfrm>
        <a:graphic>
          <a:graphicData uri="http://schemas.openxmlformats.org/drawingml/2006/table">
            <a:tbl>
              <a:tblPr firstRow="1" bandRow="1">
                <a:tableStyleId>{5C22544A-7EE6-4342-B048-85BDC9FD1C3A}</a:tableStyleId>
              </a:tblPr>
              <a:tblGrid>
                <a:gridCol w="1078230"/>
                <a:gridCol w="2521109"/>
                <a:gridCol w="1011237"/>
                <a:gridCol w="3205480"/>
              </a:tblGrid>
              <a:tr h="381000">
                <a:tc>
                  <a:txBody>
                    <a:bodyPr/>
                    <a:p>
                      <a:pPr algn="ctr">
                        <a:buNone/>
                      </a:pPr>
                      <a:endParaRPr lang="zh-CN" altLang="en-US"/>
                    </a:p>
                  </a:txBody>
                  <a:tcPr anchor="ctr" anchorCtr="0"/>
                </a:tc>
                <a:tc>
                  <a:txBody>
                    <a:bodyPr/>
                    <a:p>
                      <a:pPr algn="ctr">
                        <a:buNone/>
                      </a:pPr>
                      <a:r>
                        <a:rPr lang="en-US" altLang="zh-CN"/>
                        <a:t>XSD(XML Definition)</a:t>
                      </a:r>
                      <a:endParaRPr lang="en-US" altLang="zh-CN"/>
                    </a:p>
                  </a:txBody>
                  <a:tcPr anchor="ctr" anchorCtr="0"/>
                </a:tc>
                <a:tc>
                  <a:txBody>
                    <a:bodyPr/>
                    <a:p>
                      <a:pPr algn="ctr">
                        <a:buNone/>
                      </a:pPr>
                      <a:r>
                        <a:rPr lang="en-US" altLang="zh-CN"/>
                        <a:t>OPC UA</a:t>
                      </a:r>
                      <a:endParaRPr lang="en-US" altLang="zh-CN"/>
                    </a:p>
                  </a:txBody>
                  <a:tcPr anchor="ctr" anchorCtr="0"/>
                </a:tc>
                <a:tc>
                  <a:txBody>
                    <a:bodyPr/>
                    <a:p>
                      <a:pPr algn="ctr">
                        <a:buNone/>
                      </a:pPr>
                      <a:r>
                        <a:rPr lang="en-US" altLang="zh-CN"/>
                        <a:t>No-Code E</a:t>
                      </a:r>
                      <a:r>
                        <a:rPr lang="en-US" altLang="zh-CN"/>
                        <a:t>ngine</a:t>
                      </a:r>
                      <a:endParaRPr lang="en-US" altLang="zh-CN"/>
                    </a:p>
                  </a:txBody>
                  <a:tcPr anchor="ctr" anchorCtr="0"/>
                </a:tc>
              </a:tr>
              <a:tr h="381000">
                <a:tc rowSpan="4">
                  <a:txBody>
                    <a:bodyPr/>
                    <a:p>
                      <a:pPr algn="ctr">
                        <a:buNone/>
                      </a:pPr>
                      <a:r>
                        <a:rPr lang="zh-CN" altLang="en-US"/>
                        <a:t>简单约束</a:t>
                      </a:r>
                      <a:r>
                        <a:rPr lang="zh-CN" altLang="en-US"/>
                        <a:t>处理</a:t>
                      </a:r>
                      <a:endParaRPr lang="zh-CN" altLang="en-US"/>
                    </a:p>
                  </a:txBody>
                  <a:tcPr anchor="ctr" anchorCtr="0"/>
                </a:tc>
                <a:tc>
                  <a:txBody>
                    <a:bodyPr/>
                    <a:p>
                      <a:pPr algn="ctr">
                        <a:buNone/>
                      </a:pPr>
                      <a:r>
                        <a:rPr lang="en-US" altLang="zh-CN"/>
                        <a:t>boolean</a:t>
                      </a:r>
                      <a:endParaRPr lang="en-US" altLang="zh-CN"/>
                    </a:p>
                  </a:txBody>
                  <a:tcPr anchor="ctr" anchorCtr="0"/>
                </a:tc>
                <a:tc>
                  <a:txBody>
                    <a:bodyPr/>
                    <a:p>
                      <a:pPr algn="ctr">
                        <a:buNone/>
                      </a:pPr>
                      <a:r>
                        <a:rPr lang="en-US" altLang="zh-CN"/>
                        <a:t>Boolean</a:t>
                      </a:r>
                      <a:endParaRPr lang="en-US" altLang="zh-CN"/>
                    </a:p>
                  </a:txBody>
                  <a:tcPr anchor="ctr" anchorCtr="0"/>
                </a:tc>
                <a:tc>
                  <a:txBody>
                    <a:bodyPr/>
                    <a:p>
                      <a:pPr algn="ctr">
                        <a:buNone/>
                      </a:pPr>
                      <a:r>
                        <a:rPr lang="en-US" altLang="zh-CN"/>
                        <a:t>BoolSetter(</a:t>
                      </a:r>
                      <a:r>
                        <a:rPr lang="zh-CN" altLang="en-US"/>
                        <a:t>开关组件</a:t>
                      </a:r>
                      <a:r>
                        <a:rPr lang="en-US" altLang="zh-CN"/>
                        <a:t>)</a:t>
                      </a:r>
                      <a:endParaRPr lang="en-US" altLang="zh-CN"/>
                    </a:p>
                  </a:txBody>
                  <a:tcPr anchor="ctr" anchorCtr="0"/>
                </a:tc>
              </a:tr>
              <a:tr h="381000">
                <a:tc vMerge="1">
                  <a:tcPr/>
                </a:tc>
                <a:tc>
                  <a:txBody>
                    <a:bodyPr/>
                    <a:p>
                      <a:pPr algn="ctr">
                        <a:buNone/>
                      </a:pPr>
                      <a:r>
                        <a:rPr lang="en-US" altLang="zh-CN"/>
                        <a:t>double</a:t>
                      </a:r>
                      <a:endParaRPr lang="en-US" altLang="zh-CN"/>
                    </a:p>
                  </a:txBody>
                  <a:tcPr anchor="ctr" anchorCtr="0"/>
                </a:tc>
                <a:tc>
                  <a:txBody>
                    <a:bodyPr/>
                    <a:p>
                      <a:pPr algn="ctr">
                        <a:buNone/>
                      </a:pPr>
                      <a:r>
                        <a:rPr lang="en-US" altLang="zh-CN"/>
                        <a:t>D</a:t>
                      </a:r>
                      <a:r>
                        <a:rPr lang="en-US" altLang="zh-CN"/>
                        <a:t>ouble</a:t>
                      </a:r>
                      <a:endParaRPr lang="en-US" altLang="zh-CN"/>
                    </a:p>
                  </a:txBody>
                  <a:tcPr anchor="ctr" anchorCtr="0"/>
                </a:tc>
                <a:tc>
                  <a:txBody>
                    <a:bodyPr/>
                    <a:p>
                      <a:pPr algn="ctr">
                        <a:buNone/>
                      </a:pPr>
                      <a:r>
                        <a:rPr lang="en-US" altLang="zh-CN"/>
                        <a:t>NumberS</a:t>
                      </a:r>
                      <a:r>
                        <a:rPr lang="en-US" altLang="zh-CN"/>
                        <a:t>etter(</a:t>
                      </a:r>
                      <a:r>
                        <a:rPr lang="zh-CN" altLang="en-US"/>
                        <a:t>仪表盘</a:t>
                      </a:r>
                      <a:r>
                        <a:rPr lang="en-US" altLang="zh-CN"/>
                        <a:t>/</a:t>
                      </a:r>
                      <a:r>
                        <a:rPr lang="zh-CN" altLang="en-US"/>
                        <a:t>滑块</a:t>
                      </a:r>
                      <a:r>
                        <a:rPr lang="en-US" altLang="zh-CN"/>
                        <a:t>)</a:t>
                      </a:r>
                      <a:endParaRPr lang="en-US" altLang="zh-CN"/>
                    </a:p>
                  </a:txBody>
                  <a:tcPr anchor="ctr" anchorCtr="0"/>
                </a:tc>
              </a:tr>
              <a:tr h="381000">
                <a:tc vMerge="1">
                  <a:tcPr/>
                </a:tc>
                <a:tc>
                  <a:txBody>
                    <a:bodyPr/>
                    <a:p>
                      <a:pPr algn="ctr">
                        <a:buNone/>
                      </a:pPr>
                      <a:r>
                        <a:rPr lang="en-US" altLang="zh-CN"/>
                        <a:t>Enum</a:t>
                      </a:r>
                      <a:endParaRPr lang="en-US" altLang="zh-CN"/>
                    </a:p>
                  </a:txBody>
                  <a:tcPr anchor="ctr" anchorCtr="0"/>
                </a:tc>
                <a:tc>
                  <a:txBody>
                    <a:bodyPr/>
                    <a:p>
                      <a:pPr algn="ctr">
                        <a:buNone/>
                      </a:pPr>
                      <a:r>
                        <a:rPr lang="en-US" altLang="zh-CN"/>
                        <a:t>String</a:t>
                      </a:r>
                      <a:endParaRPr lang="en-US" altLang="zh-CN"/>
                    </a:p>
                  </a:txBody>
                  <a:tcPr anchor="ctr" anchorCtr="0"/>
                </a:tc>
                <a:tc>
                  <a:txBody>
                    <a:bodyPr/>
                    <a:p>
                      <a:pPr algn="ctr">
                        <a:buNone/>
                      </a:pPr>
                      <a:r>
                        <a:rPr lang="en-US" altLang="zh-CN"/>
                        <a:t>SelectSetter(</a:t>
                      </a:r>
                      <a:r>
                        <a:rPr lang="zh-CN" altLang="en-US"/>
                        <a:t>下拉菜单组件</a:t>
                      </a:r>
                      <a:r>
                        <a:rPr lang="en-US" altLang="zh-CN"/>
                        <a:t>)</a:t>
                      </a:r>
                      <a:endParaRPr lang="en-US" altLang="zh-CN"/>
                    </a:p>
                  </a:txBody>
                  <a:tcPr anchor="ctr" anchorCtr="0"/>
                </a:tc>
              </a:tr>
              <a:tr h="381000">
                <a:tc vMerge="1">
                  <a:tcPr/>
                </a:tc>
                <a:tc>
                  <a:txBody>
                    <a:bodyPr/>
                    <a:p>
                      <a:pPr algn="ctr">
                        <a:buNone/>
                      </a:pPr>
                      <a:r>
                        <a:rPr lang="en-US" altLang="zh-CN"/>
                        <a:t>String</a:t>
                      </a:r>
                      <a:endParaRPr lang="en-US" altLang="zh-CN"/>
                    </a:p>
                  </a:txBody>
                  <a:tcPr anchor="ctr" anchorCtr="0"/>
                </a:tc>
                <a:tc>
                  <a:txBody>
                    <a:bodyPr/>
                    <a:p>
                      <a:pPr algn="ctr">
                        <a:buNone/>
                      </a:pPr>
                      <a:r>
                        <a:rPr lang="en-US" altLang="zh-CN"/>
                        <a:t>String</a:t>
                      </a:r>
                      <a:endParaRPr lang="en-US" altLang="zh-CN"/>
                    </a:p>
                  </a:txBody>
                  <a:tcPr anchor="ctr" anchorCtr="0"/>
                </a:tc>
                <a:tc>
                  <a:txBody>
                    <a:bodyPr/>
                    <a:p>
                      <a:pPr algn="ctr">
                        <a:buNone/>
                      </a:pPr>
                      <a:r>
                        <a:rPr lang="en-US" altLang="zh-CN"/>
                        <a:t>TextInputSetter(</a:t>
                      </a:r>
                      <a:r>
                        <a:rPr lang="zh-CN" altLang="en-US"/>
                        <a:t>文字输入组件</a:t>
                      </a:r>
                      <a:r>
                        <a:rPr lang="en-US" altLang="zh-CN"/>
                        <a:t>)</a:t>
                      </a:r>
                      <a:endParaRPr lang="en-US" altLang="zh-CN"/>
                    </a:p>
                  </a:txBody>
                  <a:tcPr anchor="ctr" anchorCtr="0"/>
                </a:tc>
              </a:tr>
              <a:tr h="381000">
                <a:tc>
                  <a:txBody>
                    <a:bodyPr/>
                    <a:p>
                      <a:pPr algn="ctr">
                        <a:buNone/>
                      </a:pPr>
                      <a:r>
                        <a:rPr lang="zh-CN" altLang="en-US"/>
                        <a:t>复杂约束处理</a:t>
                      </a:r>
                      <a:endParaRPr lang="zh-CN" altLang="en-US"/>
                    </a:p>
                  </a:txBody>
                  <a:tcPr anchor="ctr" anchorCtr="0"/>
                </a:tc>
                <a:tc>
                  <a:txBody>
                    <a:bodyPr/>
                    <a:p>
                      <a:pPr algn="ctr">
                        <a:buNone/>
                      </a:pPr>
                      <a:r>
                        <a:rPr lang="en-US" altLang="zh-CN"/>
                        <a:t>Restriction(</a:t>
                      </a:r>
                      <a:r>
                        <a:rPr lang="zh-CN" altLang="en-US"/>
                        <a:t>如</a:t>
                      </a:r>
                      <a:r>
                        <a:rPr lang="en-US" altLang="zh-CN"/>
                        <a:t>Max=100)</a:t>
                      </a:r>
                      <a:endParaRPr lang="zh-CN" altLang="en-US"/>
                    </a:p>
                  </a:txBody>
                  <a:tcPr anchor="ctr" anchorCtr="0"/>
                </a:tc>
                <a:tc>
                  <a:txBody>
                    <a:bodyPr/>
                    <a:p>
                      <a:pPr algn="ctr">
                        <a:buNone/>
                      </a:pPr>
                      <a:endParaRPr lang="en-US" altLang="zh-CN"/>
                    </a:p>
                  </a:txBody>
                  <a:tcPr anchor="ctr" anchorCtr="0"/>
                </a:tc>
                <a:tc>
                  <a:txBody>
                    <a:bodyPr/>
                    <a:p>
                      <a:pPr algn="ctr">
                        <a:buNone/>
                      </a:pPr>
                      <a:r>
                        <a:rPr lang="en-US" altLang="zh-CN"/>
                        <a:t>props.max</a:t>
                      </a:r>
                      <a:r>
                        <a:rPr lang="zh-CN" altLang="en-US"/>
                        <a:t>属性</a:t>
                      </a:r>
                      <a:endParaRPr lang="zh-CN" altLang="en-US"/>
                    </a:p>
                  </a:txBody>
                  <a:tcPr anchor="ctr" anchorCtr="0"/>
                </a:tc>
              </a:tr>
            </a:tbl>
          </a:graphicData>
        </a:graphic>
      </p:graphicFrame>
      <p:pic>
        <p:nvPicPr>
          <p:cNvPr id="6" name="图片 5" descr="未命名绘图"/>
          <p:cNvPicPr>
            <a:picLocks noChangeAspect="1"/>
          </p:cNvPicPr>
          <p:nvPr/>
        </p:nvPicPr>
        <p:blipFill>
          <a:blip r:embed="rId2"/>
          <a:stretch>
            <a:fillRect/>
          </a:stretch>
        </p:blipFill>
        <p:spPr>
          <a:xfrm>
            <a:off x="8122285" y="1224915"/>
            <a:ext cx="3903980" cy="1985010"/>
          </a:xfrm>
          <a:prstGeom prst="rect">
            <a:avLst/>
          </a:prstGeom>
        </p:spPr>
      </p:pic>
      <p:sp>
        <p:nvSpPr>
          <p:cNvPr id="34" name="文本框 33"/>
          <p:cNvSpPr txBox="1"/>
          <p:nvPr>
            <p:custDataLst>
              <p:tags r:id="rId3"/>
            </p:custDataLst>
          </p:nvPr>
        </p:nvSpPr>
        <p:spPr>
          <a:xfrm>
            <a:off x="8874760" y="3339465"/>
            <a:ext cx="2399030" cy="430530"/>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en-US" sz="1600" b="1" dirty="0">
                <a:latin typeface="微软雅黑" panose="020B0503020204020204" pitchFamily="34" charset="-122"/>
                <a:ea typeface="微软雅黑" panose="020B0503020204020204" pitchFamily="34" charset="-122"/>
                <a:sym typeface="+mn-ea"/>
              </a:rPr>
              <a:t>NodeId</a:t>
            </a:r>
            <a:r>
              <a:rPr lang="zh-CN" altLang="en-US" sz="1600" b="1" dirty="0">
                <a:latin typeface="微软雅黑" panose="020B0503020204020204" pitchFamily="34" charset="-122"/>
                <a:ea typeface="微软雅黑" panose="020B0503020204020204" pitchFamily="34" charset="-122"/>
                <a:sym typeface="+mn-ea"/>
              </a:rPr>
              <a:t>绑定</a:t>
            </a:r>
            <a:endParaRPr lang="zh-CN" altLang="en-US" sz="1600" b="1" dirty="0">
              <a:latin typeface="微软雅黑" panose="020B0503020204020204" pitchFamily="34" charset="-122"/>
              <a:ea typeface="微软雅黑" panose="020B0503020204020204" pitchFamily="34" charset="-122"/>
              <a:sym typeface="+mn-ea"/>
            </a:endParaRPr>
          </a:p>
        </p:txBody>
      </p:sp>
      <p:pic>
        <p:nvPicPr>
          <p:cNvPr id="8" name="图片 7" descr="C:/Users/hebgy/Desktop/双模编译器.drawio.png双模编译器.drawio"/>
          <p:cNvPicPr>
            <a:picLocks noChangeAspect="1"/>
          </p:cNvPicPr>
          <p:nvPr/>
        </p:nvPicPr>
        <p:blipFill>
          <a:blip r:embed="rId4"/>
          <a:srcRect l="22" r="22"/>
          <a:stretch>
            <a:fillRect/>
          </a:stretch>
        </p:blipFill>
        <p:spPr>
          <a:xfrm>
            <a:off x="1789430" y="4314825"/>
            <a:ext cx="3537585" cy="1456690"/>
          </a:xfrm>
          <a:prstGeom prst="rect">
            <a:avLst/>
          </a:prstGeom>
        </p:spPr>
      </p:pic>
      <p:sp>
        <p:nvSpPr>
          <p:cNvPr id="9" name="文本框 8"/>
          <p:cNvSpPr txBox="1"/>
          <p:nvPr>
            <p:custDataLst>
              <p:tags r:id="rId5"/>
            </p:custDataLst>
          </p:nvPr>
        </p:nvSpPr>
        <p:spPr>
          <a:xfrm>
            <a:off x="2414905" y="5977255"/>
            <a:ext cx="2399030" cy="430530"/>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altLang="en-US" sz="1600" b="1" dirty="0">
                <a:latin typeface="微软雅黑" panose="020B0503020204020204" pitchFamily="34" charset="-122"/>
                <a:ea typeface="微软雅黑" panose="020B0503020204020204" pitchFamily="34" charset="-122"/>
                <a:sym typeface="+mn-ea"/>
              </a:rPr>
              <a:t>双模</a:t>
            </a:r>
            <a:r>
              <a:rPr lang="zh-CN" altLang="en-US" sz="1600" b="1" dirty="0">
                <a:latin typeface="微软雅黑" panose="020B0503020204020204" pitchFamily="34" charset="-122"/>
                <a:ea typeface="微软雅黑" panose="020B0503020204020204" pitchFamily="34" charset="-122"/>
                <a:sym typeface="+mn-ea"/>
              </a:rPr>
              <a:t>编译器</a:t>
            </a:r>
            <a:endParaRPr lang="zh-CN" altLang="en-US" sz="1600" b="1" dirty="0">
              <a:latin typeface="微软雅黑" panose="020B0503020204020204" pitchFamily="34" charset="-122"/>
              <a:ea typeface="微软雅黑" panose="020B0503020204020204" pitchFamily="34" charset="-122"/>
              <a:sym typeface="+mn-ea"/>
            </a:endParaRPr>
          </a:p>
        </p:txBody>
      </p:sp>
      <p:sp>
        <p:nvSpPr>
          <p:cNvPr id="54" name="学论网-矩形 1"/>
          <p:cNvSpPr/>
          <p:nvPr>
            <p:custDataLst>
              <p:tags r:id="rId6"/>
            </p:custDataLst>
          </p:nvPr>
        </p:nvSpPr>
        <p:spPr>
          <a:xfrm>
            <a:off x="6353175" y="4475480"/>
            <a:ext cx="3896995" cy="175196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7" name="学论网-www.xuelun.me"/>
          <p:cNvSpPr txBox="1"/>
          <p:nvPr>
            <p:custDataLst>
              <p:tags r:id="rId7"/>
            </p:custDataLst>
          </p:nvPr>
        </p:nvSpPr>
        <p:spPr>
          <a:xfrm>
            <a:off x="6409690" y="4566920"/>
            <a:ext cx="3749675" cy="1536065"/>
          </a:xfrm>
          <a:prstGeom prst="rect">
            <a:avLst/>
          </a:prstGeom>
          <a:noFill/>
          <a:ln>
            <a:noFill/>
          </a:ln>
        </p:spPr>
        <p:txBody>
          <a:bodyPr wrap="square" lIns="0" tIns="0" rIns="0" bIns="0" rtlCol="0">
            <a:noAutofit/>
          </a:bodyPr>
          <a:lstStyle/>
          <a:p>
            <a:pPr indent="45720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进行本体</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OWL</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文件解析的时候同时处理</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OPC UA</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服务器节点结构和前端组件结构，最终生成能够连接</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OPC UA</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服务器的零代码平台组件</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Schema</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endPar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课题</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52695" y="215900"/>
            <a:ext cx="1344295" cy="347980"/>
          </a:xfrm>
          <a:prstGeom prst="rect">
            <a:avLst/>
          </a:prstGeom>
          <a:noFill/>
        </p:spPr>
        <p:txBody>
          <a:bodyPr wrap="square" lIns="0" tIns="48000" rIns="0" bIns="48000" rtlCol="0">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技术路线</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已完成的工作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nvPicPr>
        <p:blipFill>
          <a:blip r:embed="rId1"/>
          <a:stretch>
            <a:fillRect/>
          </a:stretch>
        </p:blipFill>
        <p:spPr>
          <a:xfrm>
            <a:off x="281305" y="0"/>
            <a:ext cx="2687955" cy="749300"/>
          </a:xfrm>
          <a:prstGeom prst="rect">
            <a:avLst/>
          </a:prstGeom>
          <a:noFill/>
        </p:spPr>
      </p:pic>
      <p:sp>
        <p:nvSpPr>
          <p:cNvPr id="2" name="学论网-矩形 1"/>
          <p:cNvSpPr/>
          <p:nvPr>
            <p:custDataLst>
              <p:tags r:id="rId2"/>
            </p:custDataLst>
          </p:nvPr>
        </p:nvSpPr>
        <p:spPr>
          <a:xfrm>
            <a:off x="656590" y="2165985"/>
            <a:ext cx="3460115" cy="175196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3" name="学论网-www.xuelun.me"/>
          <p:cNvSpPr txBox="1"/>
          <p:nvPr>
            <p:custDataLst>
              <p:tags r:id="rId3"/>
            </p:custDataLst>
          </p:nvPr>
        </p:nvSpPr>
        <p:spPr>
          <a:xfrm>
            <a:off x="713105" y="2257425"/>
            <a:ext cx="3329305" cy="1536065"/>
          </a:xfrm>
          <a:prstGeom prst="rect">
            <a:avLst/>
          </a:prstGeom>
          <a:noFill/>
          <a:ln>
            <a:noFill/>
          </a:ln>
        </p:spPr>
        <p:txBody>
          <a:bodyPr wrap="square" lIns="0" tIns="0" rIns="0" bIns="0" rtlCol="0">
            <a:noAutofit/>
          </a:bodyPr>
          <a:lstStyle/>
          <a:p>
            <a:pPr indent="457200" algn="l" fontAlgn="auto">
              <a:lnSpc>
                <a:spcPct val="150000"/>
              </a:lnSpc>
              <a:buClrTx/>
              <a:buSzTx/>
              <a:buFontTx/>
            </a:pPr>
            <a:r>
              <a:rPr lang="zh-CN" sz="1600" b="1">
                <a:latin typeface="微软雅黑" panose="020B0503020204020204" pitchFamily="34" charset="-122"/>
                <a:ea typeface="微软雅黑" panose="020B0503020204020204" pitchFamily="34" charset="-122"/>
                <a:cs typeface="微软雅黑" panose="020B0503020204020204" pitchFamily="34" charset="-122"/>
                <a:sym typeface="+mn-ea"/>
              </a:rPr>
              <a:t>问题形式化：</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如何针对已经搭建好的组件进行合规、安全、高性能的可信验证，确保生成的组件代码是可运行并且相对无安全隐患</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的</a:t>
            </a:r>
            <a:endParaRPr lang="zh-CN"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学论网-矩形 1"/>
          <p:cNvSpPr/>
          <p:nvPr>
            <p:custDataLst>
              <p:tags r:id="rId4"/>
            </p:custDataLst>
          </p:nvPr>
        </p:nvSpPr>
        <p:spPr>
          <a:xfrm>
            <a:off x="656590" y="4029710"/>
            <a:ext cx="3460115" cy="136398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10" name="学论网-www.xuelun.me"/>
          <p:cNvSpPr txBox="1"/>
          <p:nvPr>
            <p:custDataLst>
              <p:tags r:id="rId5"/>
            </p:custDataLst>
          </p:nvPr>
        </p:nvSpPr>
        <p:spPr>
          <a:xfrm>
            <a:off x="713105" y="4121150"/>
            <a:ext cx="3329305" cy="1196340"/>
          </a:xfrm>
          <a:prstGeom prst="rect">
            <a:avLst/>
          </a:prstGeom>
          <a:noFill/>
          <a:ln>
            <a:noFill/>
          </a:ln>
        </p:spPr>
        <p:txBody>
          <a:bodyPr wrap="square" lIns="0" tIns="0" rIns="0" bIns="0" rtlCol="0">
            <a:noAutofit/>
          </a:bodyPr>
          <a:lstStyle/>
          <a:p>
            <a:pPr indent="457200" algn="l" fontAlgn="auto">
              <a:lnSpc>
                <a:spcPct val="150000"/>
              </a:lnSpc>
              <a:buClrTx/>
              <a:buSzTx/>
              <a:buFontTx/>
            </a:pPr>
            <a:r>
              <a:rPr lang="zh-CN" sz="1600" b="1">
                <a:latin typeface="微软雅黑" panose="020B0503020204020204" pitchFamily="34" charset="-122"/>
                <a:ea typeface="微软雅黑" panose="020B0503020204020204" pitchFamily="34" charset="-122"/>
                <a:cs typeface="微软雅黑" panose="020B0503020204020204" pitchFamily="34" charset="-122"/>
                <a:sym typeface="+mn-ea"/>
              </a:rPr>
              <a:t>解决问题：</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三层可信验证框架，分别为静态</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schema</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一致性检验、动态控制流检验和工业语义</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验证。</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任意多边形: 形状 236"/>
          <p:cNvSpPr/>
          <p:nvPr>
            <p:custDataLst>
              <p:tags r:id="rId6"/>
            </p:custDataLst>
          </p:nvPr>
        </p:nvSpPr>
        <p:spPr>
          <a:xfrm>
            <a:off x="6789420" y="4413250"/>
            <a:ext cx="1332865" cy="1102995"/>
          </a:xfrm>
          <a:custGeom>
            <a:avLst/>
            <a:gdLst>
              <a:gd name="connsiteX0" fmla="*/ 2380641 w 2380640"/>
              <a:gd name="connsiteY0" fmla="*/ 661035 h 661035"/>
              <a:gd name="connsiteX1" fmla="*/ 0 w 2380640"/>
              <a:gd name="connsiteY1" fmla="*/ 661035 h 661035"/>
              <a:gd name="connsiteX2" fmla="*/ 348386 w 2380640"/>
              <a:gd name="connsiteY2" fmla="*/ 53797 h 661035"/>
              <a:gd name="connsiteX3" fmla="*/ 441427 w 2380640"/>
              <a:gd name="connsiteY3" fmla="*/ 0 h 661035"/>
              <a:gd name="connsiteX4" fmla="*/ 1939214 w 2380640"/>
              <a:gd name="connsiteY4" fmla="*/ 0 h 661035"/>
              <a:gd name="connsiteX5" fmla="*/ 2032178 w 2380640"/>
              <a:gd name="connsiteY5" fmla="*/ 53797 h 661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0640" h="661035">
                <a:moveTo>
                  <a:pt x="2380641" y="661035"/>
                </a:moveTo>
                <a:lnTo>
                  <a:pt x="0" y="661035"/>
                </a:lnTo>
                <a:lnTo>
                  <a:pt x="348386" y="53797"/>
                </a:lnTo>
                <a:cubicBezTo>
                  <a:pt x="367520" y="20490"/>
                  <a:pt x="403014" y="-30"/>
                  <a:pt x="441427" y="0"/>
                </a:cubicBezTo>
                <a:lnTo>
                  <a:pt x="1939214" y="0"/>
                </a:lnTo>
                <a:cubicBezTo>
                  <a:pt x="1977603" y="-15"/>
                  <a:pt x="2013067" y="20505"/>
                  <a:pt x="2032178" y="53797"/>
                </a:cubicBezTo>
                <a:close/>
              </a:path>
            </a:pathLst>
          </a:custGeom>
          <a:gradFill>
            <a:gsLst>
              <a:gs pos="0">
                <a:schemeClr val="accent1">
                  <a:lumMod val="60000"/>
                  <a:lumOff val="40000"/>
                </a:schemeClr>
              </a:gs>
              <a:gs pos="71000">
                <a:schemeClr val="accent1">
                  <a:alpha val="10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53975" rIns="91440" bIns="3619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en-US" altLang="zh-CN" b="1">
                <a:solidFill>
                  <a:srgbClr val="FFFFFF"/>
                </a:solidFill>
                <a:latin typeface="+mn-ea"/>
                <a:cs typeface="+mn-ea"/>
                <a:sym typeface="+mn-ea"/>
              </a:rPr>
              <a:t>03</a:t>
            </a:r>
            <a:endParaRPr lang="en-US" altLang="zh-CN" b="1">
              <a:solidFill>
                <a:srgbClr val="FFFFFF"/>
              </a:solidFill>
              <a:latin typeface="+mn-ea"/>
              <a:cs typeface="+mn-ea"/>
              <a:sym typeface="+mn-ea"/>
            </a:endParaRPr>
          </a:p>
        </p:txBody>
      </p:sp>
      <p:sp>
        <p:nvSpPr>
          <p:cNvPr id="12" name="任意多边形: 形状 237"/>
          <p:cNvSpPr/>
          <p:nvPr>
            <p:custDataLst>
              <p:tags r:id="rId7"/>
            </p:custDataLst>
          </p:nvPr>
        </p:nvSpPr>
        <p:spPr>
          <a:xfrm>
            <a:off x="7016115" y="3233420"/>
            <a:ext cx="878840" cy="1102995"/>
          </a:xfrm>
          <a:custGeom>
            <a:avLst/>
            <a:gdLst>
              <a:gd name="connsiteX0" fmla="*/ 1569720 w 1569720"/>
              <a:gd name="connsiteY0" fmla="*/ 661035 h 661035"/>
              <a:gd name="connsiteX1" fmla="*/ 0 w 1569720"/>
              <a:gd name="connsiteY1" fmla="*/ 661035 h 661035"/>
              <a:gd name="connsiteX2" fmla="*/ 355778 w 1569720"/>
              <a:gd name="connsiteY2" fmla="*/ 40843 h 661035"/>
              <a:gd name="connsiteX3" fmla="*/ 426339 w 1569720"/>
              <a:gd name="connsiteY3" fmla="*/ 0 h 661035"/>
              <a:gd name="connsiteX4" fmla="*/ 1143229 w 1569720"/>
              <a:gd name="connsiteY4" fmla="*/ 0 h 661035"/>
              <a:gd name="connsiteX5" fmla="*/ 1213714 w 1569720"/>
              <a:gd name="connsiteY5" fmla="*/ 40843 h 661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9720" h="661035">
                <a:moveTo>
                  <a:pt x="1569720" y="661035"/>
                </a:moveTo>
                <a:lnTo>
                  <a:pt x="0" y="661035"/>
                </a:lnTo>
                <a:lnTo>
                  <a:pt x="355778" y="40843"/>
                </a:lnTo>
                <a:cubicBezTo>
                  <a:pt x="370271" y="15560"/>
                  <a:pt x="397193" y="-30"/>
                  <a:pt x="426339" y="0"/>
                </a:cubicBezTo>
                <a:lnTo>
                  <a:pt x="1143229" y="0"/>
                </a:lnTo>
                <a:cubicBezTo>
                  <a:pt x="1172352" y="-15"/>
                  <a:pt x="1199251" y="15568"/>
                  <a:pt x="1213714" y="40843"/>
                </a:cubicBezTo>
                <a:close/>
              </a:path>
            </a:pathLst>
          </a:custGeom>
          <a:gradFill>
            <a:gsLst>
              <a:gs pos="0">
                <a:schemeClr val="accent2">
                  <a:lumMod val="60000"/>
                  <a:lumOff val="40000"/>
                </a:schemeClr>
              </a:gs>
              <a:gs pos="71000">
                <a:schemeClr val="accent2"/>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53975" rIns="91440" bIns="3619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en-US" altLang="zh-CN" b="1">
                <a:solidFill>
                  <a:srgbClr val="FFFFFF"/>
                </a:solidFill>
                <a:latin typeface="+mn-ea"/>
                <a:cs typeface="+mn-ea"/>
                <a:sym typeface="+mn-ea"/>
              </a:rPr>
              <a:t>02</a:t>
            </a:r>
            <a:endParaRPr lang="en-US" altLang="zh-CN" b="1">
              <a:solidFill>
                <a:srgbClr val="FFFFFF"/>
              </a:solidFill>
              <a:latin typeface="+mn-ea"/>
              <a:cs typeface="+mn-ea"/>
              <a:sym typeface="+mn-ea"/>
            </a:endParaRPr>
          </a:p>
        </p:txBody>
      </p:sp>
      <p:sp>
        <p:nvSpPr>
          <p:cNvPr id="14" name="任意多边形: 形状 238"/>
          <p:cNvSpPr/>
          <p:nvPr>
            <p:custDataLst>
              <p:tags r:id="rId8"/>
            </p:custDataLst>
          </p:nvPr>
        </p:nvSpPr>
        <p:spPr>
          <a:xfrm>
            <a:off x="7242810" y="2121535"/>
            <a:ext cx="424815" cy="1035050"/>
          </a:xfrm>
          <a:custGeom>
            <a:avLst/>
            <a:gdLst>
              <a:gd name="connsiteX0" fmla="*/ 758495 w 758494"/>
              <a:gd name="connsiteY0" fmla="*/ 620236 h 620235"/>
              <a:gd name="connsiteX1" fmla="*/ 0 w 758494"/>
              <a:gd name="connsiteY1" fmla="*/ 620236 h 620235"/>
              <a:gd name="connsiteX2" fmla="*/ 344119 w 758494"/>
              <a:gd name="connsiteY2" fmla="*/ 20389 h 620235"/>
              <a:gd name="connsiteX3" fmla="*/ 399326 w 758494"/>
              <a:gd name="connsiteY3" fmla="*/ 5341 h 620235"/>
              <a:gd name="connsiteX4" fmla="*/ 414376 w 758494"/>
              <a:gd name="connsiteY4" fmla="*/ 20389 h 620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494" h="620235">
                <a:moveTo>
                  <a:pt x="758495" y="620236"/>
                </a:moveTo>
                <a:lnTo>
                  <a:pt x="0" y="620236"/>
                </a:lnTo>
                <a:lnTo>
                  <a:pt x="344119" y="20389"/>
                </a:lnTo>
                <a:cubicBezTo>
                  <a:pt x="355206" y="989"/>
                  <a:pt x="379926" y="-5749"/>
                  <a:pt x="399326" y="5341"/>
                </a:cubicBezTo>
                <a:cubicBezTo>
                  <a:pt x="405597" y="8924"/>
                  <a:pt x="410794" y="14120"/>
                  <a:pt x="414376" y="20389"/>
                </a:cubicBezTo>
                <a:close/>
              </a:path>
            </a:pathLst>
          </a:custGeom>
          <a:gradFill>
            <a:gsLst>
              <a:gs pos="0">
                <a:schemeClr val="accent1">
                  <a:lumMod val="60000"/>
                  <a:lumOff val="40000"/>
                </a:schemeClr>
              </a:gs>
              <a:gs pos="71000">
                <a:schemeClr val="accent1">
                  <a:alpha val="10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215900" rIns="91440" bIns="3619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en-US" altLang="zh-CN" b="1">
                <a:solidFill>
                  <a:srgbClr val="FFFFFF"/>
                </a:solidFill>
                <a:latin typeface="+mn-ea"/>
                <a:cs typeface="+mn-ea"/>
                <a:sym typeface="+mn-ea"/>
              </a:rPr>
              <a:t>01</a:t>
            </a:r>
            <a:endParaRPr lang="en-US" altLang="zh-CN" b="1">
              <a:solidFill>
                <a:srgbClr val="FFFFFF"/>
              </a:solidFill>
              <a:latin typeface="+mn-ea"/>
              <a:cs typeface="+mn-ea"/>
              <a:sym typeface="+mn-ea"/>
            </a:endParaRPr>
          </a:p>
        </p:txBody>
      </p:sp>
      <p:sp>
        <p:nvSpPr>
          <p:cNvPr id="23" name="学论网-矩形 1"/>
          <p:cNvSpPr/>
          <p:nvPr>
            <p:custDataLst>
              <p:tags r:id="rId9"/>
            </p:custDataLst>
          </p:nvPr>
        </p:nvSpPr>
        <p:spPr>
          <a:xfrm>
            <a:off x="8429625" y="2184400"/>
            <a:ext cx="3534410" cy="90868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25" name="学论网-www.xuelun.me"/>
          <p:cNvSpPr txBox="1"/>
          <p:nvPr>
            <p:custDataLst>
              <p:tags r:id="rId10"/>
            </p:custDataLst>
          </p:nvPr>
        </p:nvSpPr>
        <p:spPr>
          <a:xfrm>
            <a:off x="8489315" y="2183765"/>
            <a:ext cx="3400425" cy="909320"/>
          </a:xfrm>
          <a:prstGeom prst="rect">
            <a:avLst/>
          </a:prstGeom>
          <a:noFill/>
          <a:ln>
            <a:noFill/>
          </a:ln>
        </p:spPr>
        <p:txBody>
          <a:bodyPr wrap="square" lIns="0" tIns="0" rIns="0" bIns="0" rtlCol="0">
            <a:noAutofit/>
          </a:bodyPr>
          <a:lstStyle/>
          <a:p>
            <a:pPr indent="0" algn="l" fontAlgn="auto">
              <a:lnSpc>
                <a:spcPct val="150000"/>
              </a:lnSpc>
              <a:buClrTx/>
              <a:buSzTx/>
              <a:buFontTx/>
            </a:pP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NodeId</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无法对应</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数据类型不匹配</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读写权限越权</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语法残缺</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9" name="学论网-矩形 1"/>
          <p:cNvSpPr/>
          <p:nvPr>
            <p:custDataLst>
              <p:tags r:id="rId11"/>
            </p:custDataLst>
          </p:nvPr>
        </p:nvSpPr>
        <p:spPr>
          <a:xfrm>
            <a:off x="8411845" y="3334385"/>
            <a:ext cx="3534410" cy="90868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34" name="学论网-www.xuelun.me"/>
          <p:cNvSpPr txBox="1"/>
          <p:nvPr>
            <p:custDataLst>
              <p:tags r:id="rId12"/>
            </p:custDataLst>
          </p:nvPr>
        </p:nvSpPr>
        <p:spPr>
          <a:xfrm>
            <a:off x="8471535" y="3333750"/>
            <a:ext cx="3400425" cy="909320"/>
          </a:xfrm>
          <a:prstGeom prst="rect">
            <a:avLst/>
          </a:prstGeom>
          <a:noFill/>
          <a:ln>
            <a:noFill/>
          </a:ln>
        </p:spPr>
        <p:txBody>
          <a:bodyPr wrap="square" lIns="0" tIns="0" rIns="0" bIns="0" rtlCol="0">
            <a:noAutofit/>
          </a:bodyPr>
          <a:lstStyle/>
          <a:p>
            <a:pPr indent="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非法全局访问</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无限递归与死循环</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异步竞态冲突</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动态代码执行</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6" name="学论网-矩形 1"/>
          <p:cNvSpPr/>
          <p:nvPr>
            <p:custDataLst>
              <p:tags r:id="rId13"/>
            </p:custDataLst>
          </p:nvPr>
        </p:nvSpPr>
        <p:spPr>
          <a:xfrm>
            <a:off x="8411845" y="4485005"/>
            <a:ext cx="3534410" cy="90868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37" name="学论网-www.xuelun.me"/>
          <p:cNvSpPr txBox="1"/>
          <p:nvPr>
            <p:custDataLst>
              <p:tags r:id="rId14"/>
            </p:custDataLst>
          </p:nvPr>
        </p:nvSpPr>
        <p:spPr>
          <a:xfrm>
            <a:off x="8471535" y="4484370"/>
            <a:ext cx="3400425" cy="909320"/>
          </a:xfrm>
          <a:prstGeom prst="rect">
            <a:avLst/>
          </a:prstGeom>
          <a:noFill/>
          <a:ln>
            <a:noFill/>
          </a:ln>
        </p:spPr>
        <p:txBody>
          <a:bodyPr wrap="square" lIns="0" tIns="0" rIns="0" bIns="0" rtlCol="0">
            <a:noAutofit/>
          </a:bodyPr>
          <a:lstStyle/>
          <a:p>
            <a:pPr indent="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越限操作错误</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工艺时序错误</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Tx/>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环境参数扰动</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能源负载过载</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学论网www.xuelun.me-矩形 1"/>
          <p:cNvSpPr/>
          <p:nvPr>
            <p:custDataLst>
              <p:tags r:id="rId15"/>
            </p:custDataLst>
          </p:nvPr>
        </p:nvSpPr>
        <p:spPr>
          <a:xfrm>
            <a:off x="4936490" y="2184400"/>
            <a:ext cx="1259840" cy="889635"/>
          </a:xfrm>
          <a:prstGeom prst="rect">
            <a:avLst/>
          </a:prstGeom>
          <a:solidFill>
            <a:srgbClr val="0070C0"/>
          </a:solidFill>
          <a:ln w="19050">
            <a:solidFill>
              <a:srgbClr val="0D8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rPr>
              <a:t>AJV</a:t>
            </a:r>
            <a:r>
              <a:rPr lang="zh-CN" altLang="en-US"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rPr>
              <a:t>校验器</a:t>
            </a:r>
            <a:endParaRPr lang="zh-CN" altLang="en-US"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39" name="学论网www.xuelun.me-矩形 1"/>
          <p:cNvSpPr/>
          <p:nvPr>
            <p:custDataLst>
              <p:tags r:id="rId16"/>
            </p:custDataLst>
          </p:nvPr>
        </p:nvSpPr>
        <p:spPr>
          <a:xfrm>
            <a:off x="4936490" y="3325495"/>
            <a:ext cx="1259840" cy="889635"/>
          </a:xfrm>
          <a:prstGeom prst="rect">
            <a:avLst/>
          </a:prstGeom>
          <a:solidFill>
            <a:srgbClr val="0070C0"/>
          </a:solidFill>
          <a:ln w="19050">
            <a:solidFill>
              <a:srgbClr val="0D8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rPr>
              <a:t>Babel Parser</a:t>
            </a:r>
            <a:endParaRPr lang="en-US" altLang="zh-CN"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40" name="学论网www.xuelun.me-矩形 1"/>
          <p:cNvSpPr/>
          <p:nvPr>
            <p:custDataLst>
              <p:tags r:id="rId17"/>
            </p:custDataLst>
          </p:nvPr>
        </p:nvSpPr>
        <p:spPr>
          <a:xfrm>
            <a:off x="4936490" y="4466590"/>
            <a:ext cx="1259840" cy="889635"/>
          </a:xfrm>
          <a:prstGeom prst="rect">
            <a:avLst/>
          </a:prstGeom>
          <a:solidFill>
            <a:srgbClr val="0070C0"/>
          </a:solidFill>
          <a:ln w="19050">
            <a:solidFill>
              <a:srgbClr val="0D8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rPr>
              <a:t>Shadow OPC UA</a:t>
            </a:r>
            <a:endParaRPr lang="en-US" altLang="zh-CN"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P spid="38" grpId="0" bldLvl="0" animBg="1"/>
      <p:bldP spid="39" grpId="0" bldLvl="0" animBg="1"/>
      <p:bldP spid="40"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课题</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52695" y="215900"/>
            <a:ext cx="1344295" cy="347980"/>
          </a:xfrm>
          <a:prstGeom prst="rect">
            <a:avLst/>
          </a:prstGeom>
          <a:noFill/>
        </p:spPr>
        <p:txBody>
          <a:bodyPr wrap="square" lIns="0" tIns="48000" rIns="0" bIns="48000" rtlCol="0">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技术路线</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已完成的工作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nvPicPr>
        <p:blipFill>
          <a:blip r:embed="rId1"/>
          <a:stretch>
            <a:fillRect/>
          </a:stretch>
        </p:blipFill>
        <p:spPr>
          <a:xfrm>
            <a:off x="281305" y="0"/>
            <a:ext cx="2687955" cy="749300"/>
          </a:xfrm>
          <a:prstGeom prst="rect">
            <a:avLst/>
          </a:prstGeom>
          <a:noFill/>
        </p:spPr>
      </p:pic>
      <p:sp>
        <p:nvSpPr>
          <p:cNvPr id="6" name="学论网-矩形 1"/>
          <p:cNvSpPr/>
          <p:nvPr>
            <p:custDataLst>
              <p:tags r:id="rId2"/>
            </p:custDataLst>
          </p:nvPr>
        </p:nvSpPr>
        <p:spPr>
          <a:xfrm>
            <a:off x="1205865" y="988060"/>
            <a:ext cx="10246360" cy="278511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7" name="学论网-www.xuelun.me"/>
          <p:cNvSpPr txBox="1"/>
          <p:nvPr>
            <p:custDataLst>
              <p:tags r:id="rId3"/>
            </p:custDataLst>
          </p:nvPr>
        </p:nvSpPr>
        <p:spPr>
          <a:xfrm>
            <a:off x="1262380" y="1079500"/>
            <a:ext cx="10081895" cy="2595245"/>
          </a:xfrm>
          <a:prstGeom prst="rect">
            <a:avLst/>
          </a:prstGeom>
          <a:noFill/>
          <a:ln>
            <a:noFill/>
          </a:ln>
        </p:spPr>
        <p:txBody>
          <a:bodyPr wrap="square" lIns="0" tIns="0" rIns="0" bIns="0" rtlCol="0">
            <a:noAutofit/>
          </a:bodyPr>
          <a:lstStyle/>
          <a:p>
            <a:pPr indent="457200" algn="l" fontAlgn="auto">
              <a:lnSpc>
                <a:spcPct val="150000"/>
              </a:lnSpc>
              <a:buClrTx/>
              <a:buSzTx/>
              <a:buFontTx/>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元模型提取</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：首先，通过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Java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模块解析阶段二生成的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NodeSet XML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资产文件，提取所有合法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NodeId</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、访问等级（</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AccessLevel</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）及数据类型。</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indent="457200" algn="l" fontAlgn="auto">
              <a:lnSpc>
                <a:spcPct val="150000"/>
              </a:lnSpc>
              <a:buClrTx/>
              <a:buSzTx/>
              <a:buFontTx/>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自动化 </a:t>
            </a:r>
            <a:r>
              <a:rPr lang="en-US" altLang="zh-CN" sz="1600" b="1">
                <a:latin typeface="微软雅黑" panose="020B0503020204020204" pitchFamily="34" charset="-122"/>
                <a:ea typeface="微软雅黑" panose="020B0503020204020204" pitchFamily="34" charset="-122"/>
                <a:cs typeface="微软雅黑" panose="020B0503020204020204" pitchFamily="34" charset="-122"/>
                <a:sym typeface="+mn-ea"/>
              </a:rPr>
              <a:t>Validator </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生成</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：利用 </a:t>
            </a:r>
            <a:r>
              <a:rPr lang="en-US" altLang="zh-CN" sz="1600" b="1">
                <a:latin typeface="微软雅黑" panose="020B0503020204020204" pitchFamily="34" charset="-122"/>
                <a:ea typeface="微软雅黑" panose="020B0503020204020204" pitchFamily="34" charset="-122"/>
                <a:cs typeface="微软雅黑" panose="020B0503020204020204" pitchFamily="34" charset="-122"/>
                <a:sym typeface="+mn-ea"/>
              </a:rPr>
              <a:t>Ajv </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框架</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，将提取的工业约束注入到校验模板中，生成针对该特定设备的校验器。</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indent="457200" algn="l" fontAlgn="auto">
              <a:lnSpc>
                <a:spcPct val="150000"/>
              </a:lnSpc>
              <a:buClrTx/>
              <a:buSzTx/>
              <a:buFontTx/>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一致性比对逻辑</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：当用户保存低代码页面时，验证器会递归遍历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Schema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树，检查每一个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DataSource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绑定的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nodeId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是否在当前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OPC UA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地址空间内真实存在，并校验写入值的类型是否符合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DataType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定义（如禁止向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Double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节点写入 </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String</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学论网-矩形 1"/>
          <p:cNvSpPr/>
          <p:nvPr>
            <p:custDataLst>
              <p:tags r:id="rId4"/>
            </p:custDataLst>
          </p:nvPr>
        </p:nvSpPr>
        <p:spPr>
          <a:xfrm>
            <a:off x="1224915" y="3900170"/>
            <a:ext cx="10246360" cy="278511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9" name="学论网-www.xuelun.me"/>
          <p:cNvSpPr txBox="1"/>
          <p:nvPr>
            <p:custDataLst>
              <p:tags r:id="rId5"/>
            </p:custDataLst>
          </p:nvPr>
        </p:nvSpPr>
        <p:spPr>
          <a:xfrm>
            <a:off x="1281430" y="3991610"/>
            <a:ext cx="10081895" cy="2595245"/>
          </a:xfrm>
          <a:prstGeom prst="rect">
            <a:avLst/>
          </a:prstGeom>
          <a:noFill/>
          <a:ln>
            <a:noFill/>
          </a:ln>
        </p:spPr>
        <p:txBody>
          <a:bodyPr wrap="square" lIns="0" tIns="0" rIns="0" bIns="0" rtlCol="0">
            <a:noAutofit/>
          </a:bodyPr>
          <a:lstStyle/>
          <a:p>
            <a:pPr indent="457200" algn="l" fontAlgn="auto">
              <a:lnSpc>
                <a:spcPct val="150000"/>
              </a:lnSpc>
              <a:buClrTx/>
              <a:buSzTx/>
              <a:buFontTx/>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AST 源码解析：</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采用 Babel Parser 将用户输入的字符串代码转化为标准的抽象语法树（AST）。</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特征提取与安全沙箱：</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利用 Visitor 模式遍历 AST。首先进行“黑名单扫描”，拦截试图访问 window、document 等浏览器全局对象的操作，防止 XSS 攻击；其次拦截 eval() 等动态执行函数，消除注入风险。</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控制流与性能分析：</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通过分析 AST 的循环节点（For/While）和递归深度，检测是否存在无终止条件或执行开销巨大的代码段，避免工业控制应用产生卡顿导致指令延时。</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学论网www.xuelun.me-矩形 1"/>
          <p:cNvSpPr/>
          <p:nvPr>
            <p:custDataLst>
              <p:tags r:id="rId6"/>
            </p:custDataLst>
          </p:nvPr>
        </p:nvSpPr>
        <p:spPr>
          <a:xfrm>
            <a:off x="695960" y="988060"/>
            <a:ext cx="443865" cy="2785110"/>
          </a:xfrm>
          <a:prstGeom prst="rect">
            <a:avLst/>
          </a:prstGeom>
          <a:solidFill>
            <a:srgbClr val="0070C0"/>
          </a:solidFill>
          <a:ln w="19050">
            <a:solidFill>
              <a:srgbClr val="0D8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rPr>
              <a:t>L1</a:t>
            </a:r>
            <a:endParaRPr lang="en-US" altLang="zh-CN"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13" name="学论网www.xuelun.me-矩形 1"/>
          <p:cNvSpPr/>
          <p:nvPr>
            <p:custDataLst>
              <p:tags r:id="rId7"/>
            </p:custDataLst>
          </p:nvPr>
        </p:nvSpPr>
        <p:spPr>
          <a:xfrm>
            <a:off x="695960" y="3900170"/>
            <a:ext cx="443865" cy="2785110"/>
          </a:xfrm>
          <a:prstGeom prst="rect">
            <a:avLst/>
          </a:prstGeom>
          <a:solidFill>
            <a:srgbClr val="0070C0"/>
          </a:solidFill>
          <a:ln w="19050">
            <a:solidFill>
              <a:srgbClr val="0D8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rPr>
              <a:t>L2</a:t>
            </a:r>
            <a:endParaRPr lang="en-US" altLang="zh-CN"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P spid="17" grpId="0" bldLvl="0" animBg="1"/>
      <p:bldP spid="13"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课题</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框架概述</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52695" y="215900"/>
            <a:ext cx="1344295" cy="347980"/>
          </a:xfrm>
          <a:prstGeom prst="rect">
            <a:avLst/>
          </a:prstGeom>
          <a:noFill/>
        </p:spPr>
        <p:txBody>
          <a:bodyPr wrap="square" lIns="0" tIns="48000" rIns="0" bIns="48000" rtlCol="0">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技术路线</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已完成的工作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nvPicPr>
        <p:blipFill>
          <a:blip r:embed="rId1"/>
          <a:stretch>
            <a:fillRect/>
          </a:stretch>
        </p:blipFill>
        <p:spPr>
          <a:xfrm>
            <a:off x="281305" y="0"/>
            <a:ext cx="2687955" cy="749300"/>
          </a:xfrm>
          <a:prstGeom prst="rect">
            <a:avLst/>
          </a:prstGeom>
          <a:noFill/>
        </p:spPr>
      </p:pic>
      <p:sp>
        <p:nvSpPr>
          <p:cNvPr id="16" name="学论网-矩形 1"/>
          <p:cNvSpPr/>
          <p:nvPr>
            <p:custDataLst>
              <p:tags r:id="rId2"/>
            </p:custDataLst>
          </p:nvPr>
        </p:nvSpPr>
        <p:spPr>
          <a:xfrm>
            <a:off x="1205865" y="988060"/>
            <a:ext cx="10246360" cy="285877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18" name="学论网-www.xuelun.me"/>
          <p:cNvSpPr txBox="1"/>
          <p:nvPr>
            <p:custDataLst>
              <p:tags r:id="rId3"/>
            </p:custDataLst>
          </p:nvPr>
        </p:nvSpPr>
        <p:spPr>
          <a:xfrm>
            <a:off x="1262380" y="1079500"/>
            <a:ext cx="10081895" cy="2628900"/>
          </a:xfrm>
          <a:prstGeom prst="rect">
            <a:avLst/>
          </a:prstGeom>
          <a:noFill/>
          <a:ln>
            <a:noFill/>
          </a:ln>
        </p:spPr>
        <p:txBody>
          <a:bodyPr wrap="square" lIns="0" tIns="0" rIns="0" bIns="0" rtlCol="0">
            <a:noAutofit/>
          </a:bodyPr>
          <a:lstStyle/>
          <a:p>
            <a:pPr indent="457200" algn="l" fontAlgn="auto">
              <a:lnSpc>
                <a:spcPct val="150000"/>
              </a:lnSpc>
              <a:buClrTx/>
              <a:buSzTx/>
              <a:buFontTx/>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边界值知识提取：</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加载</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IMKG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知识图谱，提取具体设备的物理极限（如最大负载、量程极限</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EURange</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影子服务器（</a:t>
            </a:r>
            <a:r>
              <a:rPr lang="en-US" altLang="zh-CN" sz="1600" b="1">
                <a:latin typeface="微软雅黑" panose="020B0503020204020204" pitchFamily="34" charset="-122"/>
                <a:ea typeface="微软雅黑" panose="020B0503020204020204" pitchFamily="34" charset="-122"/>
                <a:cs typeface="微软雅黑" panose="020B0503020204020204" pitchFamily="34" charset="-122"/>
                <a:sym typeface="+mn-ea"/>
              </a:rPr>
              <a:t>Shadow OPC UA</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）构建：</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在内存中启动一个隔离的镜像地址空间。该环境完全同步真实</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PLC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的当前状态，但不与物理硬件连接。</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预执行模拟算法：</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指令在下发物理层前，先在影子服务器中进行</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试运行</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。通过简单的物理公式计算预期状态。</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语义冲突检测：</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调用</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Jena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推理机</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运行</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 OWL </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冲突规则。例如，如果代码同时发出了</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加热</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制冷</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且此时温度已接近上限，推理机将识别出逻辑冲突并触发拦截。</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9" name="学论网www.xuelun.me-矩形 1"/>
          <p:cNvSpPr/>
          <p:nvPr>
            <p:custDataLst>
              <p:tags r:id="rId4"/>
            </p:custDataLst>
          </p:nvPr>
        </p:nvSpPr>
        <p:spPr>
          <a:xfrm>
            <a:off x="695960" y="988060"/>
            <a:ext cx="443865" cy="2858135"/>
          </a:xfrm>
          <a:prstGeom prst="rect">
            <a:avLst/>
          </a:prstGeom>
          <a:solidFill>
            <a:srgbClr val="0070C0"/>
          </a:solidFill>
          <a:ln w="19050">
            <a:solidFill>
              <a:srgbClr val="0D8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rPr>
              <a:t>L3</a:t>
            </a:r>
            <a:endParaRPr lang="en-US" altLang="zh-CN"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P spid="19"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196340" cy="460375"/>
          </a:xfrm>
          <a:prstGeom prst="rect">
            <a:avLst/>
          </a:prstGeom>
          <a:noFill/>
        </p:spPr>
        <p:txBody>
          <a:bodyPr wrap="none" rtlCol="0">
            <a:spAutoFit/>
          </a:bodyPr>
          <a:lstStyle/>
          <a:p>
            <a:r>
              <a:rPr lang="en-US" altLang="zh-CN" sz="2400" dirty="0" smtClean="0">
                <a:solidFill>
                  <a:srgbClr val="0070C0"/>
                </a:solidFill>
                <a:latin typeface="微软雅黑" panose="020B0503020204020204" pitchFamily="34" charset="-122"/>
                <a:ea typeface="微软雅黑" panose="020B0503020204020204" pitchFamily="34" charset="-122"/>
              </a:rPr>
              <a:t>Part.03</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latin typeface="微软雅黑" panose="020B0503020204020204" pitchFamily="34" charset="-122"/>
                <a:ea typeface="微软雅黑" panose="020B0503020204020204" pitchFamily="34" charset="-122"/>
              </a:rPr>
              <a:t>已完成的</a:t>
            </a:r>
            <a:r>
              <a:rPr lang="zh-CN" altLang="en-US" sz="4000" b="1" spc="600" dirty="0">
                <a:solidFill>
                  <a:srgbClr val="0070C0"/>
                </a:solidFill>
                <a:latin typeface="微软雅黑" panose="020B0503020204020204" pitchFamily="34" charset="-122"/>
                <a:ea typeface="微软雅黑" panose="020B0503020204020204" pitchFamily="34" charset="-122"/>
              </a:rPr>
              <a:t>工作</a:t>
            </a:r>
            <a:endParaRPr lang="zh-CN" altLang="en-US" sz="4000" b="1" spc="600" dirty="0">
              <a:solidFill>
                <a:srgbClr val="0070C0"/>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91345" y="1592254"/>
            <a:ext cx="3943455" cy="92293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3" grpId="0" bldLvl="0" animBg="1"/>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6617033"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314" y="92713"/>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课题</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框架概述</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38014" y="215904"/>
            <a:ext cx="1344000" cy="340995"/>
          </a:xfrm>
          <a:prstGeom prst="rect">
            <a:avLst/>
          </a:prstGeom>
          <a:noFill/>
        </p:spPr>
        <p:txBody>
          <a:bodyPr wrap="square" lIns="0" tIns="48000" rIns="0" bIns="48000" rtlCol="0">
            <a:spAutoFit/>
          </a:bodyPr>
          <a:lstStyle/>
          <a:p>
            <a:pPr algn="ctr">
              <a:buClrTx/>
              <a:buSzTx/>
              <a:buNone/>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技术路线</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已完成的工作</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图片 9" descr="校徽"/>
          <p:cNvPicPr>
            <a:picLocks noChangeAspect="1"/>
          </p:cNvPicPr>
          <p:nvPr/>
        </p:nvPicPr>
        <p:blipFill>
          <a:blip r:embed="rId1"/>
          <a:stretch>
            <a:fillRect/>
          </a:stretch>
        </p:blipFill>
        <p:spPr>
          <a:xfrm>
            <a:off x="281305" y="0"/>
            <a:ext cx="2687955" cy="749300"/>
          </a:xfrm>
          <a:prstGeom prst="rect">
            <a:avLst/>
          </a:prstGeom>
          <a:noFill/>
        </p:spPr>
      </p:pic>
      <p:cxnSp>
        <p:nvCxnSpPr>
          <p:cNvPr id="11" name="直接连接符 10"/>
          <p:cNvCxnSpPr/>
          <p:nvPr/>
        </p:nvCxnSpPr>
        <p:spPr>
          <a:xfrm>
            <a:off x="4821649" y="27937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2"/>
          <a:stretch>
            <a:fillRect/>
          </a:stretch>
        </p:blipFill>
        <p:spPr>
          <a:xfrm>
            <a:off x="323215" y="4090670"/>
            <a:ext cx="3298190" cy="2106295"/>
          </a:xfrm>
          <a:prstGeom prst="rect">
            <a:avLst/>
          </a:prstGeom>
        </p:spPr>
      </p:pic>
      <p:pic>
        <p:nvPicPr>
          <p:cNvPr id="4" name="图片 3"/>
          <p:cNvPicPr>
            <a:picLocks noChangeAspect="1"/>
          </p:cNvPicPr>
          <p:nvPr/>
        </p:nvPicPr>
        <p:blipFill>
          <a:blip r:embed="rId3"/>
          <a:stretch>
            <a:fillRect/>
          </a:stretch>
        </p:blipFill>
        <p:spPr>
          <a:xfrm>
            <a:off x="323215" y="1572895"/>
            <a:ext cx="8115300" cy="1856105"/>
          </a:xfrm>
          <a:prstGeom prst="rect">
            <a:avLst/>
          </a:prstGeom>
        </p:spPr>
      </p:pic>
      <p:sp>
        <p:nvSpPr>
          <p:cNvPr id="34" name="文本框 33"/>
          <p:cNvSpPr txBox="1"/>
          <p:nvPr>
            <p:custDataLst>
              <p:tags r:id="rId4"/>
            </p:custDataLst>
          </p:nvPr>
        </p:nvSpPr>
        <p:spPr>
          <a:xfrm>
            <a:off x="339725" y="945515"/>
            <a:ext cx="2628900" cy="430530"/>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altLang="en-US" sz="1600" b="1" dirty="0">
                <a:latin typeface="微软雅黑" panose="020B0503020204020204" pitchFamily="34" charset="-122"/>
                <a:ea typeface="微软雅黑" panose="020B0503020204020204" pitchFamily="34" charset="-122"/>
                <a:sym typeface="+mn-ea"/>
              </a:rPr>
              <a:t>随机生成</a:t>
            </a:r>
            <a:r>
              <a:rPr lang="en-US" altLang="zh-CN" sz="1600" b="1" dirty="0">
                <a:latin typeface="微软雅黑" panose="020B0503020204020204" pitchFamily="34" charset="-122"/>
                <a:ea typeface="微软雅黑" panose="020B0503020204020204" pitchFamily="34" charset="-122"/>
                <a:sym typeface="+mn-ea"/>
              </a:rPr>
              <a:t>OPC UA</a:t>
            </a:r>
            <a:r>
              <a:rPr lang="zh-CN" altLang="en-US" sz="1600" b="1" dirty="0">
                <a:latin typeface="微软雅黑" panose="020B0503020204020204" pitchFamily="34" charset="-122"/>
                <a:ea typeface="微软雅黑" panose="020B0503020204020204" pitchFamily="34" charset="-122"/>
                <a:sym typeface="+mn-ea"/>
              </a:rPr>
              <a:t>数据帧</a:t>
            </a:r>
            <a:endParaRPr lang="zh-CN" altLang="en-US" sz="1600" b="1" dirty="0">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5"/>
          <a:stretch>
            <a:fillRect/>
          </a:stretch>
        </p:blipFill>
        <p:spPr>
          <a:xfrm>
            <a:off x="9091930" y="1572895"/>
            <a:ext cx="2562860" cy="1855470"/>
          </a:xfrm>
          <a:prstGeom prst="rect">
            <a:avLst/>
          </a:prstGeom>
        </p:spPr>
      </p:pic>
      <p:sp>
        <p:nvSpPr>
          <p:cNvPr id="6" name="文本框 5"/>
          <p:cNvSpPr txBox="1"/>
          <p:nvPr>
            <p:custDataLst>
              <p:tags r:id="rId6"/>
            </p:custDataLst>
          </p:nvPr>
        </p:nvSpPr>
        <p:spPr>
          <a:xfrm>
            <a:off x="9091930" y="1072515"/>
            <a:ext cx="2628900" cy="430530"/>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altLang="en-US" sz="1600" b="1" dirty="0">
                <a:latin typeface="微软雅黑" panose="020B0503020204020204" pitchFamily="34" charset="-122"/>
                <a:ea typeface="微软雅黑" panose="020B0503020204020204" pitchFamily="34" charset="-122"/>
                <a:sym typeface="+mn-ea"/>
              </a:rPr>
              <a:t>官方</a:t>
            </a:r>
            <a:r>
              <a:rPr lang="en-US" altLang="zh-CN" sz="1600" b="1" dirty="0">
                <a:latin typeface="微软雅黑" panose="020B0503020204020204" pitchFamily="34" charset="-122"/>
                <a:ea typeface="微软雅黑" panose="020B0503020204020204" pitchFamily="34" charset="-122"/>
                <a:sym typeface="+mn-ea"/>
              </a:rPr>
              <a:t>OPC UA</a:t>
            </a:r>
            <a:r>
              <a:rPr lang="zh-CN" altLang="en-US" sz="1600" b="1" dirty="0">
                <a:latin typeface="微软雅黑" panose="020B0503020204020204" pitchFamily="34" charset="-122"/>
                <a:ea typeface="微软雅黑" panose="020B0503020204020204" pitchFamily="34" charset="-122"/>
                <a:sym typeface="+mn-ea"/>
              </a:rPr>
              <a:t>节点结构</a:t>
            </a:r>
            <a:endParaRPr lang="zh-CN" altLang="en-US" sz="1600" b="1" dirty="0">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7"/>
          <a:srcRect r="-343"/>
          <a:stretch>
            <a:fillRect/>
          </a:stretch>
        </p:blipFill>
        <p:spPr>
          <a:xfrm>
            <a:off x="3743960" y="4090670"/>
            <a:ext cx="5751195" cy="2106295"/>
          </a:xfrm>
          <a:prstGeom prst="rect">
            <a:avLst/>
          </a:prstGeom>
        </p:spPr>
      </p:pic>
      <p:sp>
        <p:nvSpPr>
          <p:cNvPr id="8" name="文本框 7"/>
          <p:cNvSpPr txBox="1"/>
          <p:nvPr>
            <p:custDataLst>
              <p:tags r:id="rId8"/>
            </p:custDataLst>
          </p:nvPr>
        </p:nvSpPr>
        <p:spPr>
          <a:xfrm>
            <a:off x="323215" y="3544570"/>
            <a:ext cx="1169670" cy="430530"/>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altLang="en-US" sz="1600" b="1" dirty="0">
                <a:latin typeface="微软雅黑" panose="020B0503020204020204" pitchFamily="34" charset="-122"/>
                <a:ea typeface="微软雅黑" panose="020B0503020204020204" pitchFamily="34" charset="-122"/>
                <a:sym typeface="+mn-ea"/>
              </a:rPr>
              <a:t>模型训练</a:t>
            </a:r>
            <a:endParaRPr lang="zh-CN" altLang="en-US" sz="1600" b="1" dirty="0">
              <a:latin typeface="微软雅黑" panose="020B0503020204020204" pitchFamily="34" charset="-122"/>
              <a:ea typeface="微软雅黑" panose="020B0503020204020204" pitchFamily="34" charset="-122"/>
              <a:sym typeface="+mn-ea"/>
            </a:endParaRPr>
          </a:p>
        </p:txBody>
      </p:sp>
      <p:sp>
        <p:nvSpPr>
          <p:cNvPr id="13" name="文本框 12"/>
          <p:cNvSpPr txBox="1"/>
          <p:nvPr>
            <p:custDataLst>
              <p:tags r:id="rId9"/>
            </p:custDataLst>
          </p:nvPr>
        </p:nvSpPr>
        <p:spPr>
          <a:xfrm>
            <a:off x="9728835" y="3544570"/>
            <a:ext cx="1169670" cy="430530"/>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altLang="en-US" sz="1600" b="1" dirty="0">
                <a:latin typeface="微软雅黑" panose="020B0503020204020204" pitchFamily="34" charset="-122"/>
                <a:ea typeface="微软雅黑" panose="020B0503020204020204" pitchFamily="34" charset="-122"/>
                <a:sym typeface="+mn-ea"/>
              </a:rPr>
              <a:t>预测结果</a:t>
            </a:r>
            <a:endParaRPr lang="zh-CN" altLang="en-US" sz="1600" b="1" dirty="0">
              <a:latin typeface="微软雅黑" panose="020B0503020204020204" pitchFamily="34" charset="-122"/>
              <a:ea typeface="微软雅黑" panose="020B0503020204020204" pitchFamily="34" charset="-122"/>
              <a:sym typeface="+mn-ea"/>
            </a:endParaRPr>
          </a:p>
        </p:txBody>
      </p:sp>
      <p:pic>
        <p:nvPicPr>
          <p:cNvPr id="14" name="图片 13"/>
          <p:cNvPicPr>
            <a:picLocks noChangeAspect="1"/>
          </p:cNvPicPr>
          <p:nvPr/>
        </p:nvPicPr>
        <p:blipFill>
          <a:blip r:embed="rId10"/>
          <a:stretch>
            <a:fillRect/>
          </a:stretch>
        </p:blipFill>
        <p:spPr>
          <a:xfrm>
            <a:off x="9728835" y="4756150"/>
            <a:ext cx="1991995" cy="4953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6617033"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314" y="92713"/>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课题</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框架概述</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38014" y="215904"/>
            <a:ext cx="1344000" cy="340995"/>
          </a:xfrm>
          <a:prstGeom prst="rect">
            <a:avLst/>
          </a:prstGeom>
          <a:noFill/>
        </p:spPr>
        <p:txBody>
          <a:bodyPr wrap="square" lIns="0" tIns="48000" rIns="0" bIns="48000" rtlCol="0">
            <a:spAutoFit/>
          </a:bodyPr>
          <a:lstStyle/>
          <a:p>
            <a:pPr algn="ctr">
              <a:buClrTx/>
              <a:buSzTx/>
              <a:buNone/>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技术路线</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已完成的工作</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图片 9" descr="校徽"/>
          <p:cNvPicPr>
            <a:picLocks noChangeAspect="1"/>
          </p:cNvPicPr>
          <p:nvPr/>
        </p:nvPicPr>
        <p:blipFill>
          <a:blip r:embed="rId1"/>
          <a:stretch>
            <a:fillRect/>
          </a:stretch>
        </p:blipFill>
        <p:spPr>
          <a:xfrm>
            <a:off x="281305" y="0"/>
            <a:ext cx="2687955" cy="749300"/>
          </a:xfrm>
          <a:prstGeom prst="rect">
            <a:avLst/>
          </a:prstGeom>
          <a:noFill/>
        </p:spPr>
      </p:pic>
      <p:cxnSp>
        <p:nvCxnSpPr>
          <p:cNvPr id="11" name="直接连接符 10"/>
          <p:cNvCxnSpPr/>
          <p:nvPr/>
        </p:nvCxnSpPr>
        <p:spPr>
          <a:xfrm>
            <a:off x="4821649" y="27937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stretch>
            <a:fillRect/>
          </a:stretch>
        </p:blipFill>
        <p:spPr>
          <a:xfrm>
            <a:off x="281305" y="1038860"/>
            <a:ext cx="2258695" cy="1545590"/>
          </a:xfrm>
          <a:prstGeom prst="rect">
            <a:avLst/>
          </a:prstGeom>
        </p:spPr>
      </p:pic>
      <p:pic>
        <p:nvPicPr>
          <p:cNvPr id="9" name="图片 8"/>
          <p:cNvPicPr>
            <a:picLocks noChangeAspect="1"/>
          </p:cNvPicPr>
          <p:nvPr/>
        </p:nvPicPr>
        <p:blipFill>
          <a:blip r:embed="rId3"/>
          <a:stretch>
            <a:fillRect/>
          </a:stretch>
        </p:blipFill>
        <p:spPr>
          <a:xfrm>
            <a:off x="2540000" y="1038860"/>
            <a:ext cx="2258695" cy="1545590"/>
          </a:xfrm>
          <a:prstGeom prst="rect">
            <a:avLst/>
          </a:prstGeom>
        </p:spPr>
      </p:pic>
      <p:pic>
        <p:nvPicPr>
          <p:cNvPr id="12" name="图片 11"/>
          <p:cNvPicPr>
            <a:picLocks noChangeAspect="1"/>
          </p:cNvPicPr>
          <p:nvPr/>
        </p:nvPicPr>
        <p:blipFill>
          <a:blip r:embed="rId4"/>
          <a:stretch>
            <a:fillRect/>
          </a:stretch>
        </p:blipFill>
        <p:spPr>
          <a:xfrm>
            <a:off x="4798695" y="1038225"/>
            <a:ext cx="2258060" cy="1546225"/>
          </a:xfrm>
          <a:prstGeom prst="rect">
            <a:avLst/>
          </a:prstGeom>
        </p:spPr>
      </p:pic>
      <p:pic>
        <p:nvPicPr>
          <p:cNvPr id="16" name="图片 15"/>
          <p:cNvPicPr>
            <a:picLocks noChangeAspect="1"/>
          </p:cNvPicPr>
          <p:nvPr/>
        </p:nvPicPr>
        <p:blipFill>
          <a:blip r:embed="rId5"/>
          <a:stretch>
            <a:fillRect/>
          </a:stretch>
        </p:blipFill>
        <p:spPr>
          <a:xfrm>
            <a:off x="281305" y="2584450"/>
            <a:ext cx="2258695" cy="1546225"/>
          </a:xfrm>
          <a:prstGeom prst="rect">
            <a:avLst/>
          </a:prstGeom>
        </p:spPr>
      </p:pic>
      <p:pic>
        <p:nvPicPr>
          <p:cNvPr id="17" name="图片 16"/>
          <p:cNvPicPr>
            <a:picLocks noChangeAspect="1"/>
          </p:cNvPicPr>
          <p:nvPr/>
        </p:nvPicPr>
        <p:blipFill>
          <a:blip r:embed="rId6"/>
          <a:stretch>
            <a:fillRect/>
          </a:stretch>
        </p:blipFill>
        <p:spPr>
          <a:xfrm>
            <a:off x="2540000" y="2584450"/>
            <a:ext cx="2258695" cy="1545590"/>
          </a:xfrm>
          <a:prstGeom prst="rect">
            <a:avLst/>
          </a:prstGeom>
        </p:spPr>
      </p:pic>
      <p:pic>
        <p:nvPicPr>
          <p:cNvPr id="18" name="图片 17"/>
          <p:cNvPicPr>
            <a:picLocks noChangeAspect="1"/>
          </p:cNvPicPr>
          <p:nvPr/>
        </p:nvPicPr>
        <p:blipFill>
          <a:blip r:embed="rId7"/>
          <a:stretch>
            <a:fillRect/>
          </a:stretch>
        </p:blipFill>
        <p:spPr>
          <a:xfrm>
            <a:off x="4798695" y="2584450"/>
            <a:ext cx="2239010" cy="1534795"/>
          </a:xfrm>
          <a:prstGeom prst="rect">
            <a:avLst/>
          </a:prstGeom>
        </p:spPr>
      </p:pic>
      <p:sp>
        <p:nvSpPr>
          <p:cNvPr id="19" name="文本框 18"/>
          <p:cNvSpPr txBox="1"/>
          <p:nvPr>
            <p:custDataLst>
              <p:tags r:id="rId8"/>
            </p:custDataLst>
          </p:nvPr>
        </p:nvSpPr>
        <p:spPr>
          <a:xfrm>
            <a:off x="1353185" y="4260215"/>
            <a:ext cx="3758565" cy="430530"/>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altLang="en-US" sz="1600" b="1" dirty="0">
                <a:latin typeface="微软雅黑" panose="020B0503020204020204" pitchFamily="34" charset="-122"/>
                <a:ea typeface="微软雅黑" panose="020B0503020204020204" pitchFamily="34" charset="-122"/>
                <a:sym typeface="+mn-ea"/>
              </a:rPr>
              <a:t>针对每个</a:t>
            </a:r>
            <a:r>
              <a:rPr lang="en-US" altLang="zh-CN" sz="1600" b="1" dirty="0">
                <a:latin typeface="微软雅黑" panose="020B0503020204020204" pitchFamily="34" charset="-122"/>
                <a:ea typeface="微软雅黑" panose="020B0503020204020204" pitchFamily="34" charset="-122"/>
                <a:sym typeface="+mn-ea"/>
              </a:rPr>
              <a:t>IMKG</a:t>
            </a:r>
            <a:r>
              <a:rPr lang="zh-CN" altLang="en-US" sz="1600" b="1" dirty="0">
                <a:latin typeface="微软雅黑" panose="020B0503020204020204" pitchFamily="34" charset="-122"/>
                <a:ea typeface="微软雅黑" panose="020B0503020204020204" pitchFamily="34" charset="-122"/>
                <a:sym typeface="+mn-ea"/>
              </a:rPr>
              <a:t>都有</a:t>
            </a:r>
            <a:r>
              <a:rPr lang="en-US" altLang="zh-CN" sz="1600" b="1" dirty="0">
                <a:latin typeface="微软雅黑" panose="020B0503020204020204" pitchFamily="34" charset="-122"/>
                <a:ea typeface="微软雅黑" panose="020B0503020204020204" pitchFamily="34" charset="-122"/>
                <a:sym typeface="+mn-ea"/>
              </a:rPr>
              <a:t>ComplEX</a:t>
            </a:r>
            <a:r>
              <a:rPr lang="zh-CN" altLang="en-US" sz="1600" b="1" dirty="0">
                <a:latin typeface="微软雅黑" panose="020B0503020204020204" pitchFamily="34" charset="-122"/>
                <a:ea typeface="微软雅黑" panose="020B0503020204020204" pitchFamily="34" charset="-122"/>
                <a:sym typeface="+mn-ea"/>
              </a:rPr>
              <a:t>模型</a:t>
            </a:r>
            <a:endParaRPr lang="zh-CN" altLang="en-US" sz="1600" b="1" dirty="0">
              <a:latin typeface="微软雅黑" panose="020B0503020204020204" pitchFamily="34" charset="-122"/>
              <a:ea typeface="微软雅黑" panose="020B0503020204020204" pitchFamily="34" charset="-122"/>
              <a:sym typeface="+mn-ea"/>
            </a:endParaRPr>
          </a:p>
        </p:txBody>
      </p:sp>
      <p:pic>
        <p:nvPicPr>
          <p:cNvPr id="20" name="图片 19"/>
          <p:cNvPicPr>
            <a:picLocks noChangeAspect="1"/>
          </p:cNvPicPr>
          <p:nvPr/>
        </p:nvPicPr>
        <p:blipFill>
          <a:blip r:embed="rId9"/>
          <a:srcRect b="48957"/>
          <a:stretch>
            <a:fillRect/>
          </a:stretch>
        </p:blipFill>
        <p:spPr>
          <a:xfrm>
            <a:off x="7159625" y="1440180"/>
            <a:ext cx="4866005" cy="1102995"/>
          </a:xfrm>
          <a:prstGeom prst="rect">
            <a:avLst/>
          </a:prstGeom>
        </p:spPr>
      </p:pic>
      <p:sp>
        <p:nvSpPr>
          <p:cNvPr id="21" name="文本框 20"/>
          <p:cNvSpPr txBox="1"/>
          <p:nvPr>
            <p:custDataLst>
              <p:tags r:id="rId10"/>
            </p:custDataLst>
          </p:nvPr>
        </p:nvSpPr>
        <p:spPr>
          <a:xfrm>
            <a:off x="7159625" y="4250055"/>
            <a:ext cx="4865370" cy="430530"/>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altLang="en-US" sz="1600" b="1" dirty="0">
                <a:latin typeface="微软雅黑" panose="020B0503020204020204" pitchFamily="34" charset="-122"/>
                <a:ea typeface="微软雅黑" panose="020B0503020204020204" pitchFamily="34" charset="-122"/>
                <a:sym typeface="+mn-ea"/>
              </a:rPr>
              <a:t>针对未知字段可以归纳到</a:t>
            </a:r>
            <a:r>
              <a:rPr lang="en-US" altLang="zh-CN" sz="1600" b="1" dirty="0">
                <a:latin typeface="微软雅黑" panose="020B0503020204020204" pitchFamily="34" charset="-122"/>
                <a:ea typeface="微软雅黑" panose="020B0503020204020204" pitchFamily="34" charset="-122"/>
                <a:sym typeface="+mn-ea"/>
              </a:rPr>
              <a:t>IMKG</a:t>
            </a:r>
            <a:r>
              <a:rPr lang="zh-CN" altLang="en-US" sz="1600" b="1" dirty="0">
                <a:latin typeface="微软雅黑" panose="020B0503020204020204" pitchFamily="34" charset="-122"/>
                <a:ea typeface="微软雅黑" panose="020B0503020204020204" pitchFamily="34" charset="-122"/>
                <a:sym typeface="+mn-ea"/>
              </a:rPr>
              <a:t>和前</a:t>
            </a:r>
            <a:r>
              <a:rPr lang="en-US" altLang="zh-CN" sz="1600" b="1" dirty="0">
                <a:latin typeface="微软雅黑" panose="020B0503020204020204" pitchFamily="34" charset="-122"/>
                <a:ea typeface="微软雅黑" panose="020B0503020204020204" pitchFamily="34" charset="-122"/>
                <a:sym typeface="+mn-ea"/>
              </a:rPr>
              <a:t>K</a:t>
            </a:r>
            <a:r>
              <a:rPr lang="zh-CN" altLang="en-US" sz="1600" b="1" dirty="0">
                <a:latin typeface="微软雅黑" panose="020B0503020204020204" pitchFamily="34" charset="-122"/>
                <a:ea typeface="微软雅黑" panose="020B0503020204020204" pitchFamily="34" charset="-122"/>
                <a:sym typeface="+mn-ea"/>
              </a:rPr>
              <a:t>个</a:t>
            </a:r>
            <a:r>
              <a:rPr lang="zh-CN" altLang="en-US" sz="1600" b="1" dirty="0">
                <a:latin typeface="微软雅黑" panose="020B0503020204020204" pitchFamily="34" charset="-122"/>
                <a:ea typeface="微软雅黑" panose="020B0503020204020204" pitchFamily="34" charset="-122"/>
                <a:sym typeface="+mn-ea"/>
              </a:rPr>
              <a:t>父节点</a:t>
            </a:r>
            <a:endParaRPr lang="zh-CN" altLang="en-US" sz="1600" b="1" dirty="0">
              <a:latin typeface="微软雅黑" panose="020B0503020204020204" pitchFamily="34" charset="-122"/>
              <a:ea typeface="微软雅黑" panose="020B0503020204020204" pitchFamily="34" charset="-122"/>
              <a:sym typeface="+mn-ea"/>
            </a:endParaRPr>
          </a:p>
        </p:txBody>
      </p:sp>
      <p:sp>
        <p:nvSpPr>
          <p:cNvPr id="23" name="文本框 22"/>
          <p:cNvSpPr txBox="1"/>
          <p:nvPr>
            <p:custDataLst>
              <p:tags r:id="rId11"/>
            </p:custDataLst>
          </p:nvPr>
        </p:nvSpPr>
        <p:spPr>
          <a:xfrm>
            <a:off x="4038600" y="5329555"/>
            <a:ext cx="3758565" cy="430530"/>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altLang="en-US" sz="1600" b="1" dirty="0">
                <a:latin typeface="微软雅黑" panose="020B0503020204020204" pitchFamily="34" charset="-122"/>
                <a:ea typeface="微软雅黑" panose="020B0503020204020204" pitchFamily="34" charset="-122"/>
                <a:sym typeface="+mn-ea"/>
              </a:rPr>
              <a:t>目前缺少对应的性能评测和</a:t>
            </a:r>
            <a:r>
              <a:rPr lang="zh-CN" altLang="en-US" sz="1600" b="1" dirty="0">
                <a:latin typeface="微软雅黑" panose="020B0503020204020204" pitchFamily="34" charset="-122"/>
                <a:ea typeface="微软雅黑" panose="020B0503020204020204" pitchFamily="34" charset="-122"/>
                <a:sym typeface="+mn-ea"/>
              </a:rPr>
              <a:t>模型优化</a:t>
            </a:r>
            <a:endParaRPr lang="zh-CN" altLang="en-US" sz="1600" b="1" dirty="0">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9"/>
          <a:srcRect t="74787"/>
          <a:stretch>
            <a:fillRect/>
          </a:stretch>
        </p:blipFill>
        <p:spPr>
          <a:xfrm>
            <a:off x="7159625" y="2543175"/>
            <a:ext cx="4866005" cy="5448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2"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3"/>
            </p:custDataLst>
          </p:nvPr>
        </p:nvPicPr>
        <p:blipFill>
          <a:blip r:embed="rId2"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418080" y="3137535"/>
            <a:ext cx="7936230" cy="1106805"/>
          </a:xfrm>
          <a:prstGeom prst="rect">
            <a:avLst/>
          </a:prstGeom>
          <a:noFill/>
        </p:spPr>
        <p:txBody>
          <a:bodyPr wrap="square" rtlCol="0">
            <a:spAutoFit/>
          </a:bodyPr>
          <a:lstStyle/>
          <a:p>
            <a:pPr algn="ctr"/>
            <a:r>
              <a:rPr lang="zh-CN" altLang="en-US" sz="6600" b="1" dirty="0">
                <a:solidFill>
                  <a:schemeClr val="bg1">
                    <a:lumMod val="95000"/>
                  </a:schemeClr>
                </a:solidFill>
                <a:latin typeface="微软雅黑" panose="020B0503020204020204" pitchFamily="34" charset="-122"/>
                <a:ea typeface="微软雅黑" panose="020B0503020204020204" pitchFamily="34" charset="-122"/>
              </a:rPr>
              <a:t>请</a:t>
            </a:r>
            <a:r>
              <a:rPr lang="zh-CN" altLang="en-US" sz="6600" b="1" dirty="0" smtClean="0">
                <a:solidFill>
                  <a:schemeClr val="bg1">
                    <a:lumMod val="95000"/>
                  </a:schemeClr>
                </a:solidFill>
                <a:latin typeface="微软雅黑" panose="020B0503020204020204" pitchFamily="34" charset="-122"/>
                <a:ea typeface="微软雅黑" panose="020B0503020204020204" pitchFamily="34" charset="-122"/>
              </a:rPr>
              <a:t>各位老师同学指正</a:t>
            </a:r>
            <a:endParaRPr lang="zh-CN" altLang="en-US" sz="6600" b="1" dirty="0">
              <a:solidFill>
                <a:schemeClr val="bg1">
                  <a:lumMod val="95000"/>
                </a:schemeClr>
              </a:solidFill>
              <a:latin typeface="微软雅黑" panose="020B0503020204020204" pitchFamily="34" charset="-122"/>
              <a:ea typeface="微软雅黑" panose="020B0503020204020204" pitchFamily="34" charset="-122"/>
            </a:endParaRPr>
          </a:p>
        </p:txBody>
      </p:sp>
      <p:pic>
        <p:nvPicPr>
          <p:cNvPr id="4" name="图片 3" descr="校徽"/>
          <p:cNvPicPr>
            <a:picLocks noChangeAspect="1"/>
          </p:cNvPicPr>
          <p:nvPr/>
        </p:nvPicPr>
        <p:blipFill>
          <a:blip r:embed="rId4"/>
          <a:stretch>
            <a:fillRect/>
          </a:stretch>
        </p:blipFill>
        <p:spPr>
          <a:xfrm>
            <a:off x="3615690" y="318770"/>
            <a:ext cx="4961255" cy="1383030"/>
          </a:xfrm>
          <a:prstGeom prst="rect">
            <a:avLst/>
          </a:prstGeom>
          <a:noFill/>
        </p:spPr>
      </p:pic>
      <p:sp>
        <p:nvSpPr>
          <p:cNvPr id="2" name="TextBox 6"/>
          <p:cNvSpPr txBox="1"/>
          <p:nvPr>
            <p:custDataLst>
              <p:tags r:id="rId5"/>
            </p:custDataLst>
          </p:nvPr>
        </p:nvSpPr>
        <p:spPr>
          <a:xfrm>
            <a:off x="4148436" y="5644929"/>
            <a:ext cx="1959610" cy="397510"/>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070C0"/>
                </a:solidFill>
                <a:latin typeface="微软雅黑" panose="020B0503020204020204" pitchFamily="34" charset="-122"/>
                <a:ea typeface="微软雅黑" panose="020B0503020204020204" pitchFamily="34" charset="-122"/>
              </a:rPr>
              <a:t>报告人</a:t>
            </a:r>
            <a:r>
              <a:rPr lang="zh-CN" altLang="en-US" dirty="0" smtClean="0">
                <a:solidFill>
                  <a:srgbClr val="0070C0"/>
                </a:solidFill>
                <a:latin typeface="微软雅黑" panose="020B0503020204020204" pitchFamily="34" charset="-122"/>
                <a:ea typeface="微软雅黑" panose="020B0503020204020204" pitchFamily="34" charset="-122"/>
              </a:rPr>
              <a:t>：</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刁浩宇</a:t>
            </a:r>
            <a:endParaRPr lang="zh-CN" altLang="en-US" dirty="0" smtClean="0">
              <a:solidFill>
                <a:srgbClr val="0070C0"/>
              </a:solidFill>
              <a:latin typeface="微软雅黑" panose="020B0503020204020204" pitchFamily="34" charset="-122"/>
              <a:ea typeface="微软雅黑" panose="020B0503020204020204" pitchFamily="34" charset="-122"/>
            </a:endParaRPr>
          </a:p>
        </p:txBody>
      </p:sp>
      <p:sp>
        <p:nvSpPr>
          <p:cNvPr id="3" name="TextBox 7"/>
          <p:cNvSpPr txBox="1"/>
          <p:nvPr>
            <p:custDataLst>
              <p:tags r:id="rId6"/>
            </p:custDataLst>
          </p:nvPr>
        </p:nvSpPr>
        <p:spPr>
          <a:xfrm>
            <a:off x="7157875" y="5644929"/>
            <a:ext cx="2035175" cy="397510"/>
          </a:xfrm>
          <a:prstGeom prst="rect">
            <a:avLst/>
          </a:prstGeom>
          <a:noFill/>
        </p:spPr>
        <p:txBody>
          <a:bodyPr wrap="none" lIns="91416" tIns="45708" rIns="91416" bIns="45708" rtlCol="0">
            <a:spAutoFit/>
          </a:bodyPr>
          <a:lstStyle/>
          <a:p>
            <a:pPr algn="ctr"/>
            <a:r>
              <a:rPr lang="zh-CN" altLang="en-US" sz="2000" b="1" dirty="0">
                <a:solidFill>
                  <a:srgbClr val="0070C0"/>
                </a:solidFill>
                <a:latin typeface="微软雅黑" panose="020B0503020204020204" pitchFamily="34" charset="-122"/>
                <a:ea typeface="微软雅黑" panose="020B0503020204020204" pitchFamily="34" charset="-122"/>
              </a:rPr>
              <a:t>报告时间</a:t>
            </a:r>
            <a:r>
              <a:rPr lang="zh-CN" altLang="en-US" sz="2000" dirty="0">
                <a:solidFill>
                  <a:srgbClr val="0070C0"/>
                </a:solidFill>
                <a:latin typeface="微软雅黑" panose="020B0503020204020204" pitchFamily="34" charset="-122"/>
                <a:ea typeface="微软雅黑" panose="020B0503020204020204" pitchFamily="34" charset="-122"/>
              </a:rPr>
              <a:t>：</a:t>
            </a:r>
            <a:r>
              <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rPr>
              <a:t>1.31</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8" grpId="0" animBg="1"/>
      <p:bldP spid="15" grpId="0"/>
      <p:bldP spid="2" grpId="0"/>
      <p:bldP spid="3" grpId="0"/>
    </p:bldLst>
  </p:timing>
</p:sld>
</file>

<file path=ppt/tags/tag1.xml><?xml version="1.0" encoding="utf-8"?>
<p:tagLst xmlns:p="http://schemas.openxmlformats.org/presentationml/2006/main">
  <p:tag name="MH" val="20151121191650"/>
  <p:tag name="MH_LIBRARY" val="GRAPHIC"/>
  <p:tag name="MH_TYPE" val="Other"/>
  <p:tag name="MH_ORDER" val="8"/>
</p:tagLst>
</file>

<file path=ppt/tags/tag2.xml><?xml version="1.0" encoding="utf-8"?>
<p:tagLst xmlns:p="http://schemas.openxmlformats.org/presentationml/2006/main">
  <p:tag name="MH" val="20151121191650"/>
  <p:tag name="MH_LIBRARY" val="GRAPHIC"/>
  <p:tag name="MH_TYPE" val="Other"/>
  <p:tag name="MH_ORDER" val="8"/>
</p:tagLst>
</file>

<file path=ppt/tags/tag3.xml><?xml version="1.0" encoding="utf-8"?>
<p:tagLst xmlns:p="http://schemas.openxmlformats.org/presentationml/2006/main">
  <p:tag name="KSO_WM_DIAGRAM_VIRTUALLY_FRAME" val="{&quot;height&quot;:36.712283464566916,&quot;left&quot;:283.1845669291339,&quot;top&quot;:441.87779527559053,&quot;width&quot;:486.2776771653542}"/>
</p:tagLst>
</file>

<file path=ppt/tags/tag4.xml><?xml version="1.0" encoding="utf-8"?>
<p:tagLst xmlns:p="http://schemas.openxmlformats.org/presentationml/2006/main">
  <p:tag name="KSO_WM_DIAGRAM_VIRTUALLY_FRAME" val="{&quot;height&quot;:36.712283464566916,&quot;left&quot;:283.1845669291339,&quot;top&quot;:441.87779527559053,&quot;width&quot;:486.2776771653542}"/>
</p:tagLst>
</file>

<file path=ppt/tags/tag5.xml><?xml version="1.0" encoding="utf-8"?>
<p:tagLst xmlns:p="http://schemas.openxmlformats.org/presentationml/2006/main">
  <p:tag name="KSO_WM_DIAGRAM_VIRTUALLY_FRAME" val="{&quot;height&quot;:350.3028346456693,&quot;left&quot;:444.2554330708661,&quot;top&quot;:94.84858267716535,&quot;width&quot;:360.7445669291339}"/>
</p:tagLst>
</file>

<file path=ppt/tags/tag6.xml><?xml version="1.0" encoding="utf-8"?>
<p:tagLst xmlns:p="http://schemas.openxmlformats.org/presentationml/2006/main">
  <p:tag name="KSO_WM_DIAGRAM_VIRTUALLY_FRAME" val="{&quot;height&quot;:350.3028346456693,&quot;left&quot;:444.2554330708661,&quot;top&quot;:94.84858267716535,&quot;width&quot;:360.7445669291339}"/>
</p:tagLst>
</file>

<file path=ppt/tags/tag7.xml><?xml version="1.0" encoding="utf-8"?>
<p:tagLst xmlns:p="http://schemas.openxmlformats.org/presentationml/2006/main">
  <p:tag name="KSO_WM_DIAGRAM_VIRTUALLY_FRAME" val="{&quot;height&quot;:350.3028346456693,&quot;left&quot;:444.2554330708661,&quot;top&quot;:94.84858267716535,&quot;width&quot;:360.7445669291339}"/>
</p:tagLst>
</file>

<file path=ppt/tags/tag8.xml><?xml version="1.0" encoding="utf-8"?>
<p:tagLst xmlns:p="http://schemas.openxmlformats.org/presentationml/2006/main">
  <p:tag name="KSO_WM_DIAGRAM_VIRTUALLY_FRAME" val="{&quot;height&quot;:350.3028346456693,&quot;left&quot;:444.2554330708661,&quot;top&quot;:94.84858267716535,&quot;width&quot;:360.7445669291339}"/>
</p:tagLst>
</file>

<file path=ppt/tags/tag9.xml><?xml version="1.0" encoding="utf-8"?>
<p:tagLst xmlns:p="http://schemas.openxmlformats.org/presentationml/2006/main">
  <p:tag name="KSO_WM_DIAGRAM_VIRTUALLY_FRAME" val="{&quot;height&quot;:350.3028346456693,&quot;left&quot;:444.2554330708661,&quot;top&quot;:94.84858267716535,&quot;width&quot;:360.7445669291339}"/>
</p:tagLst>
</file>

<file path=ppt/tags/tag10.xml><?xml version="1.0" encoding="utf-8"?>
<p:tagLst xmlns:p="http://schemas.openxmlformats.org/presentationml/2006/main">
  <p:tag name="KSO_WM_DIAGRAM_VIRTUALLY_FRAME" val="{&quot;height&quot;:350.3028346456693,&quot;left&quot;:444.2554330708661,&quot;top&quot;:94.84858267716535,&quot;width&quot;:360.7445669291339}"/>
</p:tagLst>
</file>

<file path=ppt/tags/tag11.xml><?xml version="1.0" encoding="utf-8"?>
<p:tagLst xmlns:p="http://schemas.openxmlformats.org/presentationml/2006/main">
  <p:tag name="KSO_WM_DIAGRAM_VIRTUALLY_FRAME" val="{&quot;height&quot;:258.75,&quot;left&quot;:0,&quot;top&quot;:-0.05,&quot;width&quot;:960}"/>
</p:tagLst>
</file>

<file path=ppt/tags/tag12.xml><?xml version="1.0" encoding="utf-8"?>
<p:tagLst xmlns:p="http://schemas.openxmlformats.org/presentationml/2006/main">
  <p:tag name="KSO_WM_DIAGRAM_VIRTUALLY_FRAME" val="{&quot;height&quot;:258.75,&quot;left&quot;:0,&quot;top&quot;:-0.05,&quot;width&quot;:960}"/>
</p:tagLst>
</file>

<file path=ppt/tags/tag13.xml><?xml version="1.0" encoding="utf-8"?>
<p:tagLst xmlns:p="http://schemas.openxmlformats.org/presentationml/2006/main">
  <p:tag name="KSO_WM_DIAGRAM_VIRTUALLY_FRAME" val="{&quot;height&quot;:258.75,&quot;left&quot;:0,&quot;top&quot;:-0.05,&quot;width&quot;:960}"/>
</p:tagLst>
</file>

<file path=ppt/tags/tag14.xml><?xml version="1.0" encoding="utf-8"?>
<p:tagLst xmlns:p="http://schemas.openxmlformats.org/presentationml/2006/main">
  <p:tag name="KSO_WM_DIAGRAM_VIRTUALLY_FRAME" val="{&quot;height&quot;:258.75,&quot;left&quot;:0,&quot;top&quot;:-0.05,&quot;width&quot;:960}"/>
</p:tagLst>
</file>

<file path=ppt/tags/tag15.xml><?xml version="1.0" encoding="utf-8"?>
<p:tagLst xmlns:p="http://schemas.openxmlformats.org/presentationml/2006/main">
  <p:tag name="KSO_WM_DIAGRAM_VIRTUALLY_FRAME" val="{&quot;height&quot;:258.75,&quot;left&quot;:0,&quot;top&quot;:-0.05,&quot;width&quot;:960}"/>
</p:tagLst>
</file>

<file path=ppt/tags/tag16.xml><?xml version="1.0" encoding="utf-8"?>
<p:tagLst xmlns:p="http://schemas.openxmlformats.org/presentationml/2006/main">
  <p:tag name="KSO_WM_DIAGRAM_VIRTUALLY_FRAME" val="{&quot;height&quot;:258.75,&quot;left&quot;:0,&quot;top&quot;:-0.05,&quot;width&quot;:960}"/>
</p:tagLst>
</file>

<file path=ppt/tags/tag17.xml><?xml version="1.0" encoding="utf-8"?>
<p:tagLst xmlns:p="http://schemas.openxmlformats.org/presentationml/2006/main">
  <p:tag name="KSO_WM_DIAGRAM_VIRTUALLY_FRAME" val="{&quot;height&quot;:258.75,&quot;left&quot;:0,&quot;top&quot;:-0.05,&quot;width&quot;:960}"/>
</p:tagLst>
</file>

<file path=ppt/tags/tag18.xml><?xml version="1.0" encoding="utf-8"?>
<p:tagLst xmlns:p="http://schemas.openxmlformats.org/presentationml/2006/main">
  <p:tag name="KSO_WM_DIAGRAM_VIRTUALLY_FRAME" val="{&quot;height&quot;:299.64968503937007,&quot;left&quot;:15.25,&quot;top&quot;:6.350314960629919,&quot;width&quot;:918}"/>
</p:tagLst>
</file>

<file path=ppt/tags/tag19.xml><?xml version="1.0" encoding="utf-8"?>
<p:tagLst xmlns:p="http://schemas.openxmlformats.org/presentationml/2006/main">
  <p:tag name="KSO_WM_DIAGRAM_VIRTUALLY_FRAME" val="{&quot;height&quot;:299.64968503937007,&quot;left&quot;:15.25,&quot;top&quot;:6.350314960629919,&quot;width&quot;:918}"/>
</p:tagLst>
</file>

<file path=ppt/tags/tag20.xml><?xml version="1.0" encoding="utf-8"?>
<p:tagLst xmlns:p="http://schemas.openxmlformats.org/presentationml/2006/main">
  <p:tag name="KSO_WM_DIAGRAM_VIRTUALLY_FRAME" val="{&quot;height&quot;:258.75,&quot;left&quot;:0,&quot;top&quot;:-0.05,&quot;width&quot;:960}"/>
</p:tagLst>
</file>

<file path=ppt/tags/tag21.xml><?xml version="1.0" encoding="utf-8"?>
<p:tagLst xmlns:p="http://schemas.openxmlformats.org/presentationml/2006/main">
  <p:tag name="KSO_WM_DIAGRAM_VIRTUALLY_FRAME" val="{&quot;height&quot;:299.64968503937007,&quot;left&quot;:15.25,&quot;top&quot;:6.350314960629919,&quot;width&quot;:918}"/>
</p:tagLst>
</file>

<file path=ppt/tags/tag22.xml><?xml version="1.0" encoding="utf-8"?>
<p:tagLst xmlns:p="http://schemas.openxmlformats.org/presentationml/2006/main">
  <p:tag name="KSO_WM_DIAGRAM_VIRTUALLY_FRAME" val="{&quot;height&quot;:299.64968503937007,&quot;left&quot;:15.25,&quot;top&quot;:6.350314960629919,&quot;width&quot;:918}"/>
</p:tagLst>
</file>

<file path=ppt/tags/tag23.xml><?xml version="1.0" encoding="utf-8"?>
<p:tagLst xmlns:p="http://schemas.openxmlformats.org/presentationml/2006/main">
  <p:tag name="KSO_WM_DIAGRAM_VIRTUALLY_FRAME" val="{&quot;height&quot;:258.75,&quot;left&quot;:0,&quot;top&quot;:-0.05,&quot;width&quot;:960}"/>
</p:tagLst>
</file>

<file path=ppt/tags/tag24.xml><?xml version="1.0" encoding="utf-8"?>
<p:tagLst xmlns:p="http://schemas.openxmlformats.org/presentationml/2006/main">
  <p:tag name="KSO_WM_DIAGRAM_VIRTUALLY_FRAME" val="{&quot;height&quot;:344.2,&quot;left&quot;:15.25,&quot;top&quot;:17.4,&quot;width&quot;:408.4}"/>
</p:tagLst>
</file>

<file path=ppt/tags/tag25.xml><?xml version="1.0" encoding="utf-8"?>
<p:tagLst xmlns:p="http://schemas.openxmlformats.org/presentationml/2006/main">
  <p:tag name="KSO_WM_DIAGRAM_VIRTUALLY_FRAME" val="{&quot;height&quot;:299.64968503937007,&quot;left&quot;:15.25,&quot;top&quot;:6.350314960629919,&quot;width&quot;:918}"/>
</p:tagLst>
</file>

<file path=ppt/tags/tag26.xml><?xml version="1.0" encoding="utf-8"?>
<p:tagLst xmlns:p="http://schemas.openxmlformats.org/presentationml/2006/main">
  <p:tag name="KSO_WM_DIAGRAM_VIRTUALLY_FRAME" val="{&quot;height&quot;:299.64968503937007,&quot;left&quot;:15.25,&quot;top&quot;:6.350314960629919,&quot;width&quot;:918}"/>
</p:tagLst>
</file>

<file path=ppt/tags/tag27.xml><?xml version="1.0" encoding="utf-8"?>
<p:tagLst xmlns:p="http://schemas.openxmlformats.org/presentationml/2006/main">
  <p:tag name="KSO_WM_DIAGRAM_VIRTUALLY_FRAME" val="{&quot;height&quot;:299.64968503937007,&quot;left&quot;:15.25,&quot;top&quot;:6.350314960629919,&quot;width&quot;:918}"/>
</p:tagLst>
</file>

<file path=ppt/tags/tag28.xml><?xml version="1.0" encoding="utf-8"?>
<p:tagLst xmlns:p="http://schemas.openxmlformats.org/presentationml/2006/main">
  <p:tag name="KSO_WM_DIAGRAM_VIRTUALLY_FRAME" val="{&quot;height&quot;:299.64968503937007,&quot;left&quot;:15.25,&quot;top&quot;:6.350314960629919,&quot;width&quot;:918}"/>
</p:tagLst>
</file>

<file path=ppt/tags/tag29.xml><?xml version="1.0" encoding="utf-8"?>
<p:tagLst xmlns:p="http://schemas.openxmlformats.org/presentationml/2006/main">
  <p:tag name="KSO_WM_DIAGRAM_VIRTUALLY_FRAME" val="{&quot;height&quot;:344.2,&quot;left&quot;:15.25,&quot;top&quot;:17.4,&quot;width&quot;:408.4}"/>
</p:tagLst>
</file>

<file path=ppt/tags/tag30.xml><?xml version="1.0" encoding="utf-8"?>
<p:tagLst xmlns:p="http://schemas.openxmlformats.org/presentationml/2006/main">
  <p:tag name="KSO_WM_DIAGRAM_VIRTUALLY_FRAME" val="{&quot;height&quot;:258.75,&quot;left&quot;:0,&quot;top&quot;:-0.05,&quot;width&quot;:960}"/>
</p:tagLst>
</file>

<file path=ppt/tags/tag31.xml><?xml version="1.0" encoding="utf-8"?>
<p:tagLst xmlns:p="http://schemas.openxmlformats.org/presentationml/2006/main">
  <p:tag name="KSO_WM_DIAGRAM_VIRTUALLY_FRAME" val="{&quot;height&quot;:258.75,&quot;left&quot;:0,&quot;top&quot;:-0.05,&quot;width&quot;:960}"/>
</p:tagLst>
</file>

<file path=ppt/tags/tag32.xml><?xml version="1.0" encoding="utf-8"?>
<p:tagLst xmlns:p="http://schemas.openxmlformats.org/presentationml/2006/main">
  <p:tag name="KSO_WM_DIAGRAM_VIRTUALLY_FRAME" val="{&quot;height&quot;:258.75,&quot;left&quot;:0,&quot;top&quot;:-0.05,&quot;width&quot;:960}"/>
</p:tagLst>
</file>

<file path=ppt/tags/tag33.xml><?xml version="1.0" encoding="utf-8"?>
<p:tagLst xmlns:p="http://schemas.openxmlformats.org/presentationml/2006/main">
  <p:tag name="KSO_WM_DIAGRAM_VIRTUALLY_FRAME" val="{&quot;height&quot;:258.75,&quot;left&quot;:0,&quot;top&quot;:-0.05,&quot;width&quot;:960}"/>
</p:tagLst>
</file>

<file path=ppt/tags/tag34.xml><?xml version="1.0" encoding="utf-8"?>
<p:tagLst xmlns:p="http://schemas.openxmlformats.org/presentationml/2006/main">
  <p:tag name="KSO_WM_DIAGRAM_VIRTUALLY_FRAME" val="{&quot;height&quot;:258.75,&quot;left&quot;:0,&quot;top&quot;:-0.05,&quot;width&quot;:960}"/>
</p:tagLst>
</file>

<file path=ppt/tags/tag35.xml><?xml version="1.0" encoding="utf-8"?>
<p:tagLst xmlns:p="http://schemas.openxmlformats.org/presentationml/2006/main">
  <p:tag name="KSO_WM_DIAGRAM_VIRTUALLY_FRAME" val="{&quot;height&quot;:258.75,&quot;left&quot;:0,&quot;top&quot;:-0.05,&quot;width&quot;:960}"/>
</p:tagLst>
</file>

<file path=ppt/tags/tag36.xml><?xml version="1.0" encoding="utf-8"?>
<p:tagLst xmlns:p="http://schemas.openxmlformats.org/presentationml/2006/main">
  <p:tag name="KSO_WM_DIAGRAM_VIRTUALLY_FRAME" val="{&quot;height&quot;:258.75,&quot;left&quot;:0,&quot;top&quot;:-0.05,&quot;width&quot;:960}"/>
</p:tagLst>
</file>

<file path=ppt/tags/tag37.xml><?xml version="1.0" encoding="utf-8"?>
<p:tagLst xmlns:p="http://schemas.openxmlformats.org/presentationml/2006/main">
  <p:tag name="KSO_WM_DIAGRAM_VIRTUALLY_FRAME" val="{&quot;height&quot;:423.25,&quot;left&quot;:-11.25,&quot;top&quot;:81.75,&quot;width&quot;:1066}"/>
</p:tagLst>
</file>

<file path=ppt/tags/tag38.xml><?xml version="1.0" encoding="utf-8"?>
<p:tagLst xmlns:p="http://schemas.openxmlformats.org/presentationml/2006/main">
  <p:tag name="KSO_WM_DIAGRAM_VIRTUALLY_FRAME" val="{&quot;height&quot;:423.25,&quot;left&quot;:-11.25,&quot;top&quot;:81.75,&quot;width&quot;:1066}"/>
</p:tagLst>
</file>

<file path=ppt/tags/tag39.xml><?xml version="1.0" encoding="utf-8"?>
<p:tagLst xmlns:p="http://schemas.openxmlformats.org/presentationml/2006/main">
  <p:tag name="KSO_WM_DIAGRAM_VIRTUALLY_FRAME" val="{&quot;height&quot;:423.25,&quot;left&quot;:-11.25,&quot;top&quot;:81.75,&quot;width&quot;:1066}"/>
</p:tagLst>
</file>

<file path=ppt/tags/tag40.xml><?xml version="1.0" encoding="utf-8"?>
<p:tagLst xmlns:p="http://schemas.openxmlformats.org/presentationml/2006/main">
  <p:tag name="KSO_WM_DIAGRAM_VIRTUALLY_FRAME" val="{&quot;height&quot;:423.25,&quot;left&quot;:-11.25,&quot;top&quot;:81.75,&quot;width&quot;:1066}"/>
</p:tagLst>
</file>

<file path=ppt/tags/tag41.xml><?xml version="1.0" encoding="utf-8"?>
<p:tagLst xmlns:p="http://schemas.openxmlformats.org/presentationml/2006/main">
  <p:tag name="KSO_WM_DIAGRAM_VIRTUALLY_FRAME" val="{&quot;height&quot;:423.25,&quot;left&quot;:-11.25,&quot;top&quot;:81.75,&quot;width&quot;:1066}"/>
</p:tagLst>
</file>

<file path=ppt/tags/tag42.xml><?xml version="1.0" encoding="utf-8"?>
<p:tagLst xmlns:p="http://schemas.openxmlformats.org/presentationml/2006/main">
  <p:tag name="KSO_WM_DIAGRAM_VIRTUALLY_FRAME" val="{&quot;height&quot;:423.25,&quot;left&quot;:-11.25,&quot;top&quot;:81.75,&quot;width&quot;:1066}"/>
</p:tagLst>
</file>

<file path=ppt/tags/tag43.xml><?xml version="1.0" encoding="utf-8"?>
<p:tagLst xmlns:p="http://schemas.openxmlformats.org/presentationml/2006/main">
  <p:tag name="KSO_WM_DIAGRAM_VIRTUALLY_FRAME" val="{&quot;height&quot;:423.25,&quot;left&quot;:-11.25,&quot;top&quot;:81.75,&quot;width&quot;:1066}"/>
</p:tagLst>
</file>

<file path=ppt/tags/tag44.xml><?xml version="1.0" encoding="utf-8"?>
<p:tagLst xmlns:p="http://schemas.openxmlformats.org/presentationml/2006/main">
  <p:tag name="KSO_WM_DIAGRAM_VIRTUALLY_FRAME" val="{&quot;height&quot;:423.25,&quot;left&quot;:-11.25,&quot;top&quot;:81.75,&quot;width&quot;:1066}"/>
</p:tagLst>
</file>

<file path=ppt/tags/tag45.xml><?xml version="1.0" encoding="utf-8"?>
<p:tagLst xmlns:p="http://schemas.openxmlformats.org/presentationml/2006/main">
  <p:tag name="KSO_WM_DIAGRAM_VIRTUALLY_FRAME" val="{&quot;height&quot;:423.25,&quot;left&quot;:-11.25,&quot;top&quot;:81.75,&quot;width&quot;:1066}"/>
</p:tagLst>
</file>

<file path=ppt/tags/tag46.xml><?xml version="1.0" encoding="utf-8"?>
<p:tagLst xmlns:p="http://schemas.openxmlformats.org/presentationml/2006/main">
  <p:tag name="KSO_WM_DIAGRAM_VIRTUALLY_FRAME" val="{&quot;height&quot;:423.25,&quot;left&quot;:-11.25,&quot;top&quot;:81.75,&quot;width&quot;:1066}"/>
</p:tagLst>
</file>

<file path=ppt/tags/tag47.xml><?xml version="1.0" encoding="utf-8"?>
<p:tagLst xmlns:p="http://schemas.openxmlformats.org/presentationml/2006/main">
  <p:tag name="KSO_WM_DIAGRAM_VIRTUALLY_FRAME" val="{&quot;height&quot;:344.2,&quot;left&quot;:15.25,&quot;top&quot;:17.4,&quot;width&quot;:408.4}"/>
</p:tagLst>
</file>

<file path=ppt/tags/tag48.xml><?xml version="1.0" encoding="utf-8"?>
<p:tagLst xmlns:p="http://schemas.openxmlformats.org/presentationml/2006/main">
  <p:tag name="KSO_WM_DIAGRAM_VIRTUALLY_FRAME" val="{&quot;height&quot;:258.75,&quot;left&quot;:0,&quot;top&quot;:-0.05,&quot;width&quot;:960}"/>
</p:tagLst>
</file>

<file path=ppt/tags/tag49.xml><?xml version="1.0" encoding="utf-8"?>
<p:tagLst xmlns:p="http://schemas.openxmlformats.org/presentationml/2006/main">
  <p:tag name="KSO_WM_DIAGRAM_VIRTUALLY_FRAME" val="{&quot;height&quot;:258.75,&quot;left&quot;:0,&quot;top&quot;:-0.05,&quot;width&quot;:960}"/>
</p:tagLst>
</file>

<file path=ppt/tags/tag50.xml><?xml version="1.0" encoding="utf-8"?>
<p:tagLst xmlns:p="http://schemas.openxmlformats.org/presentationml/2006/main">
  <p:tag name="KSO_WM_DIAGRAM_VIRTUALLY_FRAME" val="{&quot;height&quot;:344.2,&quot;left&quot;:15.25,&quot;top&quot;:17.4,&quot;width&quot;:408.4}"/>
</p:tagLst>
</file>

<file path=ppt/tags/tag51.xml><?xml version="1.0" encoding="utf-8"?>
<p:tagLst xmlns:p="http://schemas.openxmlformats.org/presentationml/2006/main">
  <p:tag name="KSO_WM_DIAGRAM_VIRTUALLY_FRAME" val="{&quot;height&quot;:258.75,&quot;left&quot;:0,&quot;top&quot;:-0.05,&quot;width&quot;:960}"/>
</p:tagLst>
</file>

<file path=ppt/tags/tag52.xml><?xml version="1.0" encoding="utf-8"?>
<p:tagLst xmlns:p="http://schemas.openxmlformats.org/presentationml/2006/main">
  <p:tag name="KSO_WM_DIAGRAM_VIRTUALLY_FRAME" val="{&quot;height&quot;:344.2,&quot;left&quot;:15.25,&quot;top&quot;:17.4,&quot;width&quot;:408.4}"/>
</p:tagLst>
</file>

<file path=ppt/tags/tag53.xml><?xml version="1.0" encoding="utf-8"?>
<p:tagLst xmlns:p="http://schemas.openxmlformats.org/presentationml/2006/main">
  <p:tag name="KSO_WM_DIAGRAM_VIRTUALLY_FRAME" val="{&quot;height&quot;:344.2,&quot;left&quot;:15.25,&quot;top&quot;:17.4,&quot;width&quot;:408.4}"/>
</p:tagLst>
</file>

<file path=ppt/tags/tag54.xml><?xml version="1.0" encoding="utf-8"?>
<p:tagLst xmlns:p="http://schemas.openxmlformats.org/presentationml/2006/main">
  <p:tag name="KSO_WM_DIAGRAM_VIRTUALLY_FRAME" val="{&quot;height&quot;:344.2,&quot;left&quot;:15.25,&quot;top&quot;:17.4,&quot;width&quot;:408.4}"/>
</p:tagLst>
</file>

<file path=ppt/tags/tag55.xml><?xml version="1.0" encoding="utf-8"?>
<p:tagLst xmlns:p="http://schemas.openxmlformats.org/presentationml/2006/main">
  <p:tag name="KSO_WM_DIAGRAM_VIRTUALLY_FRAME" val="{&quot;height&quot;:344.2,&quot;left&quot;:15.25,&quot;top&quot;:17.4,&quot;width&quot;:408.4}"/>
</p:tagLst>
</file>

<file path=ppt/tags/tag56.xml><?xml version="1.0" encoding="utf-8"?>
<p:tagLst xmlns:p="http://schemas.openxmlformats.org/presentationml/2006/main">
  <p:tag name="KSO_WM_DIAGRAM_VIRTUALLY_FRAME" val="{&quot;height&quot;:258.75,&quot;left&quot;:0,&quot;top&quot;:-0.05,&quot;width&quot;:960}"/>
</p:tagLst>
</file>

<file path=ppt/tags/tag57.xml><?xml version="1.0" encoding="utf-8"?>
<p:tagLst xmlns:p="http://schemas.openxmlformats.org/presentationml/2006/main">
  <p:tag name="KSO_WM_DIAGRAM_VIRTUALLY_FRAME" val="{&quot;height&quot;:258.75,&quot;left&quot;:0,&quot;top&quot;:-0.05,&quot;width&quot;:960}"/>
</p:tagLst>
</file>

<file path=ppt/tags/tag58.xml><?xml version="1.0" encoding="utf-8"?>
<p:tagLst xmlns:p="http://schemas.openxmlformats.org/presentationml/2006/main">
  <p:tag name="KSO_WM_DIAGRAM_VIRTUALLY_FRAME" val="{&quot;height&quot;:344.2,&quot;left&quot;:15.25,&quot;top&quot;:17.4,&quot;width&quot;:408.4}"/>
</p:tagLst>
</file>

<file path=ppt/tags/tag59.xml><?xml version="1.0" encoding="utf-8"?>
<p:tagLst xmlns:p="http://schemas.openxmlformats.org/presentationml/2006/main">
  <p:tag name="KSO_WM_DIAGRAM_VIRTUALLY_FRAME" val="{&quot;height&quot;:344.2,&quot;left&quot;:15.25,&quot;top&quot;:17.4,&quot;width&quot;:408.4}"/>
</p:tagLst>
</file>

<file path=ppt/tags/tag60.xml><?xml version="1.0" encoding="utf-8"?>
<p:tagLst xmlns:p="http://schemas.openxmlformats.org/presentationml/2006/main">
  <p:tag name="KSO_WM_DIAGRAM_VIRTUALLY_FRAME" val="{&quot;height&quot;:344.2,&quot;left&quot;:15.25,&quot;top&quot;:17.4,&quot;width&quot;:408.4}"/>
</p:tagLst>
</file>

<file path=ppt/tags/tag61.xml><?xml version="1.0" encoding="utf-8"?>
<p:tagLst xmlns:p="http://schemas.openxmlformats.org/presentationml/2006/main">
  <p:tag name="KSO_WM_DIAGRAM_VIRTUALLY_FRAME" val="{&quot;height&quot;:258.75,&quot;left&quot;:0,&quot;top&quot;:-0.05,&quot;width&quot;:960}"/>
</p:tagLst>
</file>

<file path=ppt/tags/tag62.xml><?xml version="1.0" encoding="utf-8"?>
<p:tagLst xmlns:p="http://schemas.openxmlformats.org/presentationml/2006/main">
  <p:tag name="KSO_WM_DIAGRAM_VIRTUALLY_FRAME" val="{&quot;height&quot;:344.2,&quot;left&quot;:15.25,&quot;top&quot;:17.4,&quot;width&quot;:408.4}"/>
</p:tagLst>
</file>

<file path=ppt/tags/tag63.xml><?xml version="1.0" encoding="utf-8"?>
<p:tagLst xmlns:p="http://schemas.openxmlformats.org/presentationml/2006/main">
  <p:tag name="KSO_WM_DIAGRAM_VIRTUALLY_FRAME" val="{&quot;height&quot;:344.2,&quot;left&quot;:15.25,&quot;top&quot;:17.4,&quot;width&quot;:408.4}"/>
</p:tagLst>
</file>

<file path=ppt/tags/tag64.xml><?xml version="1.0" encoding="utf-8"?>
<p:tagLst xmlns:p="http://schemas.openxmlformats.org/presentationml/2006/main">
  <p:tag name="KSO_WM_DIAGRAM_VIRTUALLY_FRAME" val="{&quot;height&quot;:258.75,&quot;left&quot;:0,&quot;top&quot;:-0.05,&quot;width&quot;:960}"/>
</p:tagLst>
</file>

<file path=ppt/tags/tag65.xml><?xml version="1.0" encoding="utf-8"?>
<p:tagLst xmlns:p="http://schemas.openxmlformats.org/presentationml/2006/main">
  <p:tag name="KSO_WM_DIAGRAM_VIRTUALLY_FRAME" val="{&quot;height&quot;:344.2,&quot;left&quot;:15.25,&quot;top&quot;:17.4,&quot;width&quot;:408.4}"/>
</p:tagLst>
</file>

<file path=ppt/tags/tag66.xml><?xml version="1.0" encoding="utf-8"?>
<p:tagLst xmlns:p="http://schemas.openxmlformats.org/presentationml/2006/main">
  <p:tag name="KSO_WM_DIAGRAM_VIRTUALLY_FRAME" val="{&quot;height&quot;:258.75,&quot;left&quot;:0,&quot;top&quot;:-0.05,&quot;width&quot;:960}"/>
</p:tagLst>
</file>

<file path=ppt/tags/tag67.xml><?xml version="1.0" encoding="utf-8"?>
<p:tagLst xmlns:p="http://schemas.openxmlformats.org/presentationml/2006/main">
  <p:tag name="KSO_WM_DIAGRAM_VIRTUALLY_FRAME" val="{&quot;height&quot;:344.2,&quot;left&quot;:15.25,&quot;top&quot;:17.4,&quot;width&quot;:408.4}"/>
</p:tagLst>
</file>

<file path=ppt/tags/tag68.xml><?xml version="1.0" encoding="utf-8"?>
<p:tagLst xmlns:p="http://schemas.openxmlformats.org/presentationml/2006/main">
  <p:tag name="KSO_WM_DIAGRAM_VIRTUALLY_FRAME" val="{&quot;height&quot;:344.2,&quot;left&quot;:15.25,&quot;top&quot;:17.4,&quot;width&quot;:408.4}"/>
</p:tagLst>
</file>

<file path=ppt/tags/tag69.xml><?xml version="1.0" encoding="utf-8"?>
<p:tagLst xmlns:p="http://schemas.openxmlformats.org/presentationml/2006/main">
  <p:tag name="KSO_WM_DIAGRAM_VIRTUALLY_FRAME" val="{&quot;height&quot;:344.2,&quot;left&quot;:15.25,&quot;top&quot;:17.4,&quot;width&quot;:408.4}"/>
</p:tagLst>
</file>

<file path=ppt/tags/tag70.xml><?xml version="1.0" encoding="utf-8"?>
<p:tagLst xmlns:p="http://schemas.openxmlformats.org/presentationml/2006/main">
  <p:tag name="TABLE_ENDDRAG_ORIGIN_RECT" val="336*196"/>
  <p:tag name="TABLE_ENDDRAG_RECT" val="144*180*336*196"/>
</p:tagLst>
</file>

<file path=ppt/tags/tag71.xml><?xml version="1.0" encoding="utf-8"?>
<p:tagLst xmlns:p="http://schemas.openxmlformats.org/presentationml/2006/main">
  <p:tag name="KSO_WM_DIAGRAM_VIRTUALLY_FRAME" val="{&quot;height&quot;:258.75,&quot;left&quot;:0,&quot;top&quot;:-0.05,&quot;width&quot;:960}"/>
</p:tagLst>
</file>

<file path=ppt/tags/tag72.xml><?xml version="1.0" encoding="utf-8"?>
<p:tagLst xmlns:p="http://schemas.openxmlformats.org/presentationml/2006/main">
  <p:tag name="KSO_WM_DIAGRAM_VIRTUALLY_FRAME" val="{&quot;height&quot;:258.75,&quot;left&quot;:0,&quot;top&quot;:-0.05,&quot;width&quot;:960}"/>
</p:tagLst>
</file>

<file path=ppt/tags/tag73.xml><?xml version="1.0" encoding="utf-8"?>
<p:tagLst xmlns:p="http://schemas.openxmlformats.org/presentationml/2006/main">
  <p:tag name="KSO_WM_DIAGRAM_VIRTUALLY_FRAME" val="{&quot;height&quot;:258.75,&quot;left&quot;:0,&quot;top&quot;:-0.05,&quot;width&quot;:960}"/>
</p:tagLst>
</file>

<file path=ppt/tags/tag74.xml><?xml version="1.0" encoding="utf-8"?>
<p:tagLst xmlns:p="http://schemas.openxmlformats.org/presentationml/2006/main">
  <p:tag name="KSO_WM_DIAGRAM_VIRTUALLY_FRAME" val="{&quot;height&quot;:258.75,&quot;left&quot;:0,&quot;top&quot;:-0.05,&quot;width&quot;:960}"/>
</p:tagLst>
</file>

<file path=ppt/tags/tag75.xml><?xml version="1.0" encoding="utf-8"?>
<p:tagLst xmlns:p="http://schemas.openxmlformats.org/presentationml/2006/main">
  <p:tag name="KSO_WM_DIAGRAM_VIRTUALLY_FRAME" val="{&quot;height&quot;:344.2,&quot;left&quot;:15.25,&quot;top&quot;:17.4,&quot;width&quot;:408.4}"/>
</p:tagLst>
</file>

<file path=ppt/tags/tag76.xml><?xml version="1.0" encoding="utf-8"?>
<p:tagLst xmlns:p="http://schemas.openxmlformats.org/presentationml/2006/main">
  <p:tag name="KSO_WM_DIAGRAM_VIRTUALLY_FRAME" val="{&quot;height&quot;:344.2,&quot;left&quot;:15.25,&quot;top&quot;:17.4,&quot;width&quot;:408.4}"/>
</p:tagLst>
</file>

<file path=ppt/tags/tag77.xml><?xml version="1.0" encoding="utf-8"?>
<p:tagLst xmlns:p="http://schemas.openxmlformats.org/presentationml/2006/main">
  <p:tag name="KSO_WM_DIAGRAM_VIRTUALLY_FRAME" val="{&quot;height&quot;:344.2,&quot;left&quot;:15.25,&quot;top&quot;:17.4,&quot;width&quot;:408.4}"/>
</p:tagLst>
</file>

<file path=ppt/tags/tag78.xml><?xml version="1.0" encoding="utf-8"?>
<p:tagLst xmlns:p="http://schemas.openxmlformats.org/presentationml/2006/main">
  <p:tag name="KSO_WM_DIAGRAM_VIRTUALLY_FRAME" val="{&quot;height&quot;:258.75,&quot;left&quot;:0,&quot;top&quot;:-0.05,&quot;width&quot;:960}"/>
</p:tagLst>
</file>

<file path=ppt/tags/tag79.xml><?xml version="1.0" encoding="utf-8"?>
<p:tagLst xmlns:p="http://schemas.openxmlformats.org/presentationml/2006/main">
  <p:tag name="KSO_WM_DIAGRAM_VIRTUALLY_FRAME" val="{&quot;height&quot;:258.75,&quot;left&quot;:0,&quot;top&quot;:-0.05,&quot;width&quot;:960}"/>
</p:tagLst>
</file>

<file path=ppt/tags/tag80.xml><?xml version="1.0" encoding="utf-8"?>
<p:tagLst xmlns:p="http://schemas.openxmlformats.org/presentationml/2006/main">
  <p:tag name="KSO_WM_DIAGRAM_VIRTUALLY_FRAME" val="{&quot;height&quot;:258.75,&quot;left&quot;:0,&quot;top&quot;:-0.05,&quot;width&quot;:960}"/>
</p:tagLst>
</file>

<file path=ppt/tags/tag81.xml><?xml version="1.0" encoding="utf-8"?>
<p:tagLst xmlns:p="http://schemas.openxmlformats.org/presentationml/2006/main">
  <p:tag name="KSO_WM_DIAGRAM_VIRTUALLY_FRAME" val="{&quot;height&quot;:258.75,&quot;left&quot;:0,&quot;top&quot;:-0.05,&quot;width&quot;:960}"/>
</p:tagLst>
</file>

<file path=ppt/tags/tag82.xml><?xml version="1.0" encoding="utf-8"?>
<p:tagLst xmlns:p="http://schemas.openxmlformats.org/presentationml/2006/main">
  <p:tag name="KSO_WM_DIAGRAM_VIRTUALLY_FRAME" val="{&quot;height&quot;:258.75,&quot;left&quot;:0,&quot;top&quot;:-0.05,&quot;width&quot;:960}"/>
</p:tagLst>
</file>

<file path=ppt/tags/tag83.xml><?xml version="1.0" encoding="utf-8"?>
<p:tagLst xmlns:p="http://schemas.openxmlformats.org/presentationml/2006/main">
  <p:tag name="KSO_WM_DIAGRAM_VIRTUALLY_FRAME" val="{&quot;height&quot;:258.75,&quot;left&quot;:0,&quot;top&quot;:-0.05,&quot;width&quot;:96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5_2*o_h_i*1_3_1"/>
  <p:tag name="KSO_WM_TEMPLATE_CATEGORY" val="diagram"/>
  <p:tag name="KSO_WM_TEMPLATE_INDEX" val="20231105"/>
  <p:tag name="KSO_WM_UNIT_LAYERLEVEL" val="1_1_1"/>
  <p:tag name="KSO_WM_TAG_VERSION" val="3.0"/>
  <p:tag name="KSO_WM_DIAGRAM_VERSION" val="3"/>
  <p:tag name="KSO_WM_DIAGRAM_COLOR_TRICK" val="2"/>
  <p:tag name="KSO_WM_DIAGRAM_COLOR_TEXT_CAN_REMOVE" val="n"/>
  <p:tag name="KSO_WM_UNIT_SUBTYPE" val="d"/>
  <p:tag name="KSO_WM_UNIT_TYPE" val="o_h_i"/>
  <p:tag name="KSO_WM_UNIT_INDEX" val="1_3_1"/>
  <p:tag name="KSO_WM_DIAGRAM_MAX_ITEMCNT" val="6"/>
  <p:tag name="KSO_WM_DIAGRAM_MIN_ITEMCNT" val="3"/>
  <p:tag name="KSO_WM_DIAGRAM_VIRTUALLY_FRAME" val="{&quot;height&quot;:434.4,&quot;left&quot;:0,&quot;top&quot;:-0.05,&quot;width&quot;:960}"/>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0"/>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5_2*o_h_i*1_2_1"/>
  <p:tag name="KSO_WM_TEMPLATE_CATEGORY" val="diagram"/>
  <p:tag name="KSO_WM_TEMPLATE_INDEX" val="20231105"/>
  <p:tag name="KSO_WM_UNIT_LAYERLEVEL" val="1_1_1"/>
  <p:tag name="KSO_WM_TAG_VERSION" val="3.0"/>
  <p:tag name="KSO_WM_DIAGRAM_VERSION" val="3"/>
  <p:tag name="KSO_WM_DIAGRAM_COLOR_TRICK" val="2"/>
  <p:tag name="KSO_WM_DIAGRAM_COLOR_TEXT_CAN_REMOVE" val="n"/>
  <p:tag name="KSO_WM_UNIT_SUBTYPE" val="d"/>
  <p:tag name="KSO_WM_UNIT_TYPE" val="o_h_i"/>
  <p:tag name="KSO_WM_UNIT_INDEX" val="1_2_1"/>
  <p:tag name="KSO_WM_DIAGRAM_MAX_ITEMCNT" val="6"/>
  <p:tag name="KSO_WM_DIAGRAM_MIN_ITEMCNT" val="3"/>
  <p:tag name="KSO_WM_DIAGRAM_VIRTUALLY_FRAME" val="{&quot;height&quot;:434.4,&quot;left&quot;:0,&quot;top&quot;:-0.05,&quot;width&quot;:960}"/>
  <p:tag name="KSO_WM_DIAGRAM_COLOR_MATCH_VALUE" val="{&quot;shape&quot;:{&quot;fill&quot;:{&quot;gradient&quot;:[{&quot;brightness&quot;:0.4000000059604645,&quot;colorType&quot;:1,&quot;foreColorIndex&quot;:6,&quot;pos&quot;:0,&quot;transparency&quot;:0},{&quot;brightness&quot;:0,&quot;colorType&quot;:1,&quot;foreColorIndex&quot;:6,&quot;pos&quot;:0.70999997854232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6"/>
  <p:tag name="KSO_WM_UNIT_USESOURCEFORMAT_APPLY" val="0"/>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5_2*o_h_i*1_1_1"/>
  <p:tag name="KSO_WM_TEMPLATE_CATEGORY" val="diagram"/>
  <p:tag name="KSO_WM_TEMPLATE_INDEX" val="20231105"/>
  <p:tag name="KSO_WM_UNIT_LAYERLEVEL" val="1_1_1"/>
  <p:tag name="KSO_WM_TAG_VERSION" val="3.0"/>
  <p:tag name="KSO_WM_DIAGRAM_VERSION" val="3"/>
  <p:tag name="KSO_WM_DIAGRAM_COLOR_TRICK" val="2"/>
  <p:tag name="KSO_WM_DIAGRAM_COLOR_TEXT_CAN_REMOVE" val="n"/>
  <p:tag name="KSO_WM_UNIT_SUBTYPE" val="d"/>
  <p:tag name="KSO_WM_UNIT_TYPE" val="o_h_i"/>
  <p:tag name="KSO_WM_UNIT_INDEX" val="1_1_1"/>
  <p:tag name="KSO_WM_DIAGRAM_MAX_ITEMCNT" val="6"/>
  <p:tag name="KSO_WM_DIAGRAM_MIN_ITEMCNT" val="3"/>
  <p:tag name="KSO_WM_DIAGRAM_VIRTUALLY_FRAME" val="{&quot;height&quot;:434.4,&quot;left&quot;:0,&quot;top&quot;:-0.05,&quot;width&quot;:960}"/>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USESOURCEFORMAT_APPLY" val="0"/>
</p:tagLst>
</file>

<file path=ppt/tags/tag87.xml><?xml version="1.0" encoding="utf-8"?>
<p:tagLst xmlns:p="http://schemas.openxmlformats.org/presentationml/2006/main">
  <p:tag name="KSO_WM_DIAGRAM_VIRTUALLY_FRAME" val="{&quot;height&quot;:434.4,&quot;left&quot;:0,&quot;top&quot;:-0.05,&quot;width&quot;:960}"/>
</p:tagLst>
</file>

<file path=ppt/tags/tag88.xml><?xml version="1.0" encoding="utf-8"?>
<p:tagLst xmlns:p="http://schemas.openxmlformats.org/presentationml/2006/main">
  <p:tag name="KSO_WM_DIAGRAM_VIRTUALLY_FRAME" val="{&quot;height&quot;:434.4,&quot;left&quot;:0,&quot;top&quot;:-0.05,&quot;width&quot;:960}"/>
</p:tagLst>
</file>

<file path=ppt/tags/tag89.xml><?xml version="1.0" encoding="utf-8"?>
<p:tagLst xmlns:p="http://schemas.openxmlformats.org/presentationml/2006/main">
  <p:tag name="KSO_WM_DIAGRAM_VIRTUALLY_FRAME" val="{&quot;height&quot;:434.4,&quot;left&quot;:0,&quot;top&quot;:-0.05,&quot;width&quot;:960}"/>
</p:tagLst>
</file>

<file path=ppt/tags/tag90.xml><?xml version="1.0" encoding="utf-8"?>
<p:tagLst xmlns:p="http://schemas.openxmlformats.org/presentationml/2006/main">
  <p:tag name="KSO_WM_DIAGRAM_VIRTUALLY_FRAME" val="{&quot;height&quot;:434.4,&quot;left&quot;:0,&quot;top&quot;:-0.05,&quot;width&quot;:960}"/>
</p:tagLst>
</file>

<file path=ppt/tags/tag91.xml><?xml version="1.0" encoding="utf-8"?>
<p:tagLst xmlns:p="http://schemas.openxmlformats.org/presentationml/2006/main">
  <p:tag name="KSO_WM_DIAGRAM_VIRTUALLY_FRAME" val="{&quot;height&quot;:434.4,&quot;left&quot;:0,&quot;top&quot;:-0.05,&quot;width&quot;:960}"/>
</p:tagLst>
</file>

<file path=ppt/tags/tag92.xml><?xml version="1.0" encoding="utf-8"?>
<p:tagLst xmlns:p="http://schemas.openxmlformats.org/presentationml/2006/main">
  <p:tag name="KSO_WM_DIAGRAM_VIRTUALLY_FRAME" val="{&quot;height&quot;:434.4,&quot;left&quot;:0,&quot;top&quot;:-0.05,&quot;width&quot;:960}"/>
</p:tagLst>
</file>

<file path=ppt/tags/tag93.xml><?xml version="1.0" encoding="utf-8"?>
<p:tagLst xmlns:p="http://schemas.openxmlformats.org/presentationml/2006/main">
  <p:tag name="KSO_WM_DIAGRAM_VIRTUALLY_FRAME" val="{&quot;height&quot;:331.21259842519686,&quot;left&quot;:98.81811023622046,&quot;top&quot;:152.96094488188976,&quot;width&quot;:760.181811023622}"/>
</p:tagLst>
</file>

<file path=ppt/tags/tag94.xml><?xml version="1.0" encoding="utf-8"?>
<p:tagLst xmlns:p="http://schemas.openxmlformats.org/presentationml/2006/main">
  <p:tag name="KSO_WM_DIAGRAM_VIRTUALLY_FRAME" val="{&quot;height&quot;:331.21259842519686,&quot;left&quot;:98.81811023622046,&quot;top&quot;:152.96094488188976,&quot;width&quot;:760.181811023622}"/>
</p:tagLst>
</file>

<file path=ppt/tags/tag95.xml><?xml version="1.0" encoding="utf-8"?>
<p:tagLst xmlns:p="http://schemas.openxmlformats.org/presentationml/2006/main">
  <p:tag name="KSO_WM_DIAGRAM_VIRTUALLY_FRAME" val="{&quot;height&quot;:331.21259842519686,&quot;left&quot;:98.81811023622046,&quot;top&quot;:152.96094488188976,&quot;width&quot;:760.181811023622}"/>
</p:tagLst>
</file>

<file path=ppt/tags/tag96.xml><?xml version="1.0" encoding="utf-8"?>
<p:tagLst xmlns:p="http://schemas.openxmlformats.org/presentationml/2006/main">
  <p:tag name="KSO_WM_DIAGRAM_VIRTUALLY_FRAME" val="{&quot;height&quot;:448.6,&quot;left&quot;:54.8,&quot;top&quot;:77.8,&quot;width&quot;:861.45}"/>
</p:tagLst>
</file>

<file path=ppt/tags/tag97.xml><?xml version="1.0" encoding="utf-8"?>
<p:tagLst xmlns:p="http://schemas.openxmlformats.org/presentationml/2006/main">
  <p:tag name="KSO_WM_DIAGRAM_VIRTUALLY_FRAME" val="{&quot;height&quot;:448.6,&quot;left&quot;:54.8,&quot;top&quot;:77.8,&quot;width&quot;:861.45}"/>
</p:tagLst>
</file>

<file path=ppt/tags/tag98.xml><?xml version="1.0" encoding="utf-8"?>
<p:tagLst xmlns:p="http://schemas.openxmlformats.org/presentationml/2006/main">
  <p:tag name="KSO_WM_DIAGRAM_VIRTUALLY_FRAME" val="{&quot;height&quot;:448.6,&quot;left&quot;:54.8,&quot;top&quot;:77.8,&quot;width&quot;:861.45}"/>
</p:tagLst>
</file>

<file path=ppt/tags/tag99.xml><?xml version="1.0" encoding="utf-8"?>
<p:tagLst xmlns:p="http://schemas.openxmlformats.org/presentationml/2006/main">
  <p:tag name="KSO_WM_DIAGRAM_VIRTUALLY_FRAME" val="{&quot;height&quot;:448.6,&quot;left&quot;:54.8,&quot;top&quot;:77.8,&quot;width&quot;:861.45}"/>
</p:tagLst>
</file>

<file path=ppt/tags/tag100.xml><?xml version="1.0" encoding="utf-8"?>
<p:tagLst xmlns:p="http://schemas.openxmlformats.org/presentationml/2006/main">
  <p:tag name="KSO_WM_DIAGRAM_VIRTUALLY_FRAME" val="{&quot;height&quot;:448.6,&quot;left&quot;:54.8,&quot;top&quot;:77.8,&quot;width&quot;:861.45}"/>
</p:tagLst>
</file>

<file path=ppt/tags/tag101.xml><?xml version="1.0" encoding="utf-8"?>
<p:tagLst xmlns:p="http://schemas.openxmlformats.org/presentationml/2006/main">
  <p:tag name="KSO_WM_DIAGRAM_VIRTUALLY_FRAME" val="{&quot;height&quot;:448.6,&quot;left&quot;:54.8,&quot;top&quot;:77.8,&quot;width&quot;:861.45}"/>
</p:tagLst>
</file>

<file path=ppt/tags/tag102.xml><?xml version="1.0" encoding="utf-8"?>
<p:tagLst xmlns:p="http://schemas.openxmlformats.org/presentationml/2006/main">
  <p:tag name="KSO_WM_DIAGRAM_VIRTUALLY_FRAME" val="{&quot;height&quot;:448.6,&quot;left&quot;:54.8,&quot;top&quot;:77.8,&quot;width&quot;:861.45}"/>
</p:tagLst>
</file>

<file path=ppt/tags/tag103.xml><?xml version="1.0" encoding="utf-8"?>
<p:tagLst xmlns:p="http://schemas.openxmlformats.org/presentationml/2006/main">
  <p:tag name="KSO_WM_DIAGRAM_VIRTUALLY_FRAME" val="{&quot;height&quot;:448.6,&quot;left&quot;:54.8,&quot;top&quot;:77.8,&quot;width&quot;:861.45}"/>
</p:tagLst>
</file>

<file path=ppt/tags/tag104.xml><?xml version="1.0" encoding="utf-8"?>
<p:tagLst xmlns:p="http://schemas.openxmlformats.org/presentationml/2006/main">
  <p:tag name="KSO_WM_DIAGRAM_VIRTUALLY_FRAME" val="{&quot;height&quot;:448.6,&quot;left&quot;:54.8,&quot;top&quot;:77.8,&quot;width&quot;:861.45}"/>
</p:tagLst>
</file>

<file path=ppt/tags/tag105.xml><?xml version="1.0" encoding="utf-8"?>
<p:tagLst xmlns:p="http://schemas.openxmlformats.org/presentationml/2006/main">
  <p:tag name="KSO_WM_DIAGRAM_VIRTUALLY_FRAME" val="{&quot;height&quot;:344.2,&quot;left&quot;:15.25,&quot;top&quot;:17.4,&quot;width&quot;:408.4}"/>
</p:tagLst>
</file>

<file path=ppt/tags/tag106.xml><?xml version="1.0" encoding="utf-8"?>
<p:tagLst xmlns:p="http://schemas.openxmlformats.org/presentationml/2006/main">
  <p:tag name="KSO_WM_DIAGRAM_VIRTUALLY_FRAME" val="{&quot;height&quot;:344.2,&quot;left&quot;:15.25,&quot;top&quot;:17.4,&quot;width&quot;:408.4}"/>
</p:tagLst>
</file>

<file path=ppt/tags/tag107.xml><?xml version="1.0" encoding="utf-8"?>
<p:tagLst xmlns:p="http://schemas.openxmlformats.org/presentationml/2006/main">
  <p:tag name="KSO_WM_DIAGRAM_VIRTUALLY_FRAME" val="{&quot;height&quot;:344.2,&quot;left&quot;:15.25,&quot;top&quot;:17.4,&quot;width&quot;:408.4}"/>
</p:tagLst>
</file>

<file path=ppt/tags/tag108.xml><?xml version="1.0" encoding="utf-8"?>
<p:tagLst xmlns:p="http://schemas.openxmlformats.org/presentationml/2006/main">
  <p:tag name="KSO_WM_DIAGRAM_VIRTUALLY_FRAME" val="{&quot;height&quot;:344.2,&quot;left&quot;:15.25,&quot;top&quot;:17.4,&quot;width&quot;:408.4}"/>
</p:tagLst>
</file>

<file path=ppt/tags/tag109.xml><?xml version="1.0" encoding="utf-8"?>
<p:tagLst xmlns:p="http://schemas.openxmlformats.org/presentationml/2006/main">
  <p:tag name="KSO_WM_DIAGRAM_VIRTUALLY_FRAME" val="{&quot;height&quot;:344.2,&quot;left&quot;:15.25,&quot;top&quot;:17.4,&quot;width&quot;:408.4}"/>
</p:tagLst>
</file>

<file path=ppt/tags/tag110.xml><?xml version="1.0" encoding="utf-8"?>
<p:tagLst xmlns:p="http://schemas.openxmlformats.org/presentationml/2006/main">
  <p:tag name="KSO_WM_DIAGRAM_VIRTUALLY_FRAME" val="{&quot;height&quot;:344.2,&quot;left&quot;:15.25,&quot;top&quot;:17.4,&quot;width&quot;:408.4}"/>
</p:tagLst>
</file>

<file path=ppt/tags/tag111.xml><?xml version="1.0" encoding="utf-8"?>
<p:tagLst xmlns:p="http://schemas.openxmlformats.org/presentationml/2006/main">
  <p:tag name="KSO_WM_DIAGRAM_VIRTUALLY_FRAME" val="{&quot;height&quot;:344.2,&quot;left&quot;:15.25,&quot;top&quot;:17.4,&quot;width&quot;:408.4}"/>
</p:tagLst>
</file>

<file path=ppt/tags/tag112.xml><?xml version="1.0" encoding="utf-8"?>
<p:tagLst xmlns:p="http://schemas.openxmlformats.org/presentationml/2006/main">
  <p:tag name="MH" val="20151121191650"/>
  <p:tag name="MH_LIBRARY" val="GRAPHIC"/>
  <p:tag name="MH_TYPE" val="Other"/>
  <p:tag name="MH_ORDER" val="8"/>
</p:tagLst>
</file>

<file path=ppt/tags/tag113.xml><?xml version="1.0" encoding="utf-8"?>
<p:tagLst xmlns:p="http://schemas.openxmlformats.org/presentationml/2006/main">
  <p:tag name="MH" val="20151121191650"/>
  <p:tag name="MH_LIBRARY" val="GRAPHIC"/>
  <p:tag name="MH_TYPE" val="Other"/>
  <p:tag name="MH_ORDER" val="8"/>
</p:tagLst>
</file>

<file path=ppt/tags/tag114.xml><?xml version="1.0" encoding="utf-8"?>
<p:tagLst xmlns:p="http://schemas.openxmlformats.org/presentationml/2006/main">
  <p:tag name="KSO_WM_DIAGRAM_VIRTUALLY_FRAME" val="{&quot;height&quot;:36.712283464566916,&quot;left&quot;:283.1845669291339,&quot;top&quot;:441.87779527559053,&quot;width&quot;:486.2776771653542}"/>
</p:tagLst>
</file>

<file path=ppt/tags/tag115.xml><?xml version="1.0" encoding="utf-8"?>
<p:tagLst xmlns:p="http://schemas.openxmlformats.org/presentationml/2006/main">
  <p:tag name="KSO_WM_DIAGRAM_VIRTUALLY_FRAME" val="{&quot;height&quot;:36.712283464566916,&quot;left&quot;:283.1845669291339,&quot;top&quot;:441.87779527559053,&quot;width&quot;:486.2776771653542}"/>
</p:tagLst>
</file>

<file path=ppt/tags/tag117.xml><?xml version="1.0" encoding="utf-8"?>
<p:tagLst xmlns:p="http://schemas.openxmlformats.org/presentationml/2006/main">
  <p:tag name="commondata" val="eyJoZGlkIjoiY2IyNmU0MDczNGY3Y2U0OGFhYmRkMTdlMDNjMjJmNTQifQ=="/>
</p:tagLst>
</file>

<file path=ppt/theme/theme1.xml><?xml version="1.0" encoding="utf-8"?>
<a:theme xmlns:a="http://schemas.openxmlformats.org/drawingml/2006/main" name="Office 主题​​">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C9F754DE-2CAD-44b6-B708-469DEB6407EB-1">
      <extobjdata type="C9F754DE-2CAD-44b6-B708-469DEB6407EB" data="ewoJIkZpbGVJZCIgOiAiNDkwMzE1OTkzNjQxIiwKCSJHcm91cElkIiA6ICIxMTA0Mjk5OTUyIiwKCSJJbWFnZSIgOiAiaVZCT1J3MEtHZ29BQUFBTlNVaEVVZ0FBQW5rQUFBR1lDQUlBQUFDeG0yTk1BQUFBQVhOU1IwSUFyczRjNlFBQUlBQkpSRUZVZUp6czNYZDhFL1gvQi9ETFRwclZ2VnNvSFZCS0VhaFFFTEVzeFM5YmhvSlljYUNnS1BBVkZSRVIvYUV5dmpJVlpDb2dLQ0JDb1JXUlhRU2t6RUlwb3hQYTBwRjBKV2wyN3U3M3gwZU9JMG5UZEtSSjJ2ZnpEeDZYeXlYNU5DMTU1Yk1aSkVsaUFBQUFBSEFZcHJNTEFBQUFBTFJ4a0xVQUFBQ0FZMEhXQWdBQUFJNEZXUXNBQUFBNEZtUXRBQUFBNEZpUXRRQUFBSUJqUWRZQ0FBQUFqZ1ZaQ3dBQUFEZ1daQzBBQUFEZ1dKQzFBQUFBZ0dOQjFnSUFBQUNPQlZrTEFBQUFPQlprTFFBQUFPQllrTFVBQUFDQVkwSFdBZ0FBQUk0RldRc0FBQUE0Rm1RdEFBQUE0RmlRdFFBQUFJQmpRZFlDQUFBQWpnVlpDd0FBQURnV1pDMEFBQURnV0pDMUFBQUFnR05CMWdJQUFBQ09CVmtMQUFBQU9CWmtMUUFBQU9CWWtMVUFBQUNBWTBIV0FnQUFBSTRGV1FzQUFBQTRGbVF0QUFBQTRGaVF0UUFBQUlCalFkWUNBQUFBamdWWkN3QUFBRGdXWkMwQUFBRGdXSkMxQUFBQWdHTkIxZ0lBQUFDT0JWa0xBQUFBT0Jaa0xRQUFBT0JZa0xVQUFBQ0FZMEhXQWdBQUFJNEZXUXNBQUFBNEZtUXRBQUFBNEZpUXRRQUFBSUJqUWRZQ0FBQUFqZ1ZaQ3dBQUFEZ1cyOWtGQUFDQXBzQngzR2cwbWt3bWdpQUlnaUJKMHRrbEFxMkgvUkNIdzNGMldlekNnRDlRQUlBYklVbFNyOWZyOVhxQ0lKeGRGdUFTZUR5ZVFDQmdNQmpPTG9ndGtMVUFBUGRBRUlSV3F6VVlETTR1Q0hCRmZENWZJQkE0dXhUMWdxd0ZBTGdIdFZvTlFRdHNZTEZZUXFHUXhXSTV1eUJXUU5ZQ0FOd0FCQzJ3azFBbzVISzV6aTZGT1JpSERBQndkWHE5SG9JVzJFbXRWdU00N3V4U21JT3NCUUM0TklJZ05CcU5zMHNCM0VsZFhaMnJOZGxDMWdJQVhKcFdxM1YyRVlDYklRakMxUnBDSUdzQkFLNkxKRWxYKzlBRWJrR24wem03Q0krQnJBVUF1QzRJV3RBMEJFR1lUQ1pubCtJUnlGb0FnT3ZTNi9YT0xnSndWeTcxUlEyeUZnRGdva2lTZE1FQnBjQmRRTDBXQUFBYUJrRUxtc09sL240Z2F3RUFMZ3BXUEFadEJtUXRBTUJGUWRhQ05nT3lGZ0Rnb2x4dE9RTGdkbHpuVHdpeUZnRFFIdDI3ZCsvV3JWdXU4MW5jYXFxcXF0TFQwNmtCM24vODhVZE5UVTE5RnhNRWtacWFXbHRiYTNsWGVYbjV5cFVycTZxcUhGbll0Z1AyaWdjQXRFZExsaXpKek13OGUvWnNnNXVOR3d5R1NaTW0yZk9jL2ZyMSsraWpqMnhja0oyZC9lNjc3ODZlUFh2Y3VIRVlodTNmdjMvTm1qWHIxNitQaTR1ejhhZzMzbmdqSWlKaTRjS0Y2R1pGUllWS3BiSnhmWEJ3c0llSGg4bGtrc2xrd2NIQlp2ZnUzNzkveTVZdGE5ZXVUVXhNek03Ty9yLy8rNysrZmZ1dVhyM2E2djZ2Rnk1YytPcXJyK2JNbVRONThtU3p1NVJLNWQ2OWUrL2Z2NzltelJyTEIxNjVjaVV6TTlOR0llc3plZkprRHcrUEpqelF4VUhXQWdEYUk5UVpiTS8rYXdSQlBIandZUHIwNlgzNzlyVngyZXJWcXh1czVCRUVvZFBwcUxrb0pwTkpwOU0xMkMxdE1wbm8xNnhacytiRWlSTTJybCsvZm4xQ1FzSi8vL3ZmKy9mdmI5KyszY3ZMaTdyTGFEUWVPSEFnTmpZMk1URVJ3N0M0dUxpWFhucHB6NTQ5Ky9mdkh6OSt2T1ZUSFR4NFVDd1dqeDQ5MnZLdW1KaVljZVBHblR4NXNxU2tKRFEwMU96ZXExZXZidG15eGZiUFpkV1lNV01nYXdFQW9JMUE2Y1ZrMnR1UFpqQVk2dXJxYkZ4Z09ac3pLeXNySnllSGZxYTB0TlR5Z2FkUG56YTdMQ0lpb2xldlh2VzkwQnR2dkRGMjdGZ2JKWW1LaXNJdzdKbG5udm4yMjI4LytlU1Q3Ny8vbnFxN0h6cDBxS3FxNnVPUFA2WXVmdWVkZDFnczFyUFBQbXY1UEtXbHBlbnA2YSsvL3JwUUtLUnE0ZlFMQ0lJZ1NYTEtsQ24wazhuSnlkT21UVVBIUC83NFk4ZU9IZEZsRFg2dFdiVnFWV3BxcXUxcjNCZGtMUUNnUFNKSjBtcXJhWDNPbmoxNzY5WXRHeGM4ZVBEQTM5K2ZmdWJFaVJPLy92cHJnOCs4YytkT3N6T2pSbzNxMWF2WDhlUEgwY3BIU3FXeXRMVDA4T0hEcUNhS29yUkJFeWRPdkhidDJva1RKNzc5OXR2NTgrZWpSYmkyYmR1R1lkaWlSWXZNTHQ2L2Z6OTFIQkVSZ1M3YnMyY1BuOCtuMnM5UkxmeTExMTRUaThWV1g5RmdNR3pjdUpIK25ZUEg0d21Gd25mZWVlZm16WnVuVHAxaXMyMGxqdTE3M1YxYi90a0FBS0ErT0k3Ylg2bkZNT3o1NTUrMzNZYjg3YmZmbXAyWk1XUEdHMis4UVQ5ejU4NmQ5OTkvMyt5eTc3Nzdya3VYTHZRemFLdnpaY3VXS1pWS2RLYXNyQXgxZjg2ZE83ZERodzUybG5uQmdnVzV1YmtwS1NsZHUzWWRNMmJNcmwyN1pESlo5KzdkazVLU3FHdlMwOU52M0xqeHpqdnZVRkhuNmVtSllWaGxaZVdCQXdkZWZ2bGxxVlQ2MDA4L0ZSWVdva0lPR0REZzJyVnJJMGFNOFBiMk5uczV0VnE5Y2VOR2RKeVVsQlFTRXVMdjc0L2orSzFidDJKaVlocU0wcEVqUjNidjNsMGtFdG41MDdrWHlGb0FRSnUxZi8vKytrYm9sSmFXNGpqKytlZWYxL2ZZZWZQbW9iWlRaUHYyN2J0Mzc3YnhXZ3FGb24vLy92UXpmRDZmeitmVHp3Z0VBc3NIQ2dRQ2lVUmllVDR0TFkwa1NZVkNNWHIwNk9lZmZ4N1ZUUnNjeVVVbkZBcVhMRm15Yk5teXA1NTZxcVNrQk5WV282T2pYM25sRmVxYTB0TFNHemR1VEpvMHlheW9XN2R1NVhLNWt5ZFBOaGdNZS9mdWpZK1BUMHhNL1Bqamo0OGRPN1o3OTI1L2YzK3JleDNPbVRNSHZXa3hNVEV4TVRFWWh1WGs1T2gwT3JWYXZYTGxTdHVsalkrUEh6NTh1UDAvblh1QnJBVUF0Rms1T1RucDZlbFc3MEo3cnRWM0w0WmhNMmZPbE1sazZOaDJ5dElWRmhhaWltbElTRWlUaXZ3SWo4ZkRNT3pNbVRPb1h4bGxZVlZWRlZYWnRTRW9LQWhkSHhVVnRYbnpaaHpIMzMzM1hmdlhMTXpQeno5dzRNREFnUU16TXpOdjNyeXBWQ3JmZSsrOThQRHdrSkNRMGFOSEp5WW1GaFlXL3ZUVFQxWWZLNUZJNkdPcHNyT3pVUVA3d1lNSGJiK295V1N5Mm0zY05rRFdBZ0NjVEtQUm1Fd21vOUdJL2tWTUpwTy92Nzg5NDRSdCtPU1RUejc1NUJQTDh5UkpEaHc0VUtmVHBhU2swSWZwMHVYbTVsSmpmQnFMNnZKc3ZtUEhqcUVEaFVJaGxVbzNiOTU4NE1DQkJoLzEwMDgvZGUzYWxicTVhZE9tek16TUdUTm1iTml3NGU3ZHUvU3kzYjE3RjhPd1hidDJVVy8xYzg4OXgrRndTSkk4ZmZyMDVjdVhWU3JWeXkrL0hCNGVqcXJhQ29WaTRzU0pzYkd4Z3djUHhqQ3N1cnA2OXV6Wm8wYU5ldkhGRjlIRHpWcm1VZFp1Mzc2OVU2ZE9MZktHdUNuSVdnQ0FZK24xZXJsY1hsbFpXVjFkWFZsWldWVlZoZjZ0cXFxcXJxNjJNZVBsaXkrK1FPMlFMYTZzckF6VmF6TXpNd2NOR21UMW11am9hRlRyTlJxTjFkWFY5and0bTgzMjhmR2hicUxadFBRTHJDNmRNWFBtVExOUldrdVdMSG5xcWFkUXArblpzMmY1Zkg1K2Z2N1lzV05uelpyMTRvc3ZQdlBNTTlTVkJFSE1uVHQzOE9EQm8wYU5vajlEV0ZnWS9XYm56cDE3OXV3NVpjcVVEUnMyM0w1OU95OHZqN3JMYURSaUdMWmp4dzdxVEh4OGZFSkN3ckZqeDhSaThVOC8vYlJuejU3WFgzOGRkY2R1MjdaTklwSDA3OStmeVdUNit2cGlHSGJxMUNrTXc0WU5HMWJmYnlvN08xc2tFa1ZFUk5qekJyWmhrTFVBZ0JZbWs4bnk4dkx5OHZMeTgvUHo4dkxzREtyV2RPblNKWFNRbnA1ZVg5WlNjbk56WDMvOWRSNlBSMDlFblU3SFlySG92YWRHb3pFOFBKemUydXpyNjJ1MkJJUk1KdnZqanovTW5uL28wS0ZtQTVpcEJTaDI3dHdaRWhMaTRlSFJxVk9uamgwN0xsMjYxR3haQ1RUb055UWtCR1d6SlpsTTluLy85My9UcDA5ZnMyWU5xbkdPSFR1V1B1ZG4rZkxsdi8vKysxOS8vV1hXWHl1UlNJcUtpclp0MnpaMzdselVuYnhseXhhNVhPN241NGVlQncyd1FnV1lPM2N1ZW5PZWZ2cnByNy8rbWw2OGdvSUNUMC9QWmN1VzJYNlRrZW5UcDlmWHpPRHVJR3NCQU0xVlVWR1JuWjJkbjU5ZlVGQ1FtNXVyVnFzYjlYQWVqOGRtc3prY0R2cVg0cmdocVNkUG51VHhlTTgvLy95UkkwYysrT0FEcTBPVHpHelpzb1ZlZFJzeVpNaWtTWlBlZXVzdDZzektsU3N2WHJ4SWYwaEFRTUNNR1RQb1o3S3lzaXl6OW9VWFhvaVBqN2Q4UlpsTXRuLy8vbW5UcGgwL2ZwekJZQ3hhdElqSDQ4WEZ4UkVFTVcvZXZLRkRodzRiTm95NkdNZnhuVHQzTWhpTVYxOTlsZjRrcDA2ZHVuVHAwb2dSSStMajR4dTFuNnZKWlByeXl5OGpJeU5SNTJ0QlFjR2VQWHZvRitoMHVvRURCL2JyMTQ4NnMzMzdkclB0MlhFYzUvUDVPcDN1enovL3RQMXlCb09CSUFqNis5bkdRTllDQUpwQ29WQmN1M1l0TXpNek16T3pvcUxDeHBVTUJzUEx5OHYzSVI4ZkgxOWZYejgvUHg4Zkh6OC9QeHNEYTdWYUxXcnBiVms1T1RrWExsd1lNbVRJK1BIakR4NDgrUFBQUDgrY09iUEJSNzM5OXR2MHp1TzZ1anF6a2NrNm5jNnM1YmFaVnExYXhXUXl4NHdaYy96NGNiVEUxWUlGQ3pBTU8zNzgrSmt6Wjh6aW1jVmluVDkvL3ZidDI4T0dEUXNJQ0tET256cDFpc3ZsRGhnd2dINnhaZWdTQkVHZFpMRllEQVpqeFlvVk4yL2VmUGJaWjcvKyt1dkN3c0orL2ZweHVWeTByQ1AxcU5qWVdQcXFHb2NPSFRKN1doNlBaMlAwR2QzOCtmTlBuanhKSC9qZHhrRFdBZ0RzcGRGb3JsKy9mdjM2OVd2WHJoVVZGVm05aHNGZ0JBWUdkdWpRb1dQSGpoMDZkT2pRb1VOWVdKanJMRk5Ba3VUcTFhdlI4a2FkTzNmdTNidjNuajE3aGc4ZjNtQ0g0dHExYXlNakk2bWJvMGVQSGo5Ky9OU3BVNmt6NjlhdHUzcjFha3VWa3lDSXExZXZUcGt5UlNxVm1wVi8yN1p0VXFuVWNrbkY2ZE9udi9QT08xdTNidjMwMDAvUm1jckt5bXZYcmcwY09KRGVRdkQ3NzcvLy92dnZabytsTjZRdlc3WnM0TUNCV1ZsWmFFSndwMDZkRWhJU0prNmMyTDE3OS9Qbno5T3p0Z1dwMVdvdWwydldqdDJXdU1wL0FBQ0F5eklZREdmUG5qMTE2dFRseTVldFhoQWFHdnJrazA5R1JrYWljRVZMTWJpbTdkdTNYN2x5WmZqdzRiR3hzUmlHdmYvKysxT25UcDAvZi83V3JWdHRWNnFXTGwxS1R3SzFXbjM0OEdINkcxSldWbWFXaTZkUG56YXJRUllYRjFzKzgrWExseTBiQmdZTkd2VDIyMitQR0RIQzdQenAwNmR6YzNQZmVlY2R5OUwyNnRVcklTRWhOVFgxbFZkZVFjT0cwY0FsczRrMENRa0pRNFlNb1c2ZU9ISGl5cFVyYytmT3BXcnRxS2w4NmRLbHZyNis5Qis1VDU4KzU4K2Zwei9WNXMyYjZUTi9kRG9kR3JlVm01dHJlOFZtT2o4L3YvSGp4NnRVcXZxV28yb2JJR3NCQU5ZUkJISGp4bzJUSjArZVBYdldjdUVDb1ZEWW8wZVBoSVNFUG4zNjBBZmZ1ckswdExRZmZ2Z2hLQ2hvenB3NTZFem56cDJuVHAyNmJkdTIyYk5ucjFxMXlzYkgvWmd4WStoNzVuejIyV2M5ZXZTZzk1Z2VQSGl3cEtTRS9wQkZpeGJaMHdhK1ljTUd5NU1uVDU2MHJMbWFUS2IxNjlkN2VYbE5uRGpSNmxPOThjWWJNMmZPL1BISEg3LzQ0Z3ZVcU12ajhjeFcyT2pZc1NQOW1mUHo4NjljdVRKNjlHaXpPcVhsZGdLV2twS1Nubjc2YWVvbXRkbUFqZG0zbHVMaTRzYVBINjlRS05CNlZXMFZaQzBBd0Z4UlVkR3hZOGRPblRwbHRuRU5nOEdJam81T1NFaElTRWlJalkxdDFCcUhUcmR0MjdZZmZ2aEJKQkl0WDc2Y1hnR2RQbjE2Ym03dXVYUG5wazJidG5qeFl2b0FLS1BSS0pmTCtYeitzbVhMd3NQRDZXbkVaREs5dmIzcHJjcXZ2UEtLVnFzdExTM2w4WGpveThldVhidk1aalRsNU9TZ1BsZTZyNy8rMm5MQ2pOVzlibjc3N2JlaW9xSlBQdm1rdmlyNGswOCtHUnNiZStUSWtUZmVlRU9uMCtYazVBd2VQTmpxWWxYMnFLaW9RQ1BKNzk2OW01T1Q4K09QUDVwZEVCTVRRMS9wYWQrK2Zlamd1ZWVlZSs2NTV4cjFXdFhWMWJZM0ZuUjNrTFVBZ0VjdVhMaXdiOTgreXo2NWlJaUl3WU1IRHgwNjFCMHJIeFVWRmN1WEx6OTc5cXhFSWxtOWVyVlpzREdaekcrKytlYlRUejg5ZCs3Y0cyKzhNWDc4K05kZmZ4MzltS1dscFdiRGVpazZuVzdmdm4xVzEwSktTRWhBNnhGYVZnMFZDb1hsOVFFQkFhakp0MEgzN3QyTGpvNm1yOHFFdmd6UnU4T1RrNU0zYnR3b2s4bE9uanhwMllDTU9uR3ZYTGxDdjRubUdkTUhxVWtra3VuVHA2UHg1TUhCd1QxNjlKZ3laWXJqMm5ndlhicWsxV3J0WCtmWkhVSFdBZ0F3Z2lCT25qeTViOSsrKy9mdjA4OTdlWGtOSERodzZOQ2hicnJvajBxbDJydDM3ODZkT3pVYVRXUms1UExseTYwMmpmTDUvRysvL1hiVHBrM2J0bTNidlh0M1NrcktrQ0ZESmsrZUxKRkk5dTdkYS9XWkowK2VQR3JVcUpkZmZ0bnF2V2dlYWt2L05OajgrZk5OSmhPTHhmcmhoeCtxcTZ1NVhPNzE2OWZOVnE0WVBIZ3c2bzQ5Y3VTSVNDU3luSGVibnA1dU9UWjQ5dXpaOUp1SERoMTYvdm5uNCtQamUvWHFSUi9WYkthKy9scmIwdExTVWxOVEJRS0JRQ0R3OFBCUXE5V29HN2dOTDlBSVdRdEFlNmZYNi8vODg4LzkrL2ZMNVhMcUpKZkw3ZGV2MzVBaFF4SVNFdHlyb2RqTW9rV0x6cDA3eDJBd1huNzU1Umt6WnFBVmhxMWlNcGt6WnN3WU5HalFtalZycmx5NVVsNWVmdmZ1M2NXTEY5dDQ4dDI3ZDllM1RyS1hsOWVSSTBkYTRpY3doNnF3Y3JrY3pkTVZDQVRQUHZzc3ZjR1dXbkRqczg4K2UvLzk5eTFIOWc0ZlByekJhYXkrdnI3MDlTN3E4OHd6ejlBN2c3ZHUzV3JQanlBV2kyL2R1a1hOeEdVd0dHRmhZVysrK1diUG5qM3RlYmliZ3F3Rm9KMnFxNnRMU1VrNWRPaVFTcVdpVG9yRjRqRmp4b3daTTZadGJHMjJZTUdDVmF0V3ZmYmFhM2J1K2RxNWMrZjE2OWZmdkhrelBEeGNJcEdNSERuUzhXVnNpczgvLzN6aHdvVWtTZHIrSm1RMkxob1JDQVQwUVY3TjBibHpaL3BiUk44RTE0YWtwS1MvLy80YmpXL0hjUnl0WWRJaTVYRmxES3ZyY3dJQTJqQWN4dzhlUExocjF5Nk5Sa09kOVBiMkhqOSsvUERodzExbmpxT0QxcklBVFliU3NjbURyVnFmcDZlbjJWclR6dEwydjAwQUFPaXlzN05Ycmx4WldscEtuUWtLQ3BvNGNlS3p6ejdyYXRVTEYvbVVCQlJYbmpsdGxldjhDYm5XZnkwQWdPTlVWMWR2MkxBQk5kOGhZckg0MVZkZkhUNTh1R3QyeXJyT0J5VndSeTcxOXdOWkMwRGJaektaOXUzYnQzdjNicjFlajg2d1dLeVJJMGNtSnllNzhncTBydmtOQUxpTFptNSszTElnYXdGbzQ0cUtpcjc2Nml2NjZvQzllL2VlUG4xNlNFaUlVOHZWTUZkcjB3YnV4YVgrZmx5b0tBQ0FGbmZnd0lHZmZ2b0o3UWVPVmxlWU9YTm1qeDQ5bkYwdXV6QVlEQ2FUYVdNemVRQnNjS25lWmNoYUFOcW0ydHJhcFV1WG9yVU9VRzVObURCaDZ0U3BMdFd3MWlBdWx3dERrVUVUc0Znc2wvcFRoNndGb0EyNmZQbnk4dVhMcVltelBqNCtuMzc2YWRldVhaMWRya2JqOFhpUXRhQUpiS3hiNGhTUXRRQzBLUWFEWWVQR2pZY1BINmJPREJnd1lOYXNXVzY2TmdXVHllVHhlTlNRTGdEc3dXQXdYS29CR2JJV2dEYWx0cmIyczg4K3k4L1BSemNGQXNHNzc3NDdkT2hRWjVlcldRUUNnZEZvaEY1YllEK0JRT0JTRTM1ZzNTZ0EybzU3OSs0dFdMQ2d1cm9hM1l5T2psNndZSUdOaGVQZENJN2pTcVhTMmFVQTdvSEw1YnJnVERiSVdnRGFnb3lNaktWTGwxSmRtK1BHald0d2ZYbjNndU40WFYwZDFHNkJiUndPeHpXN1N5QnJBWEI3Ky9idCsvSEhIOUgvWlNhVE9YdjI3TWJ1MU8wV1NKSlVxOVhVL0NVQXpMaG1qUmFCckFYQXZhMWZ2ejQxTlJVZGkwU2lMNy84MGgzSEc5dFByOWRydFZyNDRBSjBMQmFMeitlNzJuZ29Pc2hhQU56WW1qVnJxSDFTZzRLQ2xpeFowalk2YUJ0a05Cb05Cb1BSYUlSUHNQYU15V1J5T0J3ZWorZFNVMm10Z3F3RndDMlJKTGwyN1ZvcWFPUGo0eGN0V3VTeURXaU9ReENFeVdUQ2NkelpCUUd0QkswbXhtUXlXU3lXcXcwMnRnR3lGZ0QzUTVMa2loVXJUcHc0Z1c0bUppWXVYTGpROWIvYUE5QnV3ZnhhQU53TWp1UExseTgvYytZTXVnbEJDNERyZ3kyckFIQXpLMWFzZ0tBRndMMUExZ0xnVG5iczJISHExQ2wwREVFTGdMdUFyQVhBYlp3OGVmTFhYMzlGeDEyN2RvV2dCY0JkUU5ZQzRCNHVYNzY4WXNVS2ROeWhRNGZGaXhkRDBBTGdMbUFjTWdCdUlDOHY3NE1QUGtCTEp2bjUrYTFaczhiTHk4dlpoUUlBMkF1eUZnQlhWMXRiTzJQR0RJVkNnV0dZVUNoY3ZYcDFhR2lvc3dzRkFHZ0VhRU1Hd0tYaE9QN2xsMStpb09Wd09GOS8vVFVFTFFCdUI3SVdBSmUyZGV2V08zZnVvT041OCtaMTd0eloyU1VDQURRYVpDMEFydXZpeFlzSERoeEF4eU5IanV6ZnY3K3pTd1FBYUFySVdnQmNWR2xwNlpJbFM5QnhaR1RrOU9uVG5WMGlBRUFUd2Rnb0FGeVJUcWQ3Ly8zM1MwcEswRTU1R3paczhQSHhjWGFoQUFCTkJQVmFBRnpSNXMyYlVkQmlHUGI1NTU5RDBBTGcxaUJyQVhBNTJkblpodzhmUnNmSnljbng4ZkhPTGhFQW9Ga2dhd0Z3TFFhRFlmbnk1ZWc0T2pwNjh1VEp6aTRSQUtDNUlHc0JjQzJiTjIrV3lXUm9OdTBubjN6aVJydGhBd0RxQTFrTGdBdkp6czVPUzB0RHgxT25UZzBPRG5aMmlRQUFMUUN5RmdCWFlkWjZQRzdjT0dlWENBRFFNaUJyQVhBVnUzYnRRcTNIYkRZYldvOEJhRXNnYXdGd0NUS1o3UGZmZjBmSEw3MzBFclFlQTlDV1FOWUM0QkkyYnR5STR6aUdZYjYrdmkrKytLS3ppd01BYUVtUXRRQTRYMVpXMXZuejU5SHgyMisvemVWeW5WMGlBRUJMZ3F3RndNbElrdnorKysvUmNkZXVYUWNNR09Ec0VnRUFXaGhrTFFCTzl1ZWZmeFlWRldFWXhtUXk1OHlaNCt6aUFBQmFIbVF0QU01a01CaTJiZHVHamtlT0hCa1dGdWJzRWdFQVdoNWtMUURPbEphV3BsS3BNQXdUQ29WVHAwNTFkbkVBQUE0QldRdUEweGdNaHQyN2Q2UGpLVk9tZUhoNE9MdEVBQUNIZ0t3RndHbFNVMU5ScFZZaWtRd2ZQdHpaeFFFQU9BcGtMUURPWVRBWTl1elpnNDRuVHB6STQvR2NYU0lBZ0tOQTFnTGdISWNPSGFJcXRhTkdqWEoyY1FBQURnUlpDNEFUR0F5R3ZYdjNvdU1KRXlaQXBSYUF0ZzJ5RmdBbk9ITGtDRFg4ZVBUbzBjNHVEZ0RBc1NCckFXaHRKRWtlT0hBQUhZOFpNd1lxdFFDMGVaQzFBTFMycTFldmxwZVhvNFdpUm80YzZlemlBQUFjanUzc0FnRFE3aHc4ZUJBZERCdzQwTXZMeTluRmNXODRqaE1FUVJBRVNaSWtTVHE3T08wRmc4RmdzOWxzTmlTSXZlQ2RBcUJWbFpXVlhicDBDUjJQR3pmTzJjVnhWd2FEd1dBd0dJMUdaeGVrdldPeFdCd09oOGZqTVpuUVNtb0xaQzBBcllxcTFNYkd4a1pHUmpxN09HNkdJQWk5WHEvWDY2RUs2eUp3SE1keFhLZlQ4Zmw4UHAvUFlEQ2NYU0lYQlZrTFFPdlI2WFJIang1RngyUEhqblYyY2R3TVFSQXFsWW9nQ0djWEJGaWgwK24wZXIySGh3ZnN2bXdWMVBvQmFEMS8vLzIzVnF2Rk1NelQwL1BwcDU5MmRuSGNDWTdqU3FVU2d0YVZrU1NwVnF2VmFyV3pDK0tLSUdzQmFEMG5UNTVFQnlOSGpvVCtMZnVoR2kyMEc3c0ZnOEVBMzRvc3dmOTJBRnBKYlcxdFptWW1PaDQ4ZUxDemkrTk82dXJxSUdqZENPckJkWFlwWEF0a0xRQ3Q1TlNwVStnZ0ppWW1LQ2pJMmNWeEd3YURBY2R4WjVjQ05JNWVyNGZmR2gxa0xRQ3RoR3BBaGtwdG82QWVidUIyTkJxTnM0dmdRaUJyQVdnTlpXVmxlWGw1YUsyb3BLUWtaeGZIYlpoTUp1ajVjMU1ta3dsYS9pbVF0UUMwaG1QSGpxR0RuajE3ZW5wNk9yczRia092MXp1N0NLRHBEQWFEczR2Z0tpQnJBV2dOVk5ZT0dqVEkyV1Z4SjdBeWxGc3ptVXpPTG9LcmdLd0Z3T0h1M0xsVFdWbUpZUmlId3hrd1lJQ3ppK00yMENySHppNEZhRHJJV2dwa0xRQU9kK0xFQ1hUdzFGTlB3YW82OW9OUGFuY0hmZTBVeUZvQUhBdkg4ZE9uVDZOakdJSGNLUEJKRGRvTXlGb0FIT3ZXclZ0MWRYVVlob2xFb29TRUJHY1h4NTFBQTNJYkFMOUVCTElXQU1lNmN1VUtPdWpYcngrTHhYSjJjUUFBVGdCWkM0QmpYYjE2RlIzMDZ0WEwyV1VCVFNTVHlRNGNPSURhSjh6bzlmcHQyN1psWkdRMDZnbEprclIvRmNPc3JLelZxMWNYRlJWWjN2WHJyNyt1VzdjT1ZtaHlmYkNuSGdBT3BGYXJjM056MFhIdjNyMmRYWngyNS9MbHl6S1pqSDRtTmpZMklpTGkxS2xURHg0OHFPOVJmZnIwaVltSm9aL1p1M2Z2enovL0hCWVc5dVNUVDVwZHJOZnJmL2poaC9Ianh5Y21KbHA5dHRUVTFIWHIxaDA1Y29SKzh0eTVjNTkrK3Vubm4zOCtkT2pRQm4rS05Xdlc1T2ZuejVneHcreDhmbjcrNnRXcmh3NGRhcnU5NU5DaFF4VVZGUTIrQ29aaDQ4ZVA5L2IydHVkSzBGaVF0UUE0ME9YTGw5RkJaR1NrVUNoMGRuSGFuUjA3ZHBqVk9PZk1tUk1SRVpHYW1ucnUzRG1SU0dSMlBkb1ZidTdjdWZTc1ZhdlZLU2twdlhyMXNneGFlMmkxMnBxYUdyT1RlL2Z1eFRETW52Nzc5UFQwckt5c2poMDc3dHUzajM1K3dJQUJHemR1eERDTXkrWHUzTG1UZnBldnIrL3p6ejlQM1V4TlRiMXg0NGJ0WGR4UnIrcWdRWU1nYXgwRXNoWUFCNklha0dGVWxGTXNYNzZjYWwrdHFha1pQMzQ4ZFZkMGRMUlpSR0VZVmxGUk1YcjBhTE9UZS9ic1VhbFU3Nzc3THJwWlZGUkViLzVGRGN1MXRiVTVPVG4wUndVR0Jrb2tFcXVsS2lvcXlzaklTRXBLa3N2bGNybmM4b0xnNEdEMFBVQ2xVcTFZc1FMRHNQTHk4czJiTjlPdktTMHRUVTlQWjdQWkowK2VwSmJhUnJwMjdVclBXZ3pEUWtKQzl1L2ZiN1V3eU02ZE83Lzc3anNiRjRCbWdxd0Z3SUdvU2hWMDFqb0ZuOCtuanB1Mmg0RlNxZnoxMTE4SERod1lIeCtQNHppTHhWcXlaQW4xRllweTRzUUphaFkxc25qeDRpZWVlQUxsSlVweFZCNnBWTHA3OTI1VVlVMVBUN2Y2b3V2V3JYdnl5U2RKa2x5OGVIRkZSY1VISDN3d2R1ellXYk5tRFI4K2ZNeVlNU2pncDB5WndtYXpkK3pZNGUzdFBXdldyQkVqUmt5YU5La0pQeUJvSFpDMUFEaEtVVkdSUXFIQU1Jekg0M1hyMXMzWnhRR1AwV2cwMUJCeFNtMXRyZG1aclZ1M2FqU2FtVE5uWWhpMmVmUG1TNWN1VFpvMDZlV1hYNll1ME9sMG4zMzJXZi8rL1Y5NDRRWDZBMnRxYXVoVlpIUThhTkNnTjk5ODg4Q0JBNk5HalJveFlvUmxxYzZmUDc5anh3NDJtNDFoMklvVks5TFQwd2NQSHZ6U1N5OWhHSmFZbVBqTk45K1FKRGwyN05pdnYvNjZ2THg4K3ZUcGtaR1JHSWJGeDhldldyVktwVks5OWRaYlZuOVkxRFp1NDkyQWhZc2REYklXQUVlaGFqL2R1M2VIMlQ1T29WYXJxVzJEelVZUlAzandnR29Xcms5dWJ1NXZ2LzAyYWRLazhQRHdpb3FLWDM3NUpUdzhmUERnd2ZUZnBsS3BSQzNHWnF0djF0VFVvRmJabEpTVUV5ZE9vR05QVDgvbHk1Y0xoY0wzMzM5ZktwWHE5WG9lajBkL1ZINStQdnB5VmxsWmVmcjA2WVNFaEVXTEZxSHh4aDRlSHBNbVRlcmF0ZXY5Ky9mUG56L2Z1M2Z2MTE1N0RUMXErdlRwRHg0OHNMSDhaMmxwS2F5ajRseVF0UUE0Q25UV090MjllL2NXTDE1czlhN3c4UEFsUzVhZ0xQenR0OTgyYk5nZ0ZvdHJhbXJlZSs4OTZwb2xTNWJnT083aDRmSGpqejlldm54WnI5ZlBtemZQenE5TlhsNWVmZnIwd1RCczA2Wk5hR3d6aG1FSER4NjhjZVBHaHg5K0tKVkthMnRySjA2Y21KeWMvT3FycjFLUFFzdFNjamdjWDEvZlRaczJlWHA2OHZsOHVWeStZY09HaElTRWxTdFhvc3UrLy83N3NMQXdKdlBmU1pzWkdSa1hMbHlZTW1WS2ZZV1JTcVhUcGsyelVkckxseS9YMTZBTldnUmtMUUFPZ2VONFptWW1PbTYzbmJXVmxaVzF0YlVLaFVLaFVOVFcxbW8wR3FQUlNCQUVqdVBvWDB2MDg4bkp5Y0hCd2MwcEFPb2wvZm5ubnp0MTZxUlVLdWZObStkMk0vNGpBQUFnQUVsRVFWVHY3NDloR0JWYUtCUXhET3ZZc1NNNm9JOWJGZ3FGVENienQ5OSt3M0ZjcFZLTkhUczJQajVlcTlYU0IxV2hYZjl1M2JwRkg3dlVwVXNYVk11c3Fhbkp6czdHTU96MDZkTURCZ3pvMmJQblN5KzlOR0hDQkF6RGZ2dnRONlZTMmFsVEozcUJVVnN1V2pTYit0blhyVnVuMCtrbVQ1NU1YUllmSDIvL20vRGFhNi9wOVhyYjlkb0JBd1pNbURDaG1lODJzQUd5RmdDSHlNM05SZnZCK2ZyNmhvV0ZPYnM0RGxGY1hGeFpXVmxUVTRPaUZHV3FVcWxFWnpRYVRUT2YzNndIdEFuUTVOcVFrQkEybSszdDdZM2k4STgvL3ZqcnI3K29hMHBMU3pFTVc3QmdBZW9sUmQ1Nzc3MlltSmdWSzFad3VWeVR5WlNjbk14bXMxR2JzMTZ2Mzc1OU8vMVZPQnhPWGw1ZVhsNGVkV2JNbURFb2EvLzY2eSswcXZQQ2hRdjc5dTM3MVZkZmZmREJCNmhCZSsvZXZmSHg4VTgvL1RSSmt0U0VISlRjOUEwcS92bm5uei8vL0xOVHAwNVJVVkdXSGN4SVlXRWgrcE5EZFc0UEQ0L1kyTmdOR3piUXgwdmZ1SEdqd2Jmci9Qbno2R0RvMEtFd3dxQmxRZFlDNEJEVURCQjMvOHdpQ0VJdWw1ZVhsNWVYbDFkVVZGQUgxZFhWemk1YXc4ckx5eVVTaWRuTTV1TGk0b3lNakNGRGhxQ2JLTmhFSWhISzJ0cmEyaXRYcmt5ZE9wVzZhOGVPSFFVRkJjdVdMWk5LcGFqUDllelpzL2E4T2ttU0tTa3BBUUVCRlJVVi8vdmYvejc2NktNNWMrYjg3My8vRTRsRWUvZnVWU3FWTTJmTy9PV1hYODZlUGJ0Ky9YcjBFTlNHVEhYaTF0VFVmUFBOTnhpRzllelo4OHFWS3dzV0xMRHhjbXZYcmtVSG5UdDMzckZqUjFwYUdob0NqWjdXWkRMeGVEemJzMndwVVZGUjd2NTM2Mm9nYXdGd0NDcHJ6VllnY25FS2hTSW5KNmV3c1BEQmd3Y29XZTFjY3NpU1ZDb1ZpOFVpa1VqOGtGQW9aTFBaTEJhTHlXU3lyREU3My96MmdJcUtDcVZTbVpTVVJKMzUvdnZ2MFFIS01EVFNPRDgvZi83OCthZ04rZUxGaS9UcVkwNU96dGF0VzRjTkd6Wnc0TURHdnZycDA2Y0xDd3RmZnZubFgzNzVwVy9mdm9zWEwxNnlaSWxNSmpNYWpUdDM3aHc4ZUhEUG5qMXJhbXF1WExseTdOaXhaNTk5Rm8xcXhqQU1wVDVCRUo5Ly9qbTE3bFh2M3IyM2JObUNJdHdzTWk5ZXZMaHAwNllQUHZpZ2E5ZXVHSVlKQkFJTXc5TFMwcWdMWnMyYWxaMmRuWnFhNnVIaDBmaDNFYlFBeUZvQUhJSmFtakU2T3RyWlpiRkZKcFBsNWVYbDUrZm41dWJtNStmYldWc1ZDb1dCZ1lHQmdZRkJRVUVvVTZsWUZZbEVJcEVJZmR3M2sxYXJ0WC9SWUt1R0RoM2F2WHQzZEp5VmxYWGl4QW16Y2IrMktSU0tUei85VkNnVVRwZ3c0Y3laTTBWRlJmZnUzWnM1YzJabVptWkJRWUdOQjQ0Yk4wNGtFdjN3d3cvOSt2VUxDZ3BDSndjT0hOaXJWeStKUlBMVlYxL2hPRDU3OW15MHpXS1hMbDIrLy83N0FRTUc4UGw4MU8rQXBnVXZXN2JzNHNXTFhicDB1WFBuRHZydUVoOGZmK1RJa1MxYnRxeGJ0eTRnSUlCNnViS3lNZ3pESWlJaXJQYmozcnQzTHlNalk5S2tTUkMwVGdSWkMwREwwK3YxeGNYRjZOaWxzcFlreWRMU1VoU3U2RjgwWmFVK2JEYmIzOTgvS0Nnb0lDQWdLQ2lJeWxkM1dXK1NhaWpHTUl6QllKdzRjWUlxK2JWcjE5QUJxcmhuWjJlanU5Q3NHK1QzMzM5SHYwZHEzcXFQajgvSEgzOTg3Tml4RXlkTzBCZktvS0RXMnFTa3BLdFhyOTYvZi8vamp6K21wN0pFSWpseDRrUnFhdXA3NzcwWEdCaUlUcjcxMWx0ejU4Nzk3YmZma3BPVGRUb2RnOEhnY0RnRkJRVXBLU2xvc0RTOTN6b3NMS3kwdEhUKy9Qa2JOMjdrY0RqMnZBazNiOTVFUDB0S1NvcnRLNU9UazIwUFZ3Wk5CbGtMUU12THpjMUZDOHlHaFlVMXFpTGxJQnFONXRLbFM1Y3VYY3JJeUxDNldRMGxPRGc0T2pvNktpb3FPam82S0NnSWpkcHRHOUJpRGxUZHptd3AvN2x6NTFvKzVJa25ua2hLU3VyVXFWTjRlSGpIamgzRHc4T3BKWlJGSXBIWlFsSElyNy8rdW5yMWFqUlV1SC8vL2s4KytTUTlhNVZLNWVlZmY0NHUyN2x6cDhGZzBPbDBhUERVOXUzYlI0OGVyZFZxVVlSMzZ0UnAzTGh4cjczMm10bWl6WEZ4Y2RPbVRkdTRjZU9HRFJ2ZWYvOTllMzd3eU1qSTVPUmsyOWM4ZVBEZzVNbVRxQlVkT0lMYlpLMFJKMlFxWGJYV29OQWFOQVpjYjhJTkpnS0hYWWlCaXhLLy9zMEdkTFQzMm4wN0g4TmhNYjA5dU40ZXZDQ3B3RmZZQWdsZFVsS1NrWkZ4OGVMRjdPenMrclpkQ3dvS2lxWnB3ODJNcUFhUCtvejVmUDYyYmR2UStRTUhEdXpaczJmTGxpMG8xVWlTTkJxTjRlSGhhR0owaytkRysvdjdXMDd0bFVna0w3endnbHd1RHd3TXBIcXlSU0tSWEM3LzdydnZzckt5Nkt0YnpKczNqL3FLUURkMTZ0VDA5UFM4dkR5VHlVUWZPMTJmMk5qWTJOaFkyOWVrcGFXZFBIbVNxbXFERnVjR1dWdXJOZWJLbFVYVmFraFcwTFlaY2FKQ3BhdFE2VzVYS0hoc1pxaW5NTkpYNUNuZzJ2SFFSMHdtVTFaVzFzV0xGek15TWxBM25wbUFnSUNZbUppb3FLaVltSmlZbUpnMkhLNW1WQ29WajhmamNyblRwazJqdDVTaTBjV2hvYUZlWGw0Nm5lNnR0OTdxMXEwYnlqbUtWcXU5ZmZ2MnJWdTNzck96cmE2dGFKWFZsdllQUC96UTZzWFBQZmVjUkNLaEl0OEdGb3UxZHUxYVZPeVdnbVlOdGRYSmFhN0FwYk8yV21PNFZWNWJxbWpLaXVFQXVEVzlpY2l2Vk9WWHFnTEUvSjZoM2hKK3d6MXpaV1ZscWFtcHg0NGRzMndsNW5BNFR6enhSTisrZlo5NjZxbDIyMDU0Ly83OUJ2T0p6K2Y3K1Bpa3BLUk1talNwUTRjT2FXbHAyZG5aTjIvZXpNdkxReTI5WVdGaDllM2UwMHdTaVVRdWx4Y1VGRkNEdVd3dyswSFFDaGpVTWxLTnBWUXFUNXc0MFlZbmdyc0MxODNha2xwTnhyMUtxTXVDZHE1Q3BUdHl1N1Jyb0xSYmtLZlZDM0FjUDN2MjdPSERoeTBYSzVCS3BYMzY5RWxNVEh6eXlTZGRvZHU0OWQyNmRldjQ4ZU1rU2Q2L2YvL216WnREaGd5NWQrL2V0V3ZYZERxZFZxdlY2L1ZhclJhOWI0c1hMOFp4WEt2VmxwV1ZFUVN4ZnYzNlpjdVc3ZDY5T3o4L1B5WW01c1VYWDN6aWlTZDY5T2lCdG5mZHZYdDNYVjFkMzc1OUxWK1JiTXhIMXFlZmZxcFNxU1FTaVVBZ1VLdlZhQm5JUVlNRzJmbWo3ZHk1VXlnVTh2bjh2Ly8rRzYzSjNPQ2oxR3IxbkRsejBQd3JMcGZMNVhJMUdzMkZDeGRxYTJ0bnpweHA1K3hiMEFRdW1yVzVjdFcxRWplWUtROUE2N2hWcnFqV0dQcDI5T1d5SHRWZFpESlpXbHJhMGFOSDBXNUNsUER3OE1URXhNVEV4SzVkdTdielQwK0NJSGJ0Mm9WV2gwaElTSmcxYTliTm16ZVhMbDFLdjRiSDQvbjUrWldWbFVtbFVxbFVHaG9hbXBPVGMvcjA2UnMzYml4ZHV0VGIyOXRxTXp1WHk1MCtmYnJsK2N6TVRKUjg5aEFLaGVucDZXajlDdFM4UDNIaXhISGp4dG41MkZPblRxSGF0a2drbWpadFdtaG9xRDJQcXFtcE1mdGFGaFFVTkhYcVZQb2FrS0RGdVdMV0ZsYlZRZEFDWUtaY3FUMTZweXdwMGwvSVpmM3p6eitIRHg4MjIwV1Z4K01OSGp4NDFLaFJFUkVSeml1bWErbldyVnRHUmdaQkVGVDdLby9IKy9iYmI4VmlzZVFoK29LSVNGbFpXWFoyZGt4TWpOVlpQUWlYeTMzbGxWY3N6N05ZTFB1emRzR0NCUXNXTENCSlVxL1hzOWxzcXdPZFBEdzhmdnZ0TjdGWWJIYStRNGNPLy96ekQvbyswYWpXNDMzNzlsRnprMGlTWkxQWmRzNGRBczNCYUZTTFJ5dW9WT3RQNVpTN1Zwa0FjQmxzMHZUWDVoVkY5d3JwSjhQRHcwZU1HREYwNk5BMk50QUp0ZlE2dXhTZ1dUdzlQZHQ1NHdyaVd2VmFqUkUvVnlDRG9BV2dQaVlHTythWi94VGRXNCtxVVAzNzl4ODVjbVNqZG4xeEkvQVozUWJBTHhGeHJheTlYMTJuTnhIT0xnVUFMaTIwYzd4dlNIaVAySmhYWDMzVno4L1AyY1Z4SVBpWWRuZDI3dlhiSHJoUUd6Sk9rS2szU3d3NFpDMEFEZkRpWXMvR2RYQjJLUnlPSUFpellWL0F2WEM1WEhkWnp0UFJtamdmeXhIdVZkZEIwQUpnanhvRHBqYVluRjBLaDJ2eWhGSGdJbURVRmNXRi9wU0xhc3lYSWdNQTFPZGVsYTFsamRzTStMQjJhNVpqdk5zdFY4bGF0Y0VrcjlNN3V4UUF1STEyOHQyMGZTN0IwVFpBME5LNVN0Yks2NXExU3lVQTdZMUtiMm9QcTZweE9Cd1lYK09tYk14T2JvZGNKV3VyMUZDcEJhQnhxdFVHWnhlaE5iVEl0dk9nbGNHWEpET3VrclUxbW5ieHFRRkFDOUlhMi83d0tQU3BEUzNKN29YQllMU3haVldhejFXeVZtTzB2cmttQUtBK3huWXpidC9Ed3dNNi85eUlTQ1NDTWVSbVhPWHQwRUhXQXRCSTdXcU9uRkFvaEtxU1d4Q0x4ZmJzWU4vZXdEc0NnTHNpaUxZL05vcU94K094MmV5NnVqcTB1UTF3TlV3bVV5d1dRNDNXS3NoYUFJRGJZTEZZVXFsVXI5ZnI5WG9jaDhZd1Y0SDYxR0V5dEEyUXRRQUFOOFBqOFhnOEhrRVFScU1SN1EwSE5kMVd4bVF5bVV3bWk4VkNXL0xCeXRVTmdxd0ZBTGdsSnBPSlF0ZlpCUUdnWWRDd0RnQUFBRGdXWkMwQUFBRGdXSkMxQUFBQWdHTkIxZ0lBQUFDT0JXT2pBR2dBODlFWVM3S2R6V2dGQUxRTXlGcUg4Qlh5cUVId1NwMUJiL3AzUW9LUGtFZDljQ3UwaHVhcyt5UGlzVDBGWEM4QjE5T0Q2eW5nSHIxVFNyMUtrN0daREFtZlE1QllyYllGbHFkTzdPQmJwemNxOVNhVnpxalVHUWxybTlLRWVIb0VpUGdWZFRxNVNtZm51eEh1SmV6Z0xVVEg1d3ZsZUQzcGw5akJsOHYrdDlubTB2MHFuYW1KY3pGOWhiekJNWUhvMklBVEtUZUttL1k4QUlEMkRMTFdJWjZPOU9leS92MmcvK2RlWmZIRHJVYjdkL0xuUHd5QWN3WHlCd3BOazEraWZ5ZC9LZi9SelBGZ3FVZWgzWnVIczVrTUhwdkZaN01FWEphUXl4YngyQ0llUjh6bmVIQllHSWJWYWcxSDc1UjVlM0M3QkVodFA4LzFCelZxZy9YbDc2VjhEcFdJR0lhZHpxMlFXZHMyTWRwUDdDL2lSL21KU1F3cnJLcTdYRlRWWU9IRmZFNlE1TitOWDVnTUJvNVp6OW9BaVlCNnE5a3NCdFl1VnVrSEFMaW85cEsxc1FIUzJNQUdrc05PQmhPUmxsM1NJay9WSFBlcjFkMkRQYW1iSVkzSjJnR1JBWDZpZW1jbGVncTRZaDVId0dHSGVqYXcvT3p0Q2tWOXU3cjVpaDV0WGFrM0VWYjNKeFp3V0g0UEwyUFkzRmRSeEdPTGVSeWRFVmZxakxhTDVGQnNKak94bzIrRGwyVTlxSUc5TkFBQWRPMGxhNWxNQnB2Wk1pdWJFS3pXV0NFbHhsL1N3VXRvNHdJMjY3RnhiWUVTd2JPZGcyeGNYNlhSWHkydXR2UFZ3NzJGdGMzYjVkQmYvQ2hyUzJvMVZ1dWVIYjFGMUZ1SmsyVEp3OXEvcFJDcHh4TWhYaGlHbmNvdHQxNWdMNkVIOTdFL1p2cXZPOUpYYk5iQVhsQ3Bha0lEUHBPQjJmNmxJSGNybEpDMUFBQzY5cEsxYnNlRHkvYnlhTVFtWWt3R1p2dDYyOUZDa0pqV2FGSWJUSFY2VTUzZVdLWFdjMm43UE9Na1NYVzJNaGtNZTc2MCtOUHF0UlVxTFlmMnpZRGFDUzdTVjB5ZGZGQ3JNZFkvN29qUCtiY3c5ZlZKUi9tSmZZWDExdFE3KzB2TXpwUXFOTzFxa3h3QWdITkIxcmFBWUtsQXpPUGNsU21iL0F3c0JvUFBZZFhYOStsUWYrZkxxdFI2eStDaDk3YitVeWd2VldqUmNiY2d6NjRQVytQTk1sZkM1endWNFlmTzg5aVB3aFdkcEtUZUxORWE4U0NKd0lQN0tNNkRwUjZqNDhNc2kzYzR1OFJFa0h3MmxiVlFYd1FBdUovMmtyWDVsYXJTK2djaStRbjVQVUs5cUpzRlZYWDVsYXI2THFhUHA0M3dFWFVKa0lwNWJKd2tDNnZxbWx4VkN2SDA2TnZSdDB5cHpaVXB5MVhtWFpzRWlWa2R4TnNnZStxZ0tyM1JhckVsdElGWEp0ejZxL3VKK05XMHBtWVdrMEYvbEcweGo5YzEyZlUwOHFPNkx1OWh2WFpRZENDUC9TaWhoOFFFMW1nTUdmY3I3WHpSWmpMZ1JOck5ocnZxVFRBeENBRHd1UGFTdFRvamJtTTdlajd0NHh2RE1LMFJyN0d2dDdLRHQxRE1ZNk9LYWFTditIYUZvbW5GaS9BUllSZ1dKQkVFU1FRNU1tWG1neHI2dmJseTVmWEh6OWlwZzVld3diRThuZjJseHNlejlsWjVMVUZpSGJ4RTFCbDZoWnVrcGY0VElWN2RnajFKRXZ1blVGNm0xTnBmTUc4UGJnQ3RROWNHOUhMVWlHS3pMSmZ3T2VpTFFucHVoZGxHSXlQaVFxbTY5ViszUzgzYURKb2NoNUNqQUlBbWFDOVo2eUQ1Y2hYVk1SbmxKNzVUb1dqQ0o3RUhsMFVQbnVMYXBrOEVhb0pJWDVIWm1WeTVNajdZaTJyZzFScHhlbENaaFJhTHdjQVltTUppUGk1QllqVzBrejZQOXlWM0RYdzBncHJFTUxNNXNsUUZsOFQrbmRBajVEWlFYY1pKMG16dUQvbjR2Yll6a3NOaXh0WXp3VWxBYStobU1SbmRnNzJzWG9aaFdFbXR1cnA1QThvQUFHMFZaRzJ6bE5ScWRDWWNWWXNGSEZhb2w3QzQvc0cwOVluMGVUUkVxRVpyc0RyMVJjemo5TEZqdGduZGpRZjJqam8yRXlBVzBEdHJ6U3JySmJXYXVDQ1RrRGJvVjI4aUxJZmQ2b3o0aWJ0bDFNMEpQVHBRTGNSK0luNndWRUFyWncyOXE1dkRZcjdRL2QrT1cxU0Y1ck5aSEJhRGFrdW5ONHliQ0JJbnlOaEFLY3RpKzB4NmkzU012OFJnTWFpcVVxMHZmMWdYNTdDWVhRTE14MDlaWWpFWU5pNVQ2WTJRdFFBQXF5QnJtd1d0d0VCVmlXTDh4STNOV2dhR1JkQ0c0K2JLL3UwbjFobE4xRnhTblJGbnN4ZytqUm1XakdFWWw4WFNtZkRLaDhsdFdmV3NUN2xTZXlhdm9uOG5memFUVWFiVTVza2Y2N28yRWVSZnQwc2pmRVJpSG9mRlpLQ01hVlRCNkZWRHJSRTNlMzU2WnFKZWF2SERkdU9iWlRWM0twUnhRWjV4RHdkbnBkNHNNZUxFQzkzRE9UWW5Za1hSM21IS1habXl2REh0M2dBQTBHU1F0YzFWVVBrb2EzMkVQRThCdDFFTEhJWjZlbENka1FhY0tIb1kxWGNxbEhjcUh0WDJHalgvaDFLaDBsV29yRTlJcFZqdHk5U3A4Sk01NVRIK2tzdEZWb1lkbVFneVYxN3YyTEVHNWNxVkhYMUVhTkdyMitVSy9QRmhYL1FLS3NwYXFvOVdvWFhtUWhZQUFOQmtrTFhOcFRhWUtsUTZxc00xMGxkMHhlNGxJOHlHNHhaVTF0VTMzcGdrTWR1RGNoZ004eGs0NWgyWTliRHN5L1Rnc3ZwRitLUGpRVEcyMXNkQXp1U1cyNWdhYTZtb1JuMVhwZ3p6RWtiNWloVTZBK1B4dmxVR0xXelJtMEgxSExmSUtzMzJzUHorVVovL2RBMFJjRmgyWEFnQWFOY2dhMXRBWVZVZGxiVWR2RVgyanhuMkVmSjhIcTdBUUdKWW5yemVHYnExV3NPK3pQdjEzUnNzRlR3WjdrT05waVl4N0hhNW9reGhWd01waTJFKzJZYkZaRGFxdlpyQk1JdExkQklUOFd6OWRaWFdhbnlGdkVIUmdYbVZLdnFDVnJSTmRmNnQxMmFYMWVxTWVMU2ZSRnZQU1BJRE40cHNsekJZS3FDVzVpaFRhaHJjcEtIQnNWUUFBTkFva0xVdEFLMTV4R0V5MEpDY2NEdVc4VU82MENxMVJUWHFKaXpzeDJFeGU0VjYwNGN5cVEybUMvY3FiYXd0YkdaWWJMRFptVk81RlkwdGhpVUJoelc4YTBoOTkvcDQ4Qkk3K3FJd2p2SVYxMmdNMUdMT1RJczJaSUxFY3VVcXF6T2VPU3lHbE0rcmJPaUg3UmJrNVNuNHR5SDZaSTVSYjdMM3pRRUFnQllCV2RzQzBGcSthSTZzMmRLRE5rajRuQkRhNHY1M0dqODMxMHZBSFJEcHo2ZTFZZDZyVmw4dHJuTDlPaG1Ka2ZUbGl4UENmR28wQnRSRS9IaTlGcU1mTXpCTXlHT0xhQThjR1JkcXhJa3plYkpBMnNCbVMvUzNLTUpIRkNBUllCaVdKMWMyZnhkQ0FBQ3dCMlJ0eXlpc3FxT3kxczV4VFBTZTJuS2xqajd3aDJHeHRZQlZmbUkrbFNJRWlWMHByaXFwMVRBWWpQb0c1WnJxMit2MWNTcWRjZSsxKytqYlFMY2d6NHYzSzgzQ3UwOEgzNDRQYTlJMVRkcUZ0MXBqdUZKYzFUdmNCOTFrTXJDbkl2eU8zaWsxRVNUenNmNWFFbTJyME5GYktPRnp4WHkyNWR3ZW5DQjloTHc0dXpkeG9uNU54VFhxK3JKMldKZGdPNyt0dE5TR0ZnQ0F0ZzJ5dG1WVXF2VWFBMDVmNExkQlhOcUt3WGRrajFWcVBUMjR0amZ0c2NSa1lMM0RmYWowc2lvOXI2TENZZ0hJL01vNnMzV2pUQVNCYXVjOVFyMVlEQWFMNmZkM3ZveTYxMS9FNzBocnNyNVRicjA2anBPa2pQWmFnUktCV1NnVlZ0WDVpL2hVNjdlSXgzNHkzT2ZDdlVxV1JYK3RsTSt4djFtK1JiQWdRUUVBTFFxeXRzWGNyNm5yRWlBdHFkWGt5cFQwdmVMcmszR3Zrc2RtZHZhWDZuRmNaaEdCcmVhdVRGR25OeDl6SytaeGVvVjVvOEFKa2dnU3dueXVGRmRoR01aak0zdDNlQlRuMVJwRGZhdGM2WTBFUGFFbjlPaGdVU1BGcmhSWCtZcDQxTElZWVY3Q094VktKdTF0UTlWcEcwT0NWWHFURTk4NkFBQ3dFMlJ0aThtVnFmTGtxdnJHeWxyQ0NUSlhyc3FUcXdTTnFRMDdHZ1BEdUd5bVNtKzhXVm9iLzNBditraGZFWk9CWFN1cEhoQVpRRVVqaVdGWGk2dWE4MW9tZ3N5NFZ6a29KcENCWWJJNjNkWGlhcVhPU04vNEZ0VnIxYlN2QWhvRFRwQWtOY0w1K04weVZDa3ZyRkwxQ3ZQcDRDMnNVdXZUOHlyTUdzdWY3UkpNalkwNmxWdGVXYWMzVzhUUmhCUDNxaHU5NEplWnVrYXU2UUVBYUQ4Z2ExdU1ya25idlpFWXBqR1lQeEFueUZvNzFtM2dzWmtDV244dHRjNVVmWXpXT2xZamZjVk1Cc09Ed3hKdzJSNWNGby9OcWxiclQrU1UzNjVRK0l2NTFGeW1DQjlSc05TRHZsUGVyWEpGODVja3JGVHJzMHByMVhvalZUOW1XY3l2clRPWWN1U3F5anBkWloxZVo4THA2MFpSK25meVJ5SHRJK1QxN2VoM3JrQldYNGVyeGNMSkdBcjE0aHExbmRzbmNGaE1KdU94blhSRlBIYUVqMGhuaEpGV0FBRHJJR3Rka1ZKblBIcW50TUhMSW4zRkNXSGU2RmhueE8xNXlGTVJma0VTQWIwLzBuSWZkYXBTZUs1QU5pZzZrQnJxUlEvYWNwWHVWbG10ZlQ5TkE4d0dZRnZPcnpYaVJHWkpBOHVEM0NpdEdSUVRpSEk2V0Nyb0dlWjl0VEVyaWtUNWlic0hlNmtOcGp5NXFxQ3F6b1FUWGg3Y0FMRWdRTXpYbWZBTDl5cFJqVC9jU3hqbUpReVVDQXFxL3AwVEhDRG14d1pLMGY0VEVoN25YS0c4OFc4QUFLRHRnNnh0WDNoc1ZvTURmNmhGRTAwRWViWkE5bnpYRU03akR6RVI1S1g3bGJaSDZ2STR6R2NpQTZpYmxwMjE5V0hUQmxIYk4yNGFRejNIR2ZjcXFVM3BvM3pGMVdxOW5jM0NUTWEvWThLRlhQWVRJVjU2RTE2dTBnM3BISVRLUVdMWXRaSnF2WWtnTWF4YnNDZHFRa2NybHVBRXlXT3pxSTJlUWp3OWZJUTgrMmMyQXdEYWo3YWZ0VndXYzJTM1VOdlhtQ1ZCYklEVXNyWm5Kck9rK242MTJsTmdmWG9QZmNGRU1ZL3Q0L0h2NGxEMHpCTHoyVDVHbnVWampRVFJZR3N3MG9RSkp6YjJuRGZnaE1aZ1VodndNb1VHVmVNNmVJdmlncVFjaTFkaE14bkRZb056Wk1vY21iSyt1YndzQmlOUVl0Y090V2FvOTRvYUVXMm5rbHBOamt5SlVyTzRSa01mdE1YblBLcVJXNzRERVQ1aWFza3R0Y0YwdjFwTllsaUZVb2ZLejhDd2p0NGl0QlBSL1dwMTEwQXBobUVjSmlQY1MxaFlWVmRjbys0VzVFbjFIM2NQOWpxVjI4QUMxQUNBZHFqdFoyMFRNb25KZUt3bDAvbzFUSWFZenhuU09iREJaK3NXNU5uTjJ2eWQrblpDbGRmcHJYNWVjNWdNSnBOaHdrbWNKSmtNVE1MbmR2SjV0UFdzdmFzZkU2VGVSTENaREtwMmUvRitWYlZHcnpHWXFOUVVjdG14Z2RJSWI1R05SUmE1TEdhM0lNOHVBZElIdFpyN05lb0twYllKeTJjRVNRUjhEc3RnSW5DU0pBaVN3Mkw2aS9tUmZvOVdBdEUxY2lHdDZ3OXF2SVU4RkxyVXlXQ3BnSXBTeStka01oaGRhYjIvMUE3RTk2cnJxTzhLSFgzK3pkcDcxWFhVeFoxOFJJVlZkU1NHM2E1UVVGT3QvRVM4QURIZmNtSVZBS0NkYXhkWjJ6YUVlZ2x0VEo4MTRYYUZIUm8wTkNnNjBFLzBiL1d4VXEyajV2eXdHSXhub2dLb3UraHdraXlvckF2ejhxRG5GcHZKNk9BdDdPQXQvS2RRM29RdDdvVmNkcStIL2MxV0tleXIzMU5JRER1VlV4N2hJeHJhT2NpSUV6aEJjdGxNYXNWcERNT01CR2syVUR6R1gweU5MOU1ZY0dxcHlGS0ZCaWRKMUFFczVYT2tmSTVDWjZ6VG02bzBCclJZdEkrUUorWnhWSHJqL2VxNmJrR2UxSk4wRGZSc2NHOGxBRUI3QTFuck5teVBrcTNTMk5WTmFEdVFjWko4b05CWVpxMnNUbmVscUZxbE4yYVYxblFMOG96Mmw5QnIvYlZhSzdOc3RVYjhPRzJ2K0JGeG9aYU5DNlZLVFMrczNxdzFFZVNEeHVjM2lXRjFlcE4zUFV0M29ab29oY05pZGdsNFZLbTlXVlpMdFlpYkNMSk1vUTE5dUlobUIyL1JqZElhRE1QdVY5WDVlUHhiNW5CdllYWlpMVnF1dWZ2RCtWRitJcDZmaUNldmcxNWJBTUFqYlQ5cmpUaHhqUGFoMzFJMEJoT0h4YXhwOXFRWFMvVjExdXFNZUozZVpMVmQxMGlRVFZoTzJhb2NtVEpJSXFDbSt0Um9EZGxsdGFVUHR3d3lFV1RtZzVxQ3FycXVnZEl3THlGS1Q2djdHcEVrMXVCVVk0MEIxeHB4cTN2U2tSaDI2WDVsRTFaL3hEQ3N1cDZ2SGJWYVEzYnBZMFVWY0ZoYUE4NFZNTkhLbFBlcjYrajNGdGVvUXowOU5BWmNWcWVyVlAvYkxGeFVvKzRTSUMxVmFvcHJOUEs2ZjAvbVY2cTZCa3JaVEFaQll1VktiZjE5NGdDQWRxcnRaeTJKWVk1SVJBekQ5Q2FIcExnTlZXbzlQV3RKRE5PYmNKbEtsMTFtWmUybkpydDR2M0pZYkxDOFRwOG5WMXJ0ZWxUcWpCZnVWVjUvVUJQdEp4RnkyZlowVDZwMFJ1YkRpaTE5ZEZLMVJoOGk5U0F4akNCSmdpQ05PS2sxbXFyVSt2eXFPbFVqRzVBcEpvSlU2VTBpSHBza01STkJHRXlFeG1CNm9OQVVWTldaRFd4VzZveC8zU2tOOXhMR0IzdmVLS3MxaThnSENtMWFkb25aN0djRFRxUmxsNWk5b2hFbmJqeW9JVEd5dUViVHRPOEhBSUMyalVHNnhwZHd0Tmc5Y0JGTUJzUEdpT1cyeDhvR3ZPNGdMbEFhRitUcDdGSUFBQnJXOXV1MW9BbmFWZEEyMkkwTlhCT080MGFqMFdReUVRUkJFSVNMVkJ2YUQvWkRIQTdIMldWeEE1QzFBQUIzUXBLa1hxL1g2L1ZFWTZaZmd4Wm5NcGxNcG4rN3JuZzhua0FnWU5pL1prMzdBMWtMQUhBUEJFRm90VnFEd1NIREwwQnpvRzgvZkQ1ZklCQTR1eXd1cXVFTnlWc0hiQmdLUUdNeDI5bC9Hd2hhRjZmVDZaUktKWTQzWlJlV05zOVZzcGJUMEc2dkFBQXo5SFZGMmp5MVdnMUI2L3B3SEZjcWxmQ2JzdVFxQ2RmZ3p1b0FBRE1pWG5zWms2TFg2K0hqMjQybzFXcW8zWnB4bFlRVGNLRG5HSURHRWZQYnhmOGFnaUEwbWthdklBYWNxNjZ1RGthRzA3bEsxbm9MclMrcUJ3Q3d5b1BMYmlkdHlGcXRyZFZKZ1dzaUNBS2FJdWhjSld2cjI1d09BR0FWdFk1bTIwYVNKSHhrdXltZERqYThlc1JWc2paQUxHaHdEM01BQUtXRHQ5RFpSV2dORUxUdWl5QUlhZ0l1Y0pXczViR1pZUS8zVkFFQTJPYkJZZm1MMmtXOVZxK0hIWlBjR0h4Vm9yaEsxbUlZRnUwbmNYWVJBSEFQd2FKMk1TcUtKRWtZenVyV29GNUxjYUdzOWZMZ0JrdGh6UkVBR3FCVHE1Wjg4dCtmZi82NXpmZUhRZEM2Ty9nTlVseGxueDlFb1RQK2RidlUyYVVBd0tWZFNOMXorNTlUR0lZSmhjSkJnd1lOR3pZc0tpcksyWVZ5Q0lQQm9GYXJuVjBLMEN4ZVhsN09Mb0pMY0syc1JkdHVYeW11ZG5ZcEFIQlJQRnozeCthVnhVVkY5Sk1SRVJIRGhnMGJNbVNJU0NSeVh0RmFuazZuZ3drLzdnNnlGbkc1ck1Vd0xMdGNrVjFXNit4U0FPQnlQQVhjUVRHQkxJeThjdVZLYW1ycTVjdVg2ZjkvT1J4T3YzNzloZzBiMXJObno3YXg0NHBXcTIzejdlUnRucWVuWjl2NGEyd21WOHhhRE1PS2F0U1hpNnBNaEN1V0RRQ244QlJ3QjBZSDBGY3psY3ZsaHc4ZlBuTGtTRzN0WTk5TlBUMDllL2Z1M2J0Mzc0U0VCQThQTng3ZTd6cFpXMUpTSWhLSlBEMDlXK29KUzB0TE5ScU5wNmVucjY5dkV4NmVrNU56OU9qUnBLU2srUGo0SnBjaEpTV0Z3K0dNR0RIQ1pESmR1SERoNmFlZmJ2SlQyUUJaaTdobzFtSVlWcWMzblMyUUtYVkdaeGNFQU9jTEZQUDdSZmh6V0ZZK3Mwd20weUJ5NlpBQUFDQUFTVVJCVkQvLy9KT1dsbmJqeGcyenUxZ3NWbHhjWEo4K2ZmcjA2Uk1XRnRaYWhXMHhycE8xczJiTnVuYnQydjc5Ky8zOC9EQU1VeWdVUlk4MzQ5TjVlWG1GaG9iYWVMWXJWNjdNbWpYTFpESXRXclJvK1BEaDloVGcrdlhyTEJhcmE5ZXVUQ1lUdzdERGh3OS8rZVdYSDMvODhmang0NXYwQTJFWWhrMllNSUhMNWY3eXl5OUhqeDVkdUhCaDM3NTk1ODJiRnh3YzNPUW50QXF5Rm5IZG1RTWlIdnY1Mk9DN011WHRjb1VCaDAyaFFUdkZZek83QkVnNys5YzdJNDdOWmc4WU1HREFnQUVsSlNWLy9QSEg4ZVBINitycTBGMDRqdCs0Y2VQR2pSdGJ0bXdKREF4RW9kdTllM2NPcDcxc1dyQjI3VnFsVXRtMHg0NGFOZXFKSjU3QU1LeW9xQ2dqSTJQRWlCRW9hREVNdTNidDJyeDU4Mnc4OExQUFBxdnYzdUxpNGs4KytZVEQ0WWhFb3BVclYzYnAwcVZUcDA2MlMwS1M1T0xGaTJVeVdWcGFta1RTWW5NaitYeSswV2pFTU95NTU1N0RNR3pac21XVEowL2VzR0ZEYkd4c1M3MEVvTGh1MWlLZC9TVlJ2dUxDNnJyaUdyVzhEbWExZzNaRXl1ZEUrVWs2K2doWjlsVUxRa05EcDArZi91YWJiMlpsWlYyNmRPblNwVXNsSlNYVXZlWGw1WWNPSFRwMDZCQ0h3NG1JaUloNUtDd3NERldWMnFRelo4N0k1WEk3TDBaMWFENy8zMFZDRWhJU1VOYnUycldMdytHODlkWmJHSVpwTkJxcVdYN1dyRm5SMGRGbVQvTFJSeC9aZUluQ3dzTFpzMmNybGNwdnYvMDJJQ0RnM1hmZm5UTm56dnIxNjIzWGd5OWR1bFJjWER4aXhJZ1dERm9NdzNnOEhyV3B3M1BQUGRldFc3ZERodzUxNmRLbEJWOENVRnc5YXpFTVl6RVpVYjdpS0YreEFTZUthelJWYWwyTnhxQ0F0bVhRdG5CWlRCNmJ5ZWV3UkR5T3A0RHJLK1I1ZVRSbGtYQTJtOTJ6WjgrZVBYdSsvZmJiNWVYbEZ5OWV2SFRwMHZYcjExRU5Cc013bzlHWWs1T1RrNU9EYnZKNHZLaW9xSmlZbU02ZE8wZEhSN2Q0RTZKejdkdTN6LzZMMzNubm5heXNyUFQwZFBwSm1VejJ4eDkvakI4L1BpZ29TS2ZUVFpnd0lTa3BLVEV4RWNPd0xsMjZKQ1FrbUQwSm0xM3ZoMnBXVnRZSEgzeWdWQ29YTFZvMFlNQUFETU5XclZyMTNudnZ2ZkhHRzh1WEwrL1JvMGQ5RC96cHA1OHdEQnMrZkRnMUF3cjlObzFHbzlVNVVRS0JBSDEvVWlxVm8wYU5xdTlwMFhlTHBLUWsrc2xmZi8xVkxCYW5wYVhWOXlqUU5HNlF0UlF1aXhucEs0cjBiVk96R2tDYmxKMmQvZUdISDJJWUZoNGV2bkhqUm1jVkl6QXdjUFRvMGFOSGo5YnI5VGR1M0VDNVcxRlJRYjlHcjlkbloyZG5aMmVqbXlLUmlCNjlWS3RwdTdWeDQwYUJRUERtbTIraXdVUlZWVldkTzNkdTdKT1FKTGxuejU1MTY5WmhHUGJOTjk4TUdUSUVuWStQajErNWN1WDgrZlBmZSsrOW1UTm52dlRTUzVadERCY3VYTGg2OVNxR1lUTm56alM3YTlXcVZhdFdyYko4dVEwYk52VHMyUk1kNjNTNnlNaElxMEgrenovL3lPWHlFU05HbUoybmF2YWdCYmxUMWdMZ0xycDA2Y0prTWdtQ0tDb3FVaXFWTGR2MDF3UThIZytOVE1Zd3JMS3lFdFZyYzNOemMzSnlxTTVkcEs2dUxqTXpNek16RTkzMDhQQUlDQWdJQ0FnSURBd01EQXhFQndFQkFRS0JPeTN4Vmw1ZVhsK3ZyWitmbjQwSm9GbFpXV2xwYVI5KytLRkVJdEZxdGR1MmJZdUxpeHN6Wm94WjNkYzJtVXoyMVZkZlpXUmsrUHI2TGxteXBIdjM3dlI3RXhJU3RtL2ZQbS9ldk5XclZ4ODllblQrL1BreE1USFV2WHE5ZnNXS0ZSaUd2ZmppaXp3ZWp6cGZVRkJ3N3R5NXhNUkUrc1dVZ0lBQStzMGVQWHA4L1BISGxwZDkvdm5ucDA2ZHNub1hhSEdRdFFDMFBCYUxGUnNiaXlxTE4yL2VmT3FwcDV4ZG9rZDhmWDE5ZlgycElwV1ZsZVhrNU9UbDVkMjllemN2TDg5czdRaU5SbE5ZV0ZoWVdHajJKR0t4bUFwZ3FWUXFGb3ZGWXJGSUpFTC9pa1FpbHdyakxWdTJwS2FtV3IxcnpwdzVreWRQcnUrQlAvendBNFpobHk5ZnZuejVzbHd1cjZtcFdiMTZOVFdxOXErLy9zckt5ako3Q0gyMWZaMU90M1BuVHJTYXBsZ3NmdjMxMTJVeTJmSGp4eTFmYU5La1NSczNicngxNjFaeWNuSlNVbEp5Y2pLYXpMTmx5NWFpb3FJSkV5Yk1uVHVYZnYzaHc0ZlBuVHVYbEpUVW5ISElRcUhRWURBWWpVWnFySnpKWkxMUkJnNmFBOTVXQUJ3aUxpN09OYlBXVEZCUVVGQlFFTlZwVjFSVWxKdWJpNkwzOXUzYjlUMUtwVktwVktxOHZEd2J6NHd5R0FVd0loUUsyV3cyaThWaU1wa3NhOHpPaDRXRnNWaXNsdnBKdi92dU8vck40dUxpNWN1WDIzNUl2Mzc5TUF4ak1wa21reWs3TzN2aXhJbjBvVU4vL2ZXWFpUSlJXYXRTcVY1NTVaWHk4bkpQVDg5WnMyWXRYNzc4Zi8vN240M1hZakFZNjlldlg3dDJiWHA2K3MyYk4vZnUzWHZ0MnJVZE8zWUVCd2RidGg0M0NvN2padDI2WEM0WERZUkc1ZlQyOWtiVHRWOTk5ZFdwVTZkT21qU3BPUzhIcklLc0JjQWh1blhydG5mdlhwUzF6aTVMSTRTSGg0ZUhoNk1PUlpJa2EydHJLeXNyS3lzcnE2cXE1SEo1VlZWVjVVTU43bmFuVUNnVUNrVnpDdlBGRjE5WWJTTnRtajU5K3RCdjJyTXdSWEp5Y25KeU1vWmhIMzc0WVdobzZMdnZ2a3UvZCtYS2xaWmpvNmkrV0xGWS9KLy8vRWVyMWI3NTVwc1NpUVRGdG0zQndjSGJ0bTM3ODg4L2ZYeDhSQ0xScGsyYitIeitzbVhMbXJ3Z0NWbytJU1VsSlNVbGhYNSs1c3lacjc3Nktvcll5c3BLZExCbno1N3E2bXFvMXpvSXZLMEFPRVJjWEJ5RHdTQkpNaTh2ano1UnhJMHdHQXd2THk4dkx5L0xtUzJvWjdleXNyS21wcWFtcGthaFVDaVZTblJRVzF1TFVwYWFUK0x1RGg0OGVQYnMyVTJiTmpYMmx6aGp4Z3pxMk00QjNnd0dnMXJkWXRHaVJROGVQR2pPdHczMEsralpzMmZmdm4zUkdibGN2bS9mUGpUNkNRMThrOHZsTVRFeGFyVTZKU1hGMTlkMzVNaVJUWDQ1WUFOa0xRQU80ZUhoRVJFUlVWQlFRSkxrN2R1M0xTdEE3ZzcxeTNiczJOSEdOWldWbFZUMDF0YldhalFhbzlGSUVBU080K2hmUy9UenJyQ1ZRbloyOW9vVks1S1RrOUdZSmh6SEc3dldubEtwUEhUb2tKMFhqeG8xU2lxVm91T29xS2lvcUtpbFM1ZisrZWVmWnBlaHZlcFdyVnExZHUxYXM3c0dEeDY4YU5FaWRJeXl0aytmUHErOTlobzZrNW1adVcvZlB0U2JqdUsvdUxnWXc3QWRPM2FvVktwWnMyYkJJR1FIZ2F3RndGRzZkZXRXVUZDQW1wSGJYdGJhQTQzRGF2TERuYjVHWTNGeDhadzVjL1I2ZlhsNStidnZ2bHRhV2xwUlViRjkrM1owYjE1ZW51VVVIY3NkVzJ0cmE4MjZpbTNvMzc4L2xiVklseTVkTEp2clMwdExNek16TzNmdUhCNGViblpYWEZ3Y2RZeEdYOU5ieTlGVG9RcDZwMDZkR0F4R1FVRkJibTd1enovL0hCTVRBNVZheDRHc0JjQlI0dUxpVUlYR2NyUXFhSDJiTjIrbTM2eXFxbXJ3SVN3V1M2bFUrdm41eVdTeWtKQ1FoSVNFME5EUThQRHcwdEpTMUY5ci82dFBuVHAxNnRTcE5pN1l1WFBuanovK2FIbCs3Tml4WThlT05UdDUrUERoek16TTRjT0gyeDZIZk8vZVBRekRmSHg4cUROb2lwZFFLRVR6YUR0MjdKaVptWm1YbDBlUzVNS0ZDOXZ3Q21KT0Ixa0xnS05RQ3dqY3ZuMGJ4L0VXSEZJTG1tRG56cDFtWi9oOHZ1MmxvWU9EZzlQVDArdHJWdjNzczg4c2x3NUdTemxhNG5BNEtPSHE0NGhCU1dpeUZuM3hEYlFsRk5VNG41aVl1SHYzYnJSbUZ1b1lSbUhzQ3EzM2JReGtMUUNPSXBGSWdvS0N5c3JLQ0lLNGZmdDJ0MjdkbkYyaWRxMVJDMUJRNkVHclVDaXlzN09wVnZIZzRPQ29xQ2l6NjEycWFuajU4bVZ2YisvQXdFRHFET3JVb0pZRFF6OWRiR3dzVmVmT3lNajQ4c3N2MTYxYjE1emQrb0FseUZvQUhLaGJ0MjVsWldXb3l4YXkxbGxHalJwbFk3VmhpdVdncCtycTZydDM3K2JrNU55NWMrZk9uVHVvNlhqaHdvVnVVZTByS0NqSXo4Ly96My8rbzFRcVY2MWE1ZVBqbzlQcERoNDhHQllXRmhBUVFKTGs5OTkvaityNnVibTV1Ym01cUY1YldGaW8xK3ZwemM2Z1JVRFdBdUJBM2J0M1AzYnNHTnFGRFpZSWNKWW5ubmdDN2RoamcwNm51My8vdmxsejhhNWR1M2J1M01sZ01LS2pveE1URTd0MjdSb2JHOXVwVTZlLy8vN2J3VVhHME5Bd2dyQytuYWp0dlFmUXFweW9jWGpVcUZFU2llVHMyYk5vbkZSWVdOaWlSWXVxcTZ1LytlYWJ2Ly8rdTNmdjNsT25UdjN2Zi8vN3dRY2ZyRnk1TWlZbTV0cTFhNTZlbm0xc0N3cFg0THA3eFFQUUJpZ1VDaFN4VENaejc5Njl0bnZzZ0JsSGowUCsrdXV2OC9MeVBEdzhPQnhPUVVGQlJVVkZyMTY5MExxTXlJTUhEMHBMUytQaTRxaVp0Yk5uejg3TXpDUUl3bUF3Y0xsY3l4WmpuVTdIWkRLNVhPN3MyYlBIalJ1SGx1S2FPSEdpblVYYXZYdDNSRVFFT2g0elpreDVlWG5UZnJSMzNubm5oeDkraUltSitmbm5uOUhpaTFxdGxzbGtDb1hDbkp5Yzk5OS92N2EyOXVXWFg1NDVjeWFielQ1Ky9QZ1hYM3hoTXBrQ0F3UEx5c3FlZmZiWnI3NzZxbW12YXduMmlrZWdYZ3VBQTBtbDB0alkyTnUzYnhNRWtaR1JNWGp3WUdlWENEemk0ZUZ4NjlZdGRNeG1zK1BqNDgwVzRnOEpDUWtKQ2FHZkdUeDRzSjFicVpzdEFOSzdkMjlxUVFtckxsMjZkT0hDQmZxWktWT21xRlFxZTE3TFVwOCtmWTRlUGJwdzRVSjBrODFtaThWaWRCd1ZGVFY2OU9pbm5ucUsyZ3RvNk5DaElTRWhtemR2dm5YclZreE1USDNEdTBCelFMMFdBTWZhdTNjdjJuOTB3SUFCbjM3NnFiT0w0MDVhWVg0dCtSQ1R5WFJROVF2VmE2ZE5tMlk3dzdadTNicHAweVo2dmJhWlhHUzFNcWpYSXBDMUFEaFdVVkhSOU9uVFVSZmE3Ny8vRGpOLzdPZjB0U3hhQkVtU2VyMmV6V2EzejZXR0lXc1JGeHFlRGtDYkZCNGVqdllUMWV2MTE2OWZkM1p4M0VuYitJeG1NQmg4UHI5OUJtMmIrU1UySDJRdEFBNUhkZFNaZGNnQjIrQmoydDNCYjVBQ1dRdUF3MUZaZStiTUdjdjFja0Y5WEdwZENOQUUwR05DZ1Q5bEFCd3VQajRlTFNpdlVDZ3lNek9kWFJ5MzBXN2JYZHNNK0ExU0lHc0JjRGdXaXpWdzRFQjBqSmEyQVBaZ01CaFF0WFZyWEM3WDJVVndGZkIzREVCcm9HYlduajkvWHF2Vk9yczRiZ00rck4wWGk4V0NObVFLWkMwQXJTRW1KZ1l0QVc4MEdzK2NPZVBzNHJnTkhvL243Q0tBSm9MZkhSMWtMUUN0Wk5pd1llamcrUEhqemk2TDIyQXltZkNSN1k0WURBYTBTZEJCMWdMUVNvWU1HWUlPYnQ2OEtaZkxuVjBjdHlFUUNLRFgxdTBJQkFLWThFTUhmOEVBdEJJL1A3L3UzYnVqNDZOSGp6cTdPRzZEd1dDNHhSNTJnTUxsY3FFMXdneGtMUUN0aHhvaGxaYVdCaE50N2NkaXNTUVNDZFJ1M1FLSHc0SDlyQ3pCM3k0QXJTY3BLUWt0QjE5YlczdjI3RmxuRjhlZG9MamxjRGpPTGdpd2hjdmxRaU9FVlpDMUFMUWVQcDlQalpCS1NVbHhkbkhjREdwTTl2RHdnSTVBRjhSaXNZUkNJZFJvNndOWkMwQ3JldUdGRjlEQm5UdDM4dkx5bkYwYzk4UGo4VHc5UFVVaUVaZkxoZEIxT2pSUVhDS1JTQ1FTR0hoc0F5eWdCVUNyOHZQejY5dTNMOXFFNE1DQkF4OTk5Skd6UytTV09Cd09hazhtQ01Ka01rSG5kMnRDNjNreG1Vd1dpd1ZmZCt3RSs5Y0MwTm95TXpQbno1K1A2Z1M3ZCs4V2k4WE9MaEVBd0xHZ0RSbUExdGFqUjQvdzhIQlVKenQwNkpDeml3TUFjRGpJV2dDY1lNeVlNZWpnMEtGRGVyM2UyY1VCQURnV1pDMEFUakJreUJDSlJJSmhtRktwUFBqLzdkMXBVRk5uMndmd2t4QUloQUFSSERSV0FSVUwxbEl0aW5XcGdxSlZLaTVnQlp6QnRZbzYxbHFsRnRUS2c2aWpZaDJWS25XcEl1cUlkY0dLRmx3UTNCR3JLS0xZcVNBVUY1YXlKOFNzSisrSDg3N256Uk5BQVhNNElmNS9INWlUT3lmSnhkVG16MW51Nno1emh1MXlBSUJaeUZvQUZ2RDUvSkNRRUdyNzFLbFRXUGtId0xRaGF3SFk4ZVdYWDlLSHRyaHFDMkRha0xVQTdOQTl0RDF4NGdRT2JRRk1HTElXZ0RYMG9XMURRd1BhU0FHWU1HUXRBR3QwRDIxUG5qd3BrVWpZcmdnQUdJR3NCV0FUZldncms4a09IanpJZGprQXdBaGtMUUNiK0h6K3JGbXpxTzNVMU5SLy92bUg3WW9Bd1BDUXRRQXM4L1B6NjlXckY3VzlhOWN1dHNzQkFNTkQxZ0t3ak1QaExGbXloTnJPeTh1N2Rlc1cyeFVCZ0lFaGF3SFk1Kzd1UG1MRUNHcDd6NTQ5YXJXYTdZb0F3SkNRdFFCR1llSENoZFFpY1JVVkZjbkp5V3lYQXdDR2hLd0ZNQXIyOXZaQlFVSFU5cEVqUjhyTHk5bXVDQUFNQmxrTFlDeUNnNFBGWWpGQkVDcVZLalkyRm10TEE1Z01aQzJBc1RBM040K0lpS0MyOC9QejBVa0t3R1FnYXdHTWlKdWJXMEJBQUxXZGtKRHc2dFVydGlzQ0FBTkExZ0lZbDFtelp0Rm5ramR0MmtTU0pOc1ZBY0M3UXRZQ0dCYytuMCtmU1g3NjlPbVJJMGZZcmdnQTNoV3lGc0RvdUxtNVRaNDhtZHBPU2tyS3pjMWx1eUlBZUNmSVdnQmpOSGZ1WEJjWEYycDd3NFlObFpXVmJGY0VBRzJIckFVd1JoWVdGdEhSMFphV2xnUkJTQ1NTbUpnWWpVYkRkbEVBMEViSVdnQWoxYVZMRjkwTHQvdjI3V083SWdCb0kyUXRnUEVhTW1USTFLbFRxZTB6Wjg1a1pXV3hYUkVBdEFXeUZzQ296Wmt6eDkzZG5kcmV2SGx6UVVFQjJ4VUJRS3R4MEFjT3dNalYxTlFzV0xCQUlwRVFCR0ZqWTdOejUwNUhSMGUyaXdLQVZzQnhMWUN4NjlTcDA3cDE2NmhWZ0NRU1NXUmtaSDE5UGR0RkFVQXJJR3NCT2dBM043ZW9xQ2dPaDBNUVJHbHA2YXBWcStSeU9kdEZBVUJMSVdzQk9vWkJnd1l0WGJxVTJpNHNMSXlPanNZc0lJQ093aXc2T3BydEdnQ2dSVnhkWGJWYWJWNWVIa0VRNWVYbFJVVkZuMy8rT1plTHY1Z0JqQjMrTHdYb1NHYk1tREZxMUNocU95c3JhKzNhdFdxMW11MmlBT0F0a0xVQUhVeDRlUGpJa1NPcDdULy8vRE1xS2txcFZMSmRGQUM4Q2ViOEFIUThXcTEyNjlhdGx5OWZwaDU2ZUhpc1c3ZU96K2V6WFJjQU5BMVpDOUFoNmNXdHE2dHJURXhNcDA2ZDJLNnJ2V2swR3BJa1NaTFVhclg0Tm1zNURvZkQ0L0Y0UEI3Ymhid3ZrTFVBSFpWV3E0MkxpenQvL2p6MTBNSEJZY09HRGM3T3ptelgxUjZVU3FWU3FWU3BWR3dYMHVHWm1abVptNXZ6K1h6Y1pNY29aQzFBeHhZZkgzLzI3RmxxMjlMU01qbzZ1bi8vL213WHhSU1NKQlVLaFVLaHdCZVh3VmxhV2xwYVdsSnp1TUhnTU9jSG9HUHo4dkt5c0xCNDhPQUJRUkJxdFRvakk4UGUzcjVQbno1czEyVjRKRWxLSkJJY3l6SkVyVllyRkFvdWwydG1ac1oyTFNZSXg3VUFwdUQyN2R1Yk5tMVNLQlRVdzhEQXdQbno1N05kbENGcE5CcUpSSUx2cTNaZ1lXRmhiVzNOZGhXbUJsa0xZQ0tLaTR0WHIxNWRYVjFOUFhSM2Q0K01qT3pTcFF2YmRSa0FTWkwxOWZYNHNtbzNabVptUXFFUVYzQU5DRmtMWURwcWEydC8vUEhId3NKQzZxR1ZsZFhpeFl0OWZYM1pydXRkMWRmWG95RmxPK1B6K1FLQmdPMHFUQWV5RnNDa0tKWEtmZnYyblR0M2poNFpNV0xFMHFWTE8rNVpRYVZTMmREUXdIWVY3eU5iVzF0Y3V6VVVaQzJBQ2JwNzkyNXNiQ3kxNUMxQkVKMDdkNDZNak96WHJ4L2JkYlZGWFYwZFNaSnNWL0UrNHZGNE5qWTJiRmRoSXBDMUFLYXB0cloyMDZaTnVibTUxRU1PaHhNVUZEUmp4b3lPZGFTaVZxdnB2eGlnL1lsRUlzd0NNZ2hrTFlBcE8zMzZkRUpDQWoxUHBrZVBIdlBuei9meThtSzdycFpxYUdoQXQyY1dDUVFDOVA0MENHUXRnSWtyS1NsWnYzNzk4K2ZQNlpIKy9mc3ZYcnk0UjQ4ZXJOYlZJclcxdGZpT1loSG0veGdLc2hiQTlLblY2dVRrNUtTa0pMbGNUbzF3dWR6eDQ4ZlBuRG5UenM2TzdlcWFSWkprWFYwZDIxVzgxN2hjcmpIL0MrbEFrTFVBNzR2cTZ1cGZmLzAxTXpPVEhoRUlCQ0VoSVZPbVRERTNOMmUxdEtiaERtUmo4QjR1YU1FRVpDM0ErK1d2di82S2k0c3JLaXFpUit6dDdhZE1tVEpod2dSam0wOHBsOHRmdjM3TmRoWHZPMlN0UVNCckFkNDdXcTMyL1BuekJ3OGVySyt2cHdldHJLejgvUHdDQXdNZEhCeFlyZTcvdlg3OW1qN3BEV3pCcmNnR2dhd0ZlRS9KWkxMVTFOVGs1T1NhbWhwNjBNek16TnZiT3pnNDJNbkppZFhxQ0dTdGtVRFdHZ1N5RnVDOXBsS3BMbHk0Y1BMa3lmTHljdDF4ZDNkM1gxOWZIeDhmb1ZESVZtMUdsYlZhcmZiWnMyZTllL2R1dzJ2cjZ1cGV2bndwRm9zYm40K3RyNjgvZi81ODc5NjlCdzRjYUtCS0RReFpheERJV2dBZ1NKSzhjdVhLYjcvOVZsSlNvanZPNC9HOHZMekdqQm5qNWVYVi92ZFBHU1JyVlNyVnlaTW5XL1dTb0tDZ3hoMC90bTNiZHVyVXFXUEhqblh2M2wxM3ZNbGV6WG9kbDlMVDAxZXZYaDBlSGg0VUZLUzNaMUZSVVVoSXlOU3BVMy80NFlmR2xjaGtzcHFhR29sRVVsMWRYVjFkWFZaVzl2TGxTMmRuNTltelp4Y1ZGZEdOU21nZmZmVFJoeDkrMktwZjlxMlF0UWJCWTdzQUFHQWZsOHNkUFhyMHFGR2pidCsrZmV6WXNiLy8vcHNhVjZ2VldWbFpXVmxaUXFGdzVNaVJZOGFNNmR1M0w5dkZ0bzVTcWR5K2ZUdVh5N1d3c0hqcnppcVZTcVBSQkFRRU5NN2FhZE9tblRoeFl1L2V2VEV4TWJyakVSRVJPVGs1ZWp0Lzl0bG5jWEZ4NzE3OHpwMDdUNTA2cFRzaUVva3FLeXRuejU2ZGs1TVRHeHVydC8raVJZc01uclZnRU1oYUFQaGZIQTVuNk5DaFE0Y09mZnIwNmVYTGw2OWN1VUpQYjVWS3BhbXBxYW1wcWZiMjlnTUdEUEQwOUJ3NGNLQklKR0s3NUphYVBIbHlaR1RrVzNlTGpZM1Z6YmJMbHkrWGxwYlNEN3QxNjFaWFYzZmt5QkY2eE0vUGoybzNIUm9hU28zVTE5Y2ZPSERBMHRMU1VKVmJXRmpzMkxIRHhzWkdKQkoxNnRTSngvdXZMKzNEaHc5MzdkcVYrdHlwVTZjYTZrUEI0SkMxQUtDdlQ1OCtmZnIwQ1FzTHUzZnZYbnA2ZWxaV0Z0M2xzYnE2T2lNakl5TWpneUFJSnllblR6LzkxTlBUODVOUFBqRmd1aGlQOVBUMHUzZnY2bzdVMWRYbDUrZlREd2NQSGt6TmlwaytmVG8xc24vL2ZqcUREWUxMNVhwNmVqWWVwODZ1ZCs3YzJkYldsaUFJckRsbzVKQzFBTkEwTHBmcjVlWGw1ZVVsazhtdVg3K2VrWkh4OE9GRDNSMUtTa3BLU2tyT25EbkQ1WEtkbkp6Ni9KL2V2WHNiVzNPTWdvS0NwS1NrbHV5bSszRGp4bzBTaVNRaElTRWdJSUJ1YWFuVmFsZXVYRGwyN05qR0N3UEw1ZkxqeDQrN3VMaDRlM3NidFB3bXZIanhnc3ZsWXZKclI0R3NCWUMzRUFnRTQ4YU5HemR1WEYxZDNmMzc5Ky9mdjUrVGsxTlpXVW52UUpKa2NYRnhjWEh4cFV1WHFKQjJkbmFtbzdkWHIxNnNSKy9qeDQrZlBuMzYxdDNvdzNjYU5SZjUwYU5IdTNmdjVuSzVCRUZjdW5RcE16UFR3OE9qOGN2LytPT1AydHJhOFBCd2FrODl0MjdkYXR4eWtwcHdsWitmdjIvZlB0M3gwTkJRS3lzcktyOERBd04xbjlxMWE1ZTl2WDFtWnVhQUFRUG91NWFvVDhRNkRVWUxXUXNBTFdWblorZmo0K1BqNDBNZDFPYm01dWJrNUR4NDhFRHZibUdTSkl1S2lvcUtpaTVldkVpTkNJVkNrVWhrWjJkbmEydHJwME1rRWdrRUFvRkFZR1ZsWldWbHhkejhvaFplcjMzNDhPR3paODkwL3pLd3RiVU5EdzlmdFdyVjBhTkhRME5ERlFwRmZIeDgzNzU5UTBKQzlGNnJVcWtTRXhOZFhWM0hqaDNiNUp0VGQ1azErZFNUSjArZVBIbWlPL0xWVjE5Uldjdmo4U1pNbUtEN2xLV2w1Y2FORzJ0cWFsYXNXS0ZicDdXMTllblRwNm11bHRPblQ2ZXU0NEtSUU5ZQ1FGczRPVGs1T1RsTm5EaVJ5dDNDd3NMQ3dzS0Nnb0xDd2tLcFZLcTNzMVFxbFVxbEwxNjhlT3ZiOHZsOEtuY0ZBc0dpUll1NmRldG1rR3BiZUE2WmN2ejQ4ZW5UcDh0a3NrZVBIaEVFWVdOajQrbnBLUlFLNzl5NWMvUG16ZExTMHVEZzRIdjM3aEVFNGVqb1NMOHFKU1dsdkx4OHlaSWx6YzJRK2U2Nzd5Wk5tdFRDR3VqVmRYZzgzdGRmZjYzN1ZFeE1URnBhbXArZm4rNUpiQTZIczN6NTh2ajQrQk1uVHZCNHZIbno1clh3ZzZCOUlHc0I0RjFSdVR0cTFDanFZVVZGQlJXNjFNK3FxcXFXdjVWQ29WQW9GTFcxdFZSQ0c2ckNGcDVEcGdxZ2pndGZ2WHExWk1rU2VseDNZcy8yN2R1cERkMWJmOFZpc1VBZzJMTm5UNzkrL1pyOEU4RlE2OU10V0xEQXhjV0Z2dk9aNXUvdjcrL3YvKzd2RDB4QTFnS0FnVGs2T2pvNk9nNGJOb3g2cUZBby92MzMzNnFxcXFxcXFzcktTdnBuVlZWVmRYVTFTWktNRmtOZHdnd0tDbHEyYkZsTDlsK3hZc1dkTzNjSWduQnhjVWxKU1huenpsWldWaEVSRWRUMnNHSERmdm5sbDRVTEYzNy8vZmQ2MDM3VWFqVkJFRzI3YUszUmFINy8vWGZka1VHREJpVW1KaVltSmphNS83eDU4K2lib3NGNElHc0JnRmw4UHI5NzkrNTY3WloweVdReXRWcXRVcW1vbnhTMVdxMTdocmJOSkJJSmRjR1lJSWhYcjE0MWR4NjdlL2Z1MU1Hb1VxbWt1bDd3ZUx3dVhicTA2clBjM2QzWHJGbXphdFdxcEtTa09YUG0wT1BVTFZjM2J0elFhNFNwYS9EZ3dmMzc5Mjg4cmxLcHRtM2JwanR5OU9oUmYzLy9ZOGVPZVhoNERCZ3dnQjUvL3Z6NWxTdFhtcnd0QzFpSHJBVUFsalczbHA5QmVqUlN0LzVTV1p1V2xyWjM3OTRtZHdzTEM2TXVpeXFWU2o2ZlQ0K3ZYTG55MXExYlRiN2swS0ZEenM3T2VvTyt2cjZ1cnE1cGFXbTZXVXV0cDNUMTZ0V3JWNjgyVjZlVmxWV1RXV3RwYWRuNFZjdVdMYnQ3OTY1VUt2M21tMi9vd1crLy9WWW9GSTRmUDc2NWp3QVdJV3NCd0pSUmwybkZZakU5a3BLU1F0M2lTNUZLcFFFQkFmUkRsVXFsZS9wWG9WQllXMXZQbmoxYjl6MmZQSG1TbXByYTNObnZqei8rT0NVbFJhUFIwSTBlS3lvcUNJSklURXlrSitucXlzcktXcjE2ZFd0L3J5bFRwdnowMDA4M2I5NGNQbnc0UVJEWjJkbloyZG56NTgrM3M3TnI3VnRCTzBEV0FvQXBvM283dTd1NzB5TkNvZkFOOXlncEZBcTlIbGkydHJaNmF3WlE3U3FiZXdlbFVzbmo4WFE3S2hjVUZKaVptVFhYNGtQM01Qck5OQnBOZVhsNVZWV1ZoNGZIeElrVER4MDZ0R1hMRmc4UEQ0bEVFaFVWSlJhTEc4OUVBaU9CckFVQWs2WFJhSzVkdXlZU2lYUW5tMlptWnVxdVE2QjNtbG91bDdlaEdWTlJVWkdOalkxUUtDd29LTGgrL2JydTBuc3ltU3d2TDYrMXZiVGtjbmwyZG5aeGNiRktwVnEzYmwxcGFXbFpXVmxaV1psR28vbmdndytTazVNdExTM0R3OE1qSWlLaW82TmZ2SGdobDh0Ly92bG5GaGRBaERkRDFnS0F5YnB6NTA1VlZkVzBhZE4wQjlldlg2KzNHNGZEb1NmRlZsZFh0MkdSMnIxNzkxSTlvcWtXVG5QbnpxV2Z1bmp4b2tLaG9CcUF0SnlabWRtYU5XdW9DVWczYnR6bzFxMmJ1N3Y3bURGanhHS3hpNHNMdFkrUGo4L0VpUlBQbmoxTEVFUlVWQlJXK0RGbXlGb0FNRTFhclphNkU0cHF1RUV0RXRDelo4K0RCdzgydDFKQ2JtNnVWQ3JWeTlxR2hnYTlNOFo1ZVhsNkx4dy9mcnkxdGJWS3BYSndjUEQxOWUzWHJ4ODFMcFBKRGh3NHdPRnd2dmppaTFZVmIyNXVIaHNiZS9yMDZkdTNiMSs0Y0tIeERpcVY2dkRody9SVCsvZnZGNGxFMUxWYk1FTElXZ0F3VFdWbFpmbjUrY09IRDNkemM2TkdBZ01EOVhvTFIwVkZVVGRDODNpOCt2cjY2OWV2Y3ppYzBhTkg2KzVUVVZHeGR1M2FOMytXdDdkM2src05iTjI2dGJ5ODNOL2Z2OG03b3Q1c3lKQWgxNjVkYXp5dVZxc3pNaklTRWhLZVBYdldzMmZQLy96blA0OGZQNDZMaTF1K2ZMbWJtOXVrU1pOR2pCalIydGxLd0RSa0xRQ1lKckZZSEJnWU9IUG16RGZzVTFsWlNYVmJwUFRxMVd2T25EbDZ4N1V1TGk1NkN3T2twNmR2M3J6NXJRVmtaMmVmTzNmTzF0WTJMQ3lzVGI5QkU5TFMwdUxqNHlzcUtpd3NMRUpEUThQQ0xndWlNd0FBQXRoSlJFRlV3dmg4ZnQrK2ZZY1BINzU3OSs2TEZ5OXUyYkpseDQ0ZHg0OGYxNzMxR2xpSHJBVUFrMFUzZFdwT2ZIdzhTWklLaFVLdFZnc0VBdDJiaHlsMmRuWnl1WnhhSTVabWIyL2Z0V3RYdldYYkd4czhlTEMzdC9la1NaTU1lSlRwNHVJaWw4dG56Wm9WSEJ6czRPQkFqNHZGNHJWcjF5NWN1REExTlZVa0VpRm9qUTFIcTlXeVhRTUFRQlBrY3ZucjE2L1pydUtka0NScDhFWk9LcFdxUGRjb0ZJbEV6YTJtQUMySGJsNEFZS1JNNEN1ZWlZNko3YndZc0FuOFZ6QUd5Rm9BTUZMNGxtZGQ0NVBxMERiSVdnQXdVbSs5SUFwTVE5WWFDcklXQUl3VWxxeGhYVHVmcnpaaCtLY01BTVlMMy9YczBtMW1DZThDV1FzQXhxdmxmZm5CNEJDMEJvU3NCUURqWlc1dWprdUdiR211a3lXMEFiSVdBSXlhN2xxejBHN3dWNDVoSVdzQndLaVptNXZqVEhJNzQzQTRBb0dBN1NwTUNySVdBSXlkUUNEQXRjUDJKQlFLY1JPNFlhRkhJd0IwREFxRlFpYVRzVjJGNmJPeHNjSE1ab05EMWdKQWg2SFJhS1JTS1VtU2JCZGltcmhjcm8yTkRZNW9tWUNzQllBT1JxRlFLQlFLalViRGRpR21nN29vanRuTXpFSFdBa0NIUkpLa1NxVlNxOVZxdFJwSHVxM0Y1WEs1WEs2Wm1SbVB4ek0zTjBmcmFhWWhhd0VBQUppRjgvSUFBQURNUXRZQ0FBQXdDMWtMQUFEQUxHUXRBQUFBczVDMUFBQUF6RUxXQWdBQU1BdFpDd0FBd0N4a0xRQUFBTE9RdFFBQUFNeEMxZ0lBQURBTFdRc0FBTUFzWkMwQUFBQ3prTFVBQUFETVF0WUNBQUF3QzFrTEFBREFMR1F0QUFBQXM1QzFBQUFBekVMV0FnQUFNQXRaQ3dBQXdDeGtMUUFBQUxPUXRRQUFBTXhDMWdJQUFEQUxXUXNBQU1Bc1pDMEFBQUN6a0xVQUFBRE1RdFlDQUFBd0Mxa0xBQURBTEdRdEFBQUFzNUMxQUFBQXpFTFdBZ0FBTUF0WkN3QUF3Q3hrTFFBQUFMT1F0UUFBQU14QzFnSUFBREFMV1FzQUFNQXNaQzBBQUFDemtMVUFBQURNUXRZQ0FBQXdDMWtMQUFEQUxHUXRBQUFBczVDMUFBQUF6RUxXQWdBQU1BdFpDd0FBd0N4a0xRQUFBTFArQng2TmVMcDBLdktUQUFBQUFFbEZUa1N1UW1DQyIsCgkiVGhlbWUiIDogIiIsCgkiVHlwZSIgOiAibWluZCIsCgkiVXNlcklkIiA6ICIxMDM2OTY5MjM0IiwKCSJWZXJzaW9uIiA6ICIxNiIKfQo="/>
    </extobj>
  </extobjs>
</s:customData>
</file>

<file path=customXml/itemProps116.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3898</Words>
  <Application>WPS 演示</Application>
  <PresentationFormat>宽屏</PresentationFormat>
  <Paragraphs>378</Paragraphs>
  <Slides>18</Slides>
  <Notes>33</Notes>
  <HiddenSlides>0</HiddenSlides>
  <MMClips>1</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18</vt:i4>
      </vt:variant>
    </vt:vector>
  </HeadingPairs>
  <TitlesOfParts>
    <vt:vector size="32" baseType="lpstr">
      <vt:lpstr>Arial</vt:lpstr>
      <vt:lpstr>宋体</vt:lpstr>
      <vt:lpstr>Wingdings</vt:lpstr>
      <vt:lpstr>微软雅黑</vt:lpstr>
      <vt:lpstr>Impact MT Std</vt:lpstr>
      <vt:lpstr>Arial</vt:lpstr>
      <vt:lpstr>Wingdings</vt:lpstr>
      <vt:lpstr>Google Sans</vt:lpstr>
      <vt:lpstr>Segoe Print</vt:lpstr>
      <vt:lpstr>Google Sans Text</vt:lpstr>
      <vt:lpstr>等线</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熊猫办公ppt</dc:title>
  <dc:creator>熊猫办公</dc:creator>
  <cp:lastModifiedBy>把酒祝东风</cp:lastModifiedBy>
  <cp:revision>82</cp:revision>
  <dcterms:created xsi:type="dcterms:W3CDTF">2024-05-21T02:20:00Z</dcterms:created>
  <dcterms:modified xsi:type="dcterms:W3CDTF">2026-01-31T07:33:04Z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E6FB00889AB6464F928012CF15C6A627_13</vt:lpwstr>
  </property>
</Properties>
</file>