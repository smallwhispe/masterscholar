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15" r:id="rId3"/>
    <p:sldId id="316" r:id="rId5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C5FD"/>
    <a:srgbClr val="3A6695"/>
    <a:srgbClr val="134263"/>
    <a:srgbClr val="1E2B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3963" autoAdjust="0"/>
  </p:normalViewPr>
  <p:slideViewPr>
    <p:cSldViewPr snapToGrid="0">
      <p:cViewPr>
        <p:scale>
          <a:sx n="50" d="100"/>
          <a:sy n="50" d="100"/>
        </p:scale>
        <p:origin x="126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5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E4261-0CDD-45A3-84C2-311859DE5B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首先介绍几篇我正在看的文献</a:t>
            </a:r>
            <a:endParaRPr lang="zh-CN" altLang="en-US"/>
          </a:p>
          <a:p>
            <a:r>
              <a:rPr lang="zh-CN" altLang="en-US"/>
              <a:t>首先第一篇文献提出了将</a:t>
            </a:r>
            <a:r>
              <a:rPr lang="en-US" altLang="zh-CN"/>
              <a:t>UA</a:t>
            </a:r>
            <a:r>
              <a:rPr lang="zh-CN" altLang="en-US"/>
              <a:t>地址空间转换为有向图</a:t>
            </a:r>
            <a:r>
              <a:rPr lang="en-US" altLang="zh-CN"/>
              <a:t>/</a:t>
            </a:r>
            <a:r>
              <a:rPr lang="zh-CN" altLang="en-US"/>
              <a:t>三元组存储的思想，为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实现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工业领域知识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知识图谱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的建模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提供基础</a:t>
            </a:r>
            <a:r>
              <a:rPr lang="zh-CN" altLang="en-US"/>
              <a:t>。作者首先分析了服务器地址空间的结构特点，指出其由节点与引用构成，本质上可以看作一种隐式的知识表示形式，但在表达能力上弱于具备推理能力的本体模型。论文提出将</a:t>
            </a:r>
            <a:r>
              <a:rPr lang="en-US" altLang="zh-CN"/>
              <a:t> OPC UA </a:t>
            </a:r>
            <a:r>
              <a:rPr lang="zh-CN" altLang="en-US"/>
              <a:t>信息模型转换为有向图，并进一步表达为本体</a:t>
            </a:r>
            <a:r>
              <a:rPr lang="zh-CN" altLang="en-US"/>
              <a:t>模型，从而使原本仅用于通信的</a:t>
            </a:r>
            <a:r>
              <a:rPr lang="en-US" altLang="zh-CN"/>
              <a:t> OPC UA </a:t>
            </a:r>
            <a:r>
              <a:rPr lang="zh-CN" altLang="en-US"/>
              <a:t>地址空间具备自动推理能力。</a:t>
            </a:r>
            <a:endParaRPr lang="zh-CN" altLang="en-US"/>
          </a:p>
          <a:p>
            <a:r>
              <a:rPr lang="zh-CN" altLang="en-US"/>
              <a:t>文章设计了一套针对</a:t>
            </a:r>
            <a:r>
              <a:rPr lang="en-US" altLang="zh-CN"/>
              <a:t> OPC UA </a:t>
            </a:r>
            <a:r>
              <a:rPr lang="zh-CN" altLang="en-US"/>
              <a:t>标准命名空间的转换规则，将对象类型、实例、引用关系及属性映射为三元组形式的知识表示。在此基础上，引入现有推理工具</a:t>
            </a:r>
            <a:r>
              <a:rPr lang="en-US" altLang="zh-CN"/>
              <a:t>pellet</a:t>
            </a:r>
            <a:r>
              <a:rPr lang="zh-CN" altLang="en-US"/>
              <a:t>对生成的三元组进行逻辑推理，</a:t>
            </a:r>
            <a:r>
              <a:rPr lang="zh-CN" altLang="en-US">
                <a:sym typeface="+mn-ea"/>
              </a:rPr>
              <a:t>通过规则推理，系统补全了在</a:t>
            </a:r>
            <a:r>
              <a:rPr lang="en-US" altLang="zh-CN">
                <a:sym typeface="+mn-ea"/>
              </a:rPr>
              <a:t> OPC UA </a:t>
            </a:r>
            <a:r>
              <a:rPr lang="zh-CN" altLang="en-US">
                <a:sym typeface="+mn-ea"/>
              </a:rPr>
              <a:t>地址空间中未显式表达、但由其信息模型语义所隐含的三元关系，</a:t>
            </a:r>
            <a:r>
              <a:rPr lang="zh-CN" altLang="en-US"/>
              <a:t>从而补全类型继承关系、结构约束结果以及隐含的语义关系。论文还实现了一个可运行的原型系统，系统通过</a:t>
            </a:r>
            <a:r>
              <a:rPr lang="en-US" altLang="zh-CN"/>
              <a:t> OPC UA </a:t>
            </a:r>
            <a:r>
              <a:rPr lang="zh-CN" altLang="en-US"/>
              <a:t>客户端自动获取地址空间信息，完成模型转换、知识存储、推理与查询，并通过接口对外提供推理结果。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首先介绍几篇我正在看的文献</a:t>
            </a:r>
            <a:endParaRPr lang="zh-CN" altLang="en-US"/>
          </a:p>
          <a:p>
            <a:r>
              <a:rPr lang="zh-CN" altLang="en-US"/>
              <a:t>首先第一篇文献提出了将</a:t>
            </a:r>
            <a:r>
              <a:rPr lang="en-US" altLang="zh-CN"/>
              <a:t>UA</a:t>
            </a:r>
            <a:r>
              <a:rPr lang="zh-CN" altLang="en-US"/>
              <a:t>地址空间转换为有向图</a:t>
            </a:r>
            <a:r>
              <a:rPr lang="en-US" altLang="zh-CN"/>
              <a:t>/</a:t>
            </a:r>
            <a:r>
              <a:rPr lang="zh-CN" altLang="en-US"/>
              <a:t>三元组存储的思想，为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实现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工业领域知识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知识图谱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的建模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提供基础</a:t>
            </a:r>
            <a:r>
              <a:rPr lang="zh-CN" altLang="en-US"/>
              <a:t>。作者首先分析了服务器地址空间的结构特点，指出其由节点与引用构成，本质上可以看作一种隐式的知识表示形式，但在表达能力上弱于具备推理能力的本体模型。论文提出将</a:t>
            </a:r>
            <a:r>
              <a:rPr lang="en-US" altLang="zh-CN"/>
              <a:t> OPC UA </a:t>
            </a:r>
            <a:r>
              <a:rPr lang="zh-CN" altLang="en-US"/>
              <a:t>信息模型转换为有向图，并进一步表达为本体</a:t>
            </a:r>
            <a:r>
              <a:rPr lang="zh-CN" altLang="en-US"/>
              <a:t>模型，从而使原本仅用于通信的</a:t>
            </a:r>
            <a:r>
              <a:rPr lang="en-US" altLang="zh-CN"/>
              <a:t> OPC UA </a:t>
            </a:r>
            <a:r>
              <a:rPr lang="zh-CN" altLang="en-US"/>
              <a:t>地址空间具备自动推理能力。</a:t>
            </a:r>
            <a:endParaRPr lang="zh-CN" altLang="en-US"/>
          </a:p>
          <a:p>
            <a:r>
              <a:rPr lang="zh-CN" altLang="en-US"/>
              <a:t>文章设计了一套针对</a:t>
            </a:r>
            <a:r>
              <a:rPr lang="en-US" altLang="zh-CN"/>
              <a:t> OPC UA </a:t>
            </a:r>
            <a:r>
              <a:rPr lang="zh-CN" altLang="en-US"/>
              <a:t>标准命名空间的转换规则，将对象类型、实例、引用关系及属性映射为三元组形式的知识表示。在此基础上，引入现有推理工具</a:t>
            </a:r>
            <a:r>
              <a:rPr lang="en-US" altLang="zh-CN"/>
              <a:t>pellet</a:t>
            </a:r>
            <a:r>
              <a:rPr lang="zh-CN" altLang="en-US"/>
              <a:t>对生成的三元组进行逻辑推理，</a:t>
            </a:r>
            <a:r>
              <a:rPr lang="zh-CN" altLang="en-US">
                <a:sym typeface="+mn-ea"/>
              </a:rPr>
              <a:t>通过规则推理，系统补全了在</a:t>
            </a:r>
            <a:r>
              <a:rPr lang="en-US" altLang="zh-CN">
                <a:sym typeface="+mn-ea"/>
              </a:rPr>
              <a:t> OPC UA </a:t>
            </a:r>
            <a:r>
              <a:rPr lang="zh-CN" altLang="en-US">
                <a:sym typeface="+mn-ea"/>
              </a:rPr>
              <a:t>地址空间中未显式表达、但由其信息模型语义所隐含的三元关系，</a:t>
            </a:r>
            <a:r>
              <a:rPr lang="zh-CN" altLang="en-US"/>
              <a:t>从而补全类型继承关系、结构约束结果以及隐含的语义关系。论文还实现了一个可运行的原型系统，系统通过</a:t>
            </a:r>
            <a:r>
              <a:rPr lang="en-US" altLang="zh-CN"/>
              <a:t> OPC UA </a:t>
            </a:r>
            <a:r>
              <a:rPr lang="zh-CN" altLang="en-US"/>
              <a:t>客户端自动获取地址空间信息，完成模型转换、知识存储、推理与查询，并通过接口对外提供推理结果。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6000"/>
    </mc:Choice>
    <mc:Fallback>
      <p:transition spd="slow"/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png"/><Relationship Id="rId7" Type="http://schemas.openxmlformats.org/officeDocument/2006/relationships/image" Target="../media/image3.png"/><Relationship Id="rId6" Type="http://schemas.openxmlformats.org/officeDocument/2006/relationships/image" Target="../media/image2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23" name="直接连接符 22"/>
          <p:cNvCxnSpPr/>
          <p:nvPr/>
        </p:nvCxnSpPr>
        <p:spPr>
          <a:xfrm>
            <a:off x="83014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4933648" y="0"/>
            <a:ext cx="1666001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3374314" y="80648"/>
            <a:ext cx="134400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毕业设计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框架概述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7"/>
          <p:cNvSpPr txBox="1"/>
          <p:nvPr/>
        </p:nvSpPr>
        <p:spPr>
          <a:xfrm>
            <a:off x="5052695" y="87630"/>
            <a:ext cx="1344295" cy="557530"/>
          </a:xfrm>
          <a:prstGeom prst="rect">
            <a:avLst/>
          </a:prstGeom>
          <a:noFill/>
        </p:spPr>
        <p:txBody>
          <a:bodyPr wrap="square" lIns="0" tIns="48000" rIns="0" bIns="48000" rtlCol="0">
            <a:noAutofit/>
          </a:bodyPr>
          <a:lstStyle/>
          <a:p>
            <a:pPr algn="ctr">
              <a:buClrTx/>
              <a:buSzTx/>
              <a:buNone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相关领域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buClrTx/>
              <a:buSzTx/>
              <a:buNone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文献阅读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8" name="TextBox 9"/>
          <p:cNvSpPr txBox="1"/>
          <p:nvPr/>
        </p:nvSpPr>
        <p:spPr>
          <a:xfrm>
            <a:off x="6778549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技术路线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65996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校徽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305" y="0"/>
            <a:ext cx="2687955" cy="749300"/>
          </a:xfrm>
          <a:prstGeom prst="rect">
            <a:avLst/>
          </a:prstGeom>
          <a:noFill/>
        </p:spPr>
      </p:pic>
      <p:sp>
        <p:nvSpPr>
          <p:cNvPr id="54" name="学论网-矩形 1"/>
          <p:cNvSpPr/>
          <p:nvPr>
            <p:custDataLst>
              <p:tags r:id="rId2"/>
            </p:custDataLst>
          </p:nvPr>
        </p:nvSpPr>
        <p:spPr>
          <a:xfrm>
            <a:off x="224790" y="949325"/>
            <a:ext cx="3460115" cy="1751965"/>
          </a:xfrm>
          <a:prstGeom prst="rect">
            <a:avLst/>
          </a:prstGeom>
          <a:noFill/>
          <a:ln w="12700" cap="flat" cmpd="sng" algn="ctr">
            <a:solidFill>
              <a:srgbClr val="448AD7"/>
            </a:solidFill>
            <a:prstDash val="sysDot"/>
          </a:ln>
          <a:effectLst/>
        </p:spPr>
        <p:txBody>
          <a:bodyPr rtlCol="0" anchor="ctr"/>
          <a:lstStyle/>
          <a:p>
            <a:pPr lvl="0" algn="ctr"/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sp>
        <p:nvSpPr>
          <p:cNvPr id="57" name="学论网-www.xuelun.me"/>
          <p:cNvSpPr txBox="1"/>
          <p:nvPr>
            <p:custDataLst>
              <p:tags r:id="rId3"/>
            </p:custDataLst>
          </p:nvPr>
        </p:nvSpPr>
        <p:spPr>
          <a:xfrm>
            <a:off x="281305" y="1040765"/>
            <a:ext cx="3329305" cy="15360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indent="457200" algn="l" fontAlgn="auto">
              <a:lnSpc>
                <a:spcPct val="150000"/>
              </a:lnSpc>
              <a:buClrTx/>
              <a:buSzTx/>
              <a:buFontTx/>
            </a:pPr>
            <a:r>
              <a:rPr 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问题形式化：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OPC UA 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在工业现场已经能解决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通信互联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，但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OPC UA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地址空间没有被形式化，因此很难做进一步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的自动推理。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学论网-矩形 1"/>
          <p:cNvSpPr/>
          <p:nvPr>
            <p:custDataLst>
              <p:tags r:id="rId4"/>
            </p:custDataLst>
          </p:nvPr>
        </p:nvSpPr>
        <p:spPr>
          <a:xfrm>
            <a:off x="224790" y="2858770"/>
            <a:ext cx="3460115" cy="1751965"/>
          </a:xfrm>
          <a:prstGeom prst="rect">
            <a:avLst/>
          </a:prstGeom>
          <a:noFill/>
          <a:ln w="12700" cap="flat" cmpd="sng" algn="ctr">
            <a:solidFill>
              <a:srgbClr val="448AD7"/>
            </a:solidFill>
            <a:prstDash val="sysDot"/>
          </a:ln>
          <a:effectLst/>
        </p:spPr>
        <p:txBody>
          <a:bodyPr rtlCol="0" anchor="ctr"/>
          <a:lstStyle/>
          <a:p>
            <a:pPr lvl="0" algn="ctr"/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sp>
        <p:nvSpPr>
          <p:cNvPr id="6" name="学论网-www.xuelun.me"/>
          <p:cNvSpPr txBox="1"/>
          <p:nvPr>
            <p:custDataLst>
              <p:tags r:id="rId5"/>
            </p:custDataLst>
          </p:nvPr>
        </p:nvSpPr>
        <p:spPr>
          <a:xfrm>
            <a:off x="281305" y="2950210"/>
            <a:ext cx="3329305" cy="15360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indent="457200" algn="l" fontAlgn="auto">
              <a:lnSpc>
                <a:spcPct val="150000"/>
              </a:lnSpc>
              <a:buClrTx/>
              <a:buSzTx/>
              <a:buFontTx/>
            </a:pPr>
            <a:r>
              <a:rPr 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解决问题：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把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OPC UA 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地址空间转换为有向图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三元组存储，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并进行本体推理，生成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隐含知识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的新三元组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8055" y="948690"/>
            <a:ext cx="3494405" cy="421830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3796030" y="948690"/>
            <a:ext cx="4660900" cy="3662045"/>
          </a:xfrm>
          <a:prstGeom prst="rect">
            <a:avLst/>
          </a:prstGeom>
          <a:solidFill>
            <a:srgbClr val="DEEBF7"/>
          </a:solidFill>
        </p:spPr>
        <p:txBody>
          <a:bodyPr wrap="square">
            <a:noAutofit/>
          </a:bodyPr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OPC UA Client</a:t>
            </a:r>
            <a:r>
              <a:rPr lang="zh-CN" altLang="en-US">
                <a:sym typeface="+mn-ea"/>
              </a:rPr>
              <a:t>：连接 </a:t>
            </a:r>
            <a:r>
              <a:rPr lang="en-US" altLang="zh-CN">
                <a:sym typeface="+mn-ea"/>
              </a:rPr>
              <a:t>OPC UA Server</a:t>
            </a:r>
            <a:r>
              <a:rPr lang="zh-CN" altLang="en-US">
                <a:sym typeface="+mn-ea"/>
              </a:rPr>
              <a:t>，浏览整个地址空间，构建内部图结构；并能监听数据变化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事件以保持同步。</a:t>
            </a:r>
            <a:endParaRPr lang="zh-CN" altLang="en-US">
              <a:sym typeface="+mn-ea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Triple-Store Adapter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Apache Jena</a:t>
            </a:r>
            <a:r>
              <a:rPr lang="zh-CN" altLang="en-US">
                <a:sym typeface="+mn-ea"/>
              </a:rPr>
              <a:t>）：应用“转换规则”，把 </a:t>
            </a:r>
            <a:r>
              <a:rPr lang="en-US" altLang="zh-CN">
                <a:sym typeface="+mn-ea"/>
              </a:rPr>
              <a:t>OPC UA </a:t>
            </a:r>
            <a:r>
              <a:rPr lang="zh-CN" altLang="en-US">
                <a:sym typeface="+mn-ea"/>
              </a:rPr>
              <a:t>图转换成 </a:t>
            </a:r>
            <a:r>
              <a:rPr lang="en-US" altLang="zh-CN">
                <a:sym typeface="+mn-ea"/>
              </a:rPr>
              <a:t>OWL DL </a:t>
            </a:r>
            <a:r>
              <a:rPr lang="zh-CN" altLang="en-US">
                <a:sym typeface="+mn-ea"/>
              </a:rPr>
              <a:t>合规的三元组。 </a:t>
            </a:r>
            <a:endParaRPr lang="en-US" altLang="zh-CN"/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Triple Store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Jena TDB2</a:t>
            </a:r>
            <a:r>
              <a:rPr lang="zh-CN" altLang="en-US">
                <a:sym typeface="+mn-ea"/>
              </a:rPr>
              <a:t>）：存储生成的三元组图。 </a:t>
            </a:r>
            <a:endParaRPr lang="en-US" altLang="zh-CN"/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Reasoner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Pellet</a:t>
            </a:r>
            <a:r>
              <a:rPr lang="zh-CN" altLang="en-US">
                <a:sym typeface="+mn-ea"/>
              </a:rPr>
              <a:t>）：对三元组进行本体推理，生成“隐含知识”的新三元组。 </a:t>
            </a:r>
            <a:endParaRPr lang="en-US" altLang="zh-CN"/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SPARQL Server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Fuseki</a:t>
            </a:r>
            <a:r>
              <a:rPr lang="zh-CN" altLang="en-US">
                <a:sym typeface="+mn-ea"/>
              </a:rPr>
              <a:t>）：把推理后的知识通过 </a:t>
            </a:r>
            <a:r>
              <a:rPr lang="en-US" altLang="zh-CN">
                <a:sym typeface="+mn-ea"/>
              </a:rPr>
              <a:t>SPARQL endpoint </a:t>
            </a:r>
            <a:r>
              <a:rPr lang="zh-CN" altLang="en-US">
                <a:sym typeface="+mn-ea"/>
              </a:rPr>
              <a:t>暴露出去，外部系统用 </a:t>
            </a:r>
            <a:r>
              <a:rPr lang="en-US" altLang="zh-CN">
                <a:sym typeface="+mn-ea"/>
              </a:rPr>
              <a:t>SPARQL </a:t>
            </a:r>
            <a:r>
              <a:rPr lang="zh-CN" altLang="en-US">
                <a:sym typeface="+mn-ea"/>
              </a:rPr>
              <a:t>查询即可。 </a:t>
            </a:r>
            <a:endParaRPr lang="zh-CN" altLang="en-US">
              <a:sym typeface="+mn-ea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zh-CN" altLang="en-US" dirty="0">
              <a:effectLst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9390" y="4767580"/>
            <a:ext cx="2463165" cy="1807845"/>
          </a:xfrm>
          <a:prstGeom prst="rect">
            <a:avLst/>
          </a:prstGeom>
        </p:spPr>
      </p:pic>
      <p:sp>
        <p:nvSpPr>
          <p:cNvPr id="35" name="下箭头 34"/>
          <p:cNvSpPr/>
          <p:nvPr/>
        </p:nvSpPr>
        <p:spPr>
          <a:xfrm rot="16200000">
            <a:off x="3268980" y="5473700"/>
            <a:ext cx="81915" cy="354330"/>
          </a:xfrm>
          <a:prstGeom prst="downArrow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3325" y="5398135"/>
            <a:ext cx="669290" cy="506095"/>
          </a:xfrm>
          <a:prstGeom prst="rect">
            <a:avLst/>
          </a:prstGeom>
        </p:spPr>
      </p:pic>
      <p:sp>
        <p:nvSpPr>
          <p:cNvPr id="11" name="下箭头 10"/>
          <p:cNvSpPr/>
          <p:nvPr/>
        </p:nvSpPr>
        <p:spPr>
          <a:xfrm rot="16200000">
            <a:off x="4805045" y="5486400"/>
            <a:ext cx="81915" cy="354330"/>
          </a:xfrm>
          <a:prstGeom prst="downArrow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330" y="4735195"/>
            <a:ext cx="2268220" cy="18434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23" name="直接连接符 22"/>
          <p:cNvCxnSpPr/>
          <p:nvPr/>
        </p:nvCxnSpPr>
        <p:spPr>
          <a:xfrm>
            <a:off x="83014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4933648" y="0"/>
            <a:ext cx="1666001" cy="792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3374314" y="80648"/>
            <a:ext cx="134400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毕业设计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框架概述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7"/>
          <p:cNvSpPr txBox="1"/>
          <p:nvPr/>
        </p:nvSpPr>
        <p:spPr>
          <a:xfrm>
            <a:off x="5052695" y="87630"/>
            <a:ext cx="1344295" cy="557530"/>
          </a:xfrm>
          <a:prstGeom prst="rect">
            <a:avLst/>
          </a:prstGeom>
          <a:noFill/>
        </p:spPr>
        <p:txBody>
          <a:bodyPr wrap="square" lIns="0" tIns="48000" rIns="0" bIns="48000" rtlCol="0">
            <a:noAutofit/>
          </a:bodyPr>
          <a:lstStyle/>
          <a:p>
            <a:pPr algn="ctr">
              <a:buClrTx/>
              <a:buSzTx/>
              <a:buNone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相关领域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buClrTx/>
              <a:buSzTx/>
              <a:buNone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文献阅读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8" name="TextBox 9"/>
          <p:cNvSpPr txBox="1"/>
          <p:nvPr/>
        </p:nvSpPr>
        <p:spPr>
          <a:xfrm>
            <a:off x="6778549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技术路线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6599649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3231850" y="285092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校徽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305" y="0"/>
            <a:ext cx="2687955" cy="749300"/>
          </a:xfrm>
          <a:prstGeom prst="rect">
            <a:avLst/>
          </a:prstGeom>
          <a:noFill/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00" y="1289685"/>
            <a:ext cx="6384290" cy="6965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27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258.75,&quot;left&quot;:0,&quot;top&quot;:-0.05,&quot;width&quot;:960}"/>
</p:tagLst>
</file>

<file path=ppt/tags/tag2.xml><?xml version="1.0" encoding="utf-8"?>
<p:tagLst xmlns:p="http://schemas.openxmlformats.org/presentationml/2006/main">
  <p:tag name="KSO_WM_DIAGRAM_VIRTUALLY_FRAME" val="{&quot;height&quot;:258.75,&quot;left&quot;:0,&quot;top&quot;:-0.05,&quot;width&quot;:960}"/>
</p:tagLst>
</file>

<file path=ppt/tags/tag3.xml><?xml version="1.0" encoding="utf-8"?>
<p:tagLst xmlns:p="http://schemas.openxmlformats.org/presentationml/2006/main">
  <p:tag name="KSO_WM_DIAGRAM_VIRTUALLY_FRAME" val="{&quot;height&quot;:258.75,&quot;left&quot;:0,&quot;top&quot;:-0.05,&quot;width&quot;:960}"/>
</p:tagLst>
</file>

<file path=ppt/tags/tag4.xml><?xml version="1.0" encoding="utf-8"?>
<p:tagLst xmlns:p="http://schemas.openxmlformats.org/presentationml/2006/main">
  <p:tag name="KSO_WM_DIAGRAM_VIRTUALLY_FRAME" val="{&quot;height&quot;:258.75,&quot;left&quot;:0,&quot;top&quot;:-0.05,&quot;width&quot;:960}"/>
</p:tagLst>
</file>

<file path=ppt/tags/tag5.xml><?xml version="1.0" encoding="utf-8"?>
<p:tagLst xmlns:p="http://schemas.openxmlformats.org/presentationml/2006/main">
  <p:tag name="commondata" val="eyJoZGlkIjoiY2IyNmU0MDczNGY3Y2U0OGFhYmRkMTdlMDNjMjJmNTQifQ=="/>
</p:tagLst>
</file>

<file path=ppt/theme/theme1.xml><?xml version="1.0" encoding="utf-8"?>
<a:theme xmlns:a="http://schemas.openxmlformats.org/drawingml/2006/main" name="Office 主题​​">
  <a:themeElements>
    <a:clrScheme name="蓝绿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441</Words>
  <Application>WPS 演示</Application>
  <PresentationFormat>宽屏</PresentationFormat>
  <Paragraphs>27</Paragraphs>
  <Slides>2</Slides>
  <Notes>33</Notes>
  <HiddenSlides>0</HiddenSlides>
  <MMClips>1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熊猫办公ppt</dc:title>
  <dc:creator>熊猫办公</dc:creator>
  <cp:lastModifiedBy>把酒祝东风</cp:lastModifiedBy>
  <cp:revision>82</cp:revision>
  <dcterms:created xsi:type="dcterms:W3CDTF">2024-05-21T02:20:00Z</dcterms:created>
  <dcterms:modified xsi:type="dcterms:W3CDTF">2026-01-31T06:54:26Z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691ADE7B5C184170B7D5DE28A41943E2_13</vt:lpwstr>
  </property>
</Properties>
</file>