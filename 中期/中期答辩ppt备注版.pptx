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3" ContentType="audio/mp3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64" r:id="rId6"/>
    <p:sldId id="297" r:id="rId7"/>
    <p:sldId id="298" r:id="rId8"/>
    <p:sldId id="292" r:id="rId9"/>
    <p:sldId id="295" r:id="rId10"/>
    <p:sldId id="300" r:id="rId11"/>
    <p:sldId id="299" r:id="rId12"/>
    <p:sldId id="301" r:id="rId13"/>
    <p:sldId id="302" r:id="rId14"/>
    <p:sldId id="303" r:id="rId15"/>
    <p:sldId id="304" r:id="rId16"/>
    <p:sldId id="309" r:id="rId17"/>
    <p:sldId id="310" r:id="rId18"/>
    <p:sldId id="293" r:id="rId19"/>
    <p:sldId id="314" r:id="rId20"/>
    <p:sldId id="315" r:id="rId21"/>
    <p:sldId id="307" r:id="rId2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4" userDrawn="1">
          <p15:clr>
            <a:srgbClr val="A4A3A4"/>
          </p15:clr>
        </p15:guide>
        <p15:guide id="2" pos="39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CC5FD"/>
    <a:srgbClr val="3A6695"/>
    <a:srgbClr val="134263"/>
    <a:srgbClr val="1E2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87" autoAdjust="0"/>
    <p:restoredTop sz="93963" autoAdjust="0"/>
  </p:normalViewPr>
  <p:slideViewPr>
    <p:cSldViewPr snapToGrid="0" showGuides="1">
      <p:cViewPr varScale="1">
        <p:scale>
          <a:sx n="105" d="100"/>
          <a:sy n="105" d="100"/>
        </p:scale>
        <p:origin x="126" y="354"/>
      </p:cViewPr>
      <p:guideLst>
        <p:guide orient="horz" pos="2234"/>
        <p:guide pos="39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CE4261-0CDD-45A3-84C2-311859DE5B0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各位老师好，下面开始汇报。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本次汇报分为三部分。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下面汇报研究背景与目标。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传统工业软件定制开发周期长、成本高，零代码平台虽能降低页面搭建门槛，但不能自动理解 OPC UA 节点背后的部件、属性和操作。面对命名差异、新传感器和扩展字段，需要加入语义建模与可信生成层，避免把设备数据简单处理成字段清单。这是本课题切入点。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本研究目标是形成从设备数据到零代码页面的端到端链路。首先利用字符级 TextCNN 识别设备类型，并通过序列标注抽取组件、属性和操作片段；随后构建 IMKG，结合 FastText、SpaceTransformer 和 ComplEx 补全未知字段，并生成 OWL 与 OPC UA Nodeset XML；最后映射为 ProjectSchema，通过六层验证检查来源、协议、结构、语义、数据和运行可用性，使结果具备质量依据。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下面汇报已完成研究工作。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系统整体架构可以理解为四个连续模块。服务协议建模部分负责从 OPC UA 数据帧中识别设备类型并抽取细粒度语义实体，为后续图谱对齐提供入口。知识图谱补全部分根据设备类型加载对应 IMKG，并结合已有企业知识和候选三元组打分结果，将未知字段补充到合理的父组件或关系下。代码生成与优化部分把图谱中的组件、属性和操作关系映射为零代码组件树，并融合数据帧中的实时值生成 ProjectSchema。验证模块再从溯源、协议、结构、语义、数据和运行六个层面检查生成结果。整体</a:t>
            </a:r>
            <a:r>
              <a:rPr lang="zh-CN" sz="1200"/>
              <a:t>设计先形成可复用的语义中间层，再向标准模型和页面 Schema 传递，保证每个环节都有输入、输出和可追踪依据。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设备类型识别是整个流程的入口。由于工业字段通常由英文单词、缩写和组合词构成，词边界并不稳定，单纯依赖规则或词级表示很难适应厂商差异。因此，本研究将 OPC UA 数据帧中的 browse_name 作为主要输入，把节点名称拼接为字符序列，再由字符级 TextCNN 进行六类设备分类。模型通过多尺度卷积核捕捉不同长度的局部字符片段，经过池化、Dropout 和全连接层输出设备类型概率。先确定设备域的意义在于为后续模块提供语义上下文，同样是 Speed，在 CNC 中可能关联主轴，在分拣设备中可能关联传送机构，若不先判断设备类型，后续图谱选择和组件映射都容易混用。在实验对象上，当前选择六类工业设备，是为了兼顾制造场景代表性、字段结构差异性和端到端验证可控性，后续再逐步扩展到更多设备类型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在确定设备类型之后，还需要进一步识别字段内部包含的语义片段。TextCNN 解决的是数据帧属于哪一类设备，BiLSTM-CRF 解决的是字段名称中哪些部分对应组件、属性或操作。BiLSTM 能够结合前后文对字符序列进行编码，CRF 层则用于约束标签序列，减少不合法边界和不合理标签组合。以 SpindleSpeed 为例，模型可以辅助识别 Spindle 作为组件片段、Speed 作为属性片段。这样的抽取结果能够进入后续 IMKG 对齐流程，使系统不是简单收集字段名，而是把字段转化为可参与图谱推理和 Schema 生成的结构化语义。它与设备分类形成互补关系，前者确定设备域，后者补充字段粒度的语义证据。这一步也能减少后续补全的搜索范围，因为实体片段越清楚，候选父节点和候选关系就越容易结合图谱结构进行判断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完成设备识别和字段语义抽取后，系统以三元组形式构建工业制造知识图谱。图谱中主要使用 hasComponent、hasProperty、hasOperation、subtypeOf 和 controlledBy 五类关系，分别描述设备组成、组件属性、功能操作、类型继承和控制关系。以 CNC 数控机床为例，图谱可以表达机床与主轴、刀库、工作台、冷却系统和控制器之间的层级关系，也可以关联转速、负载、刀具编号和进给速度等属性。目前六类工业设备的 IMKG 均已完成构建，并通过TripleStore</a:t>
            </a:r>
            <a:r>
              <a:rPr lang="zh-CN" sz="1200"/>
              <a:t>数据结构支持索引查询和子图遍历。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实际工业现场具有开放世界特征，新的传感器、扩展模块和厂商自定义字段会不断出现，系统不能只依赖已有 IMKG。知识补全模块的任务，是在给定未知字段和已有图谱的条件下，判断该字段应挂载到哪个父实体下，并确定对应的关系类型。当前方法采用三阶段流程：先通过字段规整和 FastText 子词表示处理缩写、驼峰命名和未登录词，再利用 SpaceTransformer 将文本语义向量映射到知识图谱嵌入空间，最后使用 ComplEx 对候选三元组进行打分排序。在实际决策时，系统还结合 OPC UA 节点类型、parent_node_id 和图谱层级证据，避免模型分数单独决定补全结果。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FastText 输出的是字段名称的文本语义向量，而 ComplEx 需要的是知识图谱空间中的复数实体向量，两者虽然可以设置相同维度，但表达目标并不相同。因此，本研究在二者之间加入 SpaceTransformer，将 128 维文本向量转换为与图谱实体嵌入一致的 128 维结构向量，并进一步拆分为实部和虚部。经过转换后，未知字段可以作为候选尾实体进入 ComplEx 打分函数。系统会遍历 IMKG 中可能的父实体和关系组合，计算候选三元组的可信度，并选择分数最高且满足节点类型、父子结构等约束的结果。该过程的核心意义在于把字段命名理解和图谱结构推理连接起来，避免只凭字符串相似度判断未知字段的归属，也为后续多证据融合留下接口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Schema 生成环节的目标是形成可渲染、可追溯的零代码组件树。当前主流程采用 Merge 模式，由知识图谱提供页面结构和语义骨架，由 OPC UA 数据帧提供实时值、数据类型和 node_id 等绑定信息。具体映射中，hasComponent 关系转化为组件树中的容器层级，hasProperty 关系转化为 NumberPicker、Switch 或 Input 等字段控件，hasOperation 关系转化为 Button 操作按钮。这样生成结果既不是缺少实时数据的结构模板，也不是没有语义层级的字段清单，而是能够同时保留设备组成关系、运行状态和交互操作的 ProjectSchema。ProjectSchema 中的 componentsMap、componentsTree、props、constants 等字段共同决定页面能否被零代码平台识别和渲染。Merge 模式的优势在于结构和值同时存在，既能体现工业设备部件归属，也能把 node_id、value 和 data_type 传递到控件属性中，为后续数据一致性验证提供依据。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初始 Schema 生成后，仍然可能存在层级过深、空容器、重复映射或冗余配置等问题，因此需要进一步优化。组件布局优化关注单 Card 单职责、组件树深度控制和空节点清理，使页面结构更加清晰。映射精度优化依据 IMKG 中的 hasComponent、hasProperty 和 hasOperation 关系校正控件归属，处理类型歧义、重复映射和命名不一致。文件体积优化则通过删除未引用的组件注册项、裁剪空字段和提升全局常量减少冗余。整体上，这一阶段是在不改变页面渲染语义的前提下，提高结构清晰度、映射准确性和存储效率。后续可信验证也需要这种更清楚的组件树作为输入，否则问题定位会被无意义容器和重复节点干扰。优化前后的对比指标可以包括节点数量、最大深度、空 Card 数量、文件体积和语义覆盖率，这些指标后续也能成为可信验证</a:t>
            </a:r>
            <a:r>
              <a:rPr lang="zh-CN" sz="1200"/>
              <a:t>中生成质量评分的基础。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可信验证用于回答自动生成的 Schema 是否具备发布和复核条件。六层验证从底到顶依次检查溯源追溯、Schema 合规、结构完整性、语义保真度、数据一致性和运行时可用性。底层保证每个节点来源清楚，</a:t>
            </a:r>
            <a:r>
              <a:rPr lang="zh-CN" altLang="en-US" sz="1200"/>
              <a:t>除了溯源层外，</a:t>
            </a:r>
            <a:r>
              <a:rPr lang="zh-CN" sz="1200"/>
              <a:t>协议层和结构层保证 JSON 符合平台要求且组件树合法，语义层检查核心图谱关系是否被保留，数据层核对控件绑定与 OPC UA 数据帧是否一致，运行时层则检查组件注册、方法引用和表达式格式等静态可渲染性。验证报告通过 fatal、error、warning 和 info 区分问题严重程度，并结合综合可信度评分给出 A 到 D 的质量等级。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下面说明问题与后续计划。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目前问题主要集中在三方面。第一，知识补全对中英文混用、厂商缩写和行业别名仍不够稳定，未知字段可能挂到错误父组件，进而影响后续页面层级。第二，Schema生成质量评价还需要细化，不能只看验证是否通过，还要加入质量评价，形成优化评分细则，关注结构清晰度、控件合理性、命名一致性和文件可维护性。第三，验证报告对提示类问题解释还不够直观，动态运行场景覆盖不足，后续需要补充问题来源、影响范围和处理建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后续工作围绕设备扩展、Schema质量优化和动态验证推进。设备侧从当前六类扩展到注塑机、冲压机、检测设备等场景，补充知识图谱三元组和字段术语规范；生成侧完善质量评价方法，把结构、语义、数据绑定和可维护性纳入优化评分细则；验证侧补充连续刷新、异步更新、按钮可用性和异常值输入检查。通过这些工作，后续论文实验可以更清楚地说明系统泛化能力、生成质量和运行可信度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200"/>
              <a:t>我的汇报结束，请老师指正。</a:t>
            </a:r>
            <a:endParaRPr lang="zh-CN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F711DA-82CB-44C8-99EC-9CE596A896F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36CA-A6C4-4358-AF93-5CCBD70D248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537B7A-7510-410A-AA53-45D600DA0276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microsoft.com/office/2007/relationships/media" Target="../media/media1.mp3"/><Relationship Id="rId8" Type="http://schemas.openxmlformats.org/officeDocument/2006/relationships/audio" Target="../media/media1.mp3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1.pn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3.png"/><Relationship Id="rId10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image" Target="../media/image5.png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tags" Target="../tags/tag33.xml"/><Relationship Id="rId7" Type="http://schemas.openxmlformats.org/officeDocument/2006/relationships/tags" Target="../tags/tag32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0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4.png"/><Relationship Id="rId3" Type="http://schemas.openxmlformats.org/officeDocument/2006/relationships/tags" Target="../tags/tag35.xml"/><Relationship Id="rId2" Type="http://schemas.openxmlformats.org/officeDocument/2006/relationships/image" Target="../media/image13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8.xml"/><Relationship Id="rId2" Type="http://schemas.openxmlformats.org/officeDocument/2006/relationships/image" Target="../media/image19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image" Target="../media/image5.png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8" Type="http://schemas.openxmlformats.org/officeDocument/2006/relationships/notesSlide" Target="../notesSlides/notesSlide18.xml"/><Relationship Id="rId17" Type="http://schemas.openxmlformats.org/officeDocument/2006/relationships/slideLayout" Target="../slideLayouts/slideLayout7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39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5.xml"/><Relationship Id="rId2" Type="http://schemas.openxmlformats.org/officeDocument/2006/relationships/image" Target="../media/image1.png"/><Relationship Id="rId1" Type="http://schemas.openxmlformats.org/officeDocument/2006/relationships/tags" Target="../tags/tag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/>
          <p:cNvPicPr/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6024000" y="-3032194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/>
          <p:cNvPicPr/>
          <p:nvPr>
            <p:custDataLst>
              <p:tags r:id="rId3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6024001" y="-127232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2204967"/>
            <a:ext cx="12192000" cy="28613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057910" y="3221355"/>
            <a:ext cx="100755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面向工业软件的零代码智能化构建平台研究</a:t>
            </a:r>
            <a:endParaRPr lang="zh-CN" altLang="en-US" sz="400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6"/>
          <p:cNvSpPr txBox="1"/>
          <p:nvPr>
            <p:custDataLst>
              <p:tags r:id="rId4"/>
            </p:custDataLst>
          </p:nvPr>
        </p:nvSpPr>
        <p:spPr>
          <a:xfrm>
            <a:off x="3966595" y="5640243"/>
            <a:ext cx="1959610" cy="397510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</a:t>
            </a:r>
            <a:r>
              <a:rPr lang="zh-CN" altLang="en-US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刁浩宇</a:t>
            </a:r>
            <a:endParaRPr lang="zh-CN" altLang="en-US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7"/>
          <p:cNvSpPr txBox="1"/>
          <p:nvPr>
            <p:custDataLst>
              <p:tags r:id="rId5"/>
            </p:custDataLst>
          </p:nvPr>
        </p:nvSpPr>
        <p:spPr>
          <a:xfrm>
            <a:off x="7167911" y="5640242"/>
            <a:ext cx="1960245" cy="397510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答辩日期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6.22</a:t>
            </a:r>
            <a:endParaRPr lang="en-US" altLang="zh-CN" sz="20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Freeform 7"/>
          <p:cNvSpPr>
            <a:spLocks noChangeAspect="1" noEditPoints="1"/>
          </p:cNvSpPr>
          <p:nvPr>
            <p:custDataLst>
              <p:tags r:id="rId6"/>
            </p:custDataLst>
          </p:nvPr>
        </p:nvSpPr>
        <p:spPr bwMode="auto">
          <a:xfrm>
            <a:off x="3462450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8"/>
          <p:cNvSpPr>
            <a:spLocks noChangeAspect="1" noEditPoints="1"/>
          </p:cNvSpPr>
          <p:nvPr>
            <p:custDataLst>
              <p:tags r:id="rId7"/>
            </p:custDataLst>
          </p:nvPr>
        </p:nvSpPr>
        <p:spPr bwMode="auto">
          <a:xfrm>
            <a:off x="6561887" y="5607163"/>
            <a:ext cx="464288" cy="466246"/>
          </a:xfrm>
          <a:custGeom>
            <a:avLst/>
            <a:gdLst>
              <a:gd name="T0" fmla="*/ 422 w 422"/>
              <a:gd name="T1" fmla="*/ 211 h 422"/>
              <a:gd name="T2" fmla="*/ 0 w 422"/>
              <a:gd name="T3" fmla="*/ 211 h 422"/>
              <a:gd name="T4" fmla="*/ 340 w 422"/>
              <a:gd name="T5" fmla="*/ 117 h 422"/>
              <a:gd name="T6" fmla="*/ 345 w 422"/>
              <a:gd name="T7" fmla="*/ 123 h 422"/>
              <a:gd name="T8" fmla="*/ 344 w 422"/>
              <a:gd name="T9" fmla="*/ 226 h 422"/>
              <a:gd name="T10" fmla="*/ 340 w 422"/>
              <a:gd name="T11" fmla="*/ 227 h 422"/>
              <a:gd name="T12" fmla="*/ 217 w 422"/>
              <a:gd name="T13" fmla="*/ 226 h 422"/>
              <a:gd name="T14" fmla="*/ 215 w 422"/>
              <a:gd name="T15" fmla="*/ 222 h 422"/>
              <a:gd name="T16" fmla="*/ 286 w 422"/>
              <a:gd name="T17" fmla="*/ 164 h 422"/>
              <a:gd name="T18" fmla="*/ 215 w 422"/>
              <a:gd name="T19" fmla="*/ 171 h 422"/>
              <a:gd name="T20" fmla="*/ 217 w 422"/>
              <a:gd name="T21" fmla="*/ 119 h 422"/>
              <a:gd name="T22" fmla="*/ 220 w 422"/>
              <a:gd name="T23" fmla="*/ 117 h 422"/>
              <a:gd name="T24" fmla="*/ 220 w 422"/>
              <a:gd name="T25" fmla="*/ 96 h 422"/>
              <a:gd name="T26" fmla="*/ 202 w 422"/>
              <a:gd name="T27" fmla="*/ 104 h 422"/>
              <a:gd name="T28" fmla="*/ 194 w 422"/>
              <a:gd name="T29" fmla="*/ 174 h 422"/>
              <a:gd name="T30" fmla="*/ 186 w 422"/>
              <a:gd name="T31" fmla="*/ 166 h 422"/>
              <a:gd name="T32" fmla="*/ 137 w 422"/>
              <a:gd name="T33" fmla="*/ 151 h 422"/>
              <a:gd name="T34" fmla="*/ 54 w 422"/>
              <a:gd name="T35" fmla="*/ 173 h 422"/>
              <a:gd name="T36" fmla="*/ 77 w 422"/>
              <a:gd name="T37" fmla="*/ 243 h 422"/>
              <a:gd name="T38" fmla="*/ 81 w 422"/>
              <a:gd name="T39" fmla="*/ 192 h 422"/>
              <a:gd name="T40" fmla="*/ 81 w 422"/>
              <a:gd name="T41" fmla="*/ 256 h 422"/>
              <a:gd name="T42" fmla="*/ 106 w 422"/>
              <a:gd name="T43" fmla="*/ 350 h 422"/>
              <a:gd name="T44" fmla="*/ 112 w 422"/>
              <a:gd name="T45" fmla="*/ 272 h 422"/>
              <a:gd name="T46" fmla="*/ 137 w 422"/>
              <a:gd name="T47" fmla="*/ 350 h 422"/>
              <a:gd name="T48" fmla="*/ 137 w 422"/>
              <a:gd name="T49" fmla="*/ 256 h 422"/>
              <a:gd name="T50" fmla="*/ 137 w 422"/>
              <a:gd name="T51" fmla="*/ 192 h 422"/>
              <a:gd name="T52" fmla="*/ 162 w 422"/>
              <a:gd name="T53" fmla="*/ 192 h 422"/>
              <a:gd name="T54" fmla="*/ 186 w 422"/>
              <a:gd name="T55" fmla="*/ 185 h 422"/>
              <a:gd name="T56" fmla="*/ 194 w 422"/>
              <a:gd name="T57" fmla="*/ 222 h 422"/>
              <a:gd name="T58" fmla="*/ 202 w 422"/>
              <a:gd name="T59" fmla="*/ 240 h 422"/>
              <a:gd name="T60" fmla="*/ 220 w 422"/>
              <a:gd name="T61" fmla="*/ 248 h 422"/>
              <a:gd name="T62" fmla="*/ 359 w 422"/>
              <a:gd name="T63" fmla="*/ 240 h 422"/>
              <a:gd name="T64" fmla="*/ 366 w 422"/>
              <a:gd name="T65" fmla="*/ 222 h 422"/>
              <a:gd name="T66" fmla="*/ 359 w 422"/>
              <a:gd name="T67" fmla="*/ 104 h 422"/>
              <a:gd name="T68" fmla="*/ 220 w 422"/>
              <a:gd name="T69" fmla="*/ 96 h 422"/>
              <a:gd name="T70" fmla="*/ 344 w 422"/>
              <a:gd name="T71" fmla="*/ 277 h 422"/>
              <a:gd name="T72" fmla="*/ 346 w 422"/>
              <a:gd name="T73" fmla="*/ 351 h 422"/>
              <a:gd name="T74" fmla="*/ 298 w 422"/>
              <a:gd name="T75" fmla="*/ 277 h 422"/>
              <a:gd name="T76" fmla="*/ 250 w 422"/>
              <a:gd name="T77" fmla="*/ 351 h 422"/>
              <a:gd name="T78" fmla="*/ 244 w 422"/>
              <a:gd name="T79" fmla="*/ 277 h 422"/>
              <a:gd name="T80" fmla="*/ 221 w 422"/>
              <a:gd name="T81" fmla="*/ 254 h 422"/>
              <a:gd name="T82" fmla="*/ 109 w 422"/>
              <a:gd name="T83" fmla="*/ 75 h 422"/>
              <a:gd name="T84" fmla="*/ 109 w 422"/>
              <a:gd name="T85" fmla="*/ 146 h 422"/>
              <a:gd name="T86" fmla="*/ 109 w 422"/>
              <a:gd name="T87" fmla="*/ 75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22" h="422">
                <a:moveTo>
                  <a:pt x="211" y="0"/>
                </a:moveTo>
                <a:cubicBezTo>
                  <a:pt x="327" y="0"/>
                  <a:pt x="422" y="94"/>
                  <a:pt x="422" y="211"/>
                </a:cubicBezTo>
                <a:cubicBezTo>
                  <a:pt x="422" y="327"/>
                  <a:pt x="327" y="422"/>
                  <a:pt x="211" y="422"/>
                </a:cubicBezTo>
                <a:cubicBezTo>
                  <a:pt x="94" y="422"/>
                  <a:pt x="0" y="327"/>
                  <a:pt x="0" y="211"/>
                </a:cubicBezTo>
                <a:cubicBezTo>
                  <a:pt x="0" y="94"/>
                  <a:pt x="94" y="0"/>
                  <a:pt x="211" y="0"/>
                </a:cubicBezTo>
                <a:close/>
                <a:moveTo>
                  <a:pt x="340" y="117"/>
                </a:moveTo>
                <a:cubicBezTo>
                  <a:pt x="341" y="117"/>
                  <a:pt x="343" y="118"/>
                  <a:pt x="344" y="119"/>
                </a:cubicBezTo>
                <a:cubicBezTo>
                  <a:pt x="345" y="120"/>
                  <a:pt x="345" y="121"/>
                  <a:pt x="345" y="123"/>
                </a:cubicBezTo>
                <a:lnTo>
                  <a:pt x="345" y="222"/>
                </a:lnTo>
                <a:cubicBezTo>
                  <a:pt x="345" y="223"/>
                  <a:pt x="345" y="225"/>
                  <a:pt x="344" y="226"/>
                </a:cubicBezTo>
                <a:lnTo>
                  <a:pt x="344" y="226"/>
                </a:lnTo>
                <a:cubicBezTo>
                  <a:pt x="343" y="227"/>
                  <a:pt x="341" y="227"/>
                  <a:pt x="340" y="227"/>
                </a:cubicBezTo>
                <a:lnTo>
                  <a:pt x="220" y="227"/>
                </a:lnTo>
                <a:cubicBezTo>
                  <a:pt x="219" y="227"/>
                  <a:pt x="218" y="227"/>
                  <a:pt x="217" y="226"/>
                </a:cubicBezTo>
                <a:lnTo>
                  <a:pt x="217" y="226"/>
                </a:lnTo>
                <a:cubicBezTo>
                  <a:pt x="216" y="225"/>
                  <a:pt x="215" y="223"/>
                  <a:pt x="215" y="222"/>
                </a:cubicBezTo>
                <a:lnTo>
                  <a:pt x="215" y="179"/>
                </a:lnTo>
                <a:lnTo>
                  <a:pt x="286" y="164"/>
                </a:lnTo>
                <a:lnTo>
                  <a:pt x="286" y="162"/>
                </a:lnTo>
                <a:lnTo>
                  <a:pt x="215" y="171"/>
                </a:lnTo>
                <a:lnTo>
                  <a:pt x="215" y="123"/>
                </a:lnTo>
                <a:cubicBezTo>
                  <a:pt x="215" y="121"/>
                  <a:pt x="216" y="120"/>
                  <a:pt x="217" y="119"/>
                </a:cubicBezTo>
                <a:lnTo>
                  <a:pt x="217" y="119"/>
                </a:lnTo>
                <a:cubicBezTo>
                  <a:pt x="218" y="118"/>
                  <a:pt x="219" y="117"/>
                  <a:pt x="220" y="117"/>
                </a:cubicBezTo>
                <a:lnTo>
                  <a:pt x="340" y="117"/>
                </a:lnTo>
                <a:close/>
                <a:moveTo>
                  <a:pt x="220" y="96"/>
                </a:moveTo>
                <a:cubicBezTo>
                  <a:pt x="213" y="96"/>
                  <a:pt x="206" y="99"/>
                  <a:pt x="202" y="104"/>
                </a:cubicBezTo>
                <a:lnTo>
                  <a:pt x="202" y="104"/>
                </a:lnTo>
                <a:cubicBezTo>
                  <a:pt x="197" y="109"/>
                  <a:pt x="194" y="115"/>
                  <a:pt x="194" y="123"/>
                </a:cubicBezTo>
                <a:lnTo>
                  <a:pt x="194" y="174"/>
                </a:lnTo>
                <a:lnTo>
                  <a:pt x="186" y="175"/>
                </a:lnTo>
                <a:lnTo>
                  <a:pt x="186" y="166"/>
                </a:lnTo>
                <a:lnTo>
                  <a:pt x="162" y="166"/>
                </a:lnTo>
                <a:lnTo>
                  <a:pt x="137" y="151"/>
                </a:lnTo>
                <a:lnTo>
                  <a:pt x="77" y="151"/>
                </a:lnTo>
                <a:cubicBezTo>
                  <a:pt x="64" y="151"/>
                  <a:pt x="54" y="161"/>
                  <a:pt x="54" y="173"/>
                </a:cubicBezTo>
                <a:lnTo>
                  <a:pt x="54" y="243"/>
                </a:lnTo>
                <a:lnTo>
                  <a:pt x="77" y="243"/>
                </a:lnTo>
                <a:lnTo>
                  <a:pt x="77" y="192"/>
                </a:lnTo>
                <a:lnTo>
                  <a:pt x="81" y="192"/>
                </a:lnTo>
                <a:lnTo>
                  <a:pt x="81" y="243"/>
                </a:lnTo>
                <a:lnTo>
                  <a:pt x="81" y="256"/>
                </a:lnTo>
                <a:lnTo>
                  <a:pt x="81" y="350"/>
                </a:lnTo>
                <a:lnTo>
                  <a:pt x="106" y="350"/>
                </a:lnTo>
                <a:lnTo>
                  <a:pt x="106" y="272"/>
                </a:lnTo>
                <a:lnTo>
                  <a:pt x="112" y="272"/>
                </a:lnTo>
                <a:lnTo>
                  <a:pt x="112" y="350"/>
                </a:lnTo>
                <a:lnTo>
                  <a:pt x="137" y="350"/>
                </a:lnTo>
                <a:lnTo>
                  <a:pt x="137" y="336"/>
                </a:lnTo>
                <a:lnTo>
                  <a:pt x="137" y="256"/>
                </a:lnTo>
                <a:lnTo>
                  <a:pt x="137" y="243"/>
                </a:lnTo>
                <a:lnTo>
                  <a:pt x="137" y="192"/>
                </a:lnTo>
                <a:lnTo>
                  <a:pt x="137" y="177"/>
                </a:lnTo>
                <a:lnTo>
                  <a:pt x="162" y="192"/>
                </a:lnTo>
                <a:lnTo>
                  <a:pt x="186" y="192"/>
                </a:lnTo>
                <a:lnTo>
                  <a:pt x="186" y="185"/>
                </a:lnTo>
                <a:lnTo>
                  <a:pt x="194" y="184"/>
                </a:lnTo>
                <a:lnTo>
                  <a:pt x="194" y="222"/>
                </a:lnTo>
                <a:cubicBezTo>
                  <a:pt x="194" y="229"/>
                  <a:pt x="197" y="236"/>
                  <a:pt x="202" y="240"/>
                </a:cubicBezTo>
                <a:lnTo>
                  <a:pt x="202" y="240"/>
                </a:lnTo>
                <a:lnTo>
                  <a:pt x="202" y="241"/>
                </a:lnTo>
                <a:cubicBezTo>
                  <a:pt x="207" y="245"/>
                  <a:pt x="213" y="248"/>
                  <a:pt x="220" y="248"/>
                </a:cubicBezTo>
                <a:lnTo>
                  <a:pt x="340" y="248"/>
                </a:lnTo>
                <a:cubicBezTo>
                  <a:pt x="347" y="248"/>
                  <a:pt x="354" y="245"/>
                  <a:pt x="359" y="240"/>
                </a:cubicBezTo>
                <a:lnTo>
                  <a:pt x="359" y="241"/>
                </a:lnTo>
                <a:cubicBezTo>
                  <a:pt x="363" y="236"/>
                  <a:pt x="366" y="229"/>
                  <a:pt x="366" y="222"/>
                </a:cubicBezTo>
                <a:lnTo>
                  <a:pt x="366" y="123"/>
                </a:lnTo>
                <a:cubicBezTo>
                  <a:pt x="366" y="115"/>
                  <a:pt x="363" y="109"/>
                  <a:pt x="359" y="104"/>
                </a:cubicBezTo>
                <a:cubicBezTo>
                  <a:pt x="354" y="99"/>
                  <a:pt x="347" y="96"/>
                  <a:pt x="340" y="96"/>
                </a:cubicBezTo>
                <a:lnTo>
                  <a:pt x="220" y="96"/>
                </a:lnTo>
                <a:close/>
                <a:moveTo>
                  <a:pt x="344" y="254"/>
                </a:moveTo>
                <a:lnTo>
                  <a:pt x="344" y="277"/>
                </a:lnTo>
                <a:lnTo>
                  <a:pt x="325" y="277"/>
                </a:lnTo>
                <a:lnTo>
                  <a:pt x="346" y="351"/>
                </a:lnTo>
                <a:lnTo>
                  <a:pt x="319" y="351"/>
                </a:lnTo>
                <a:lnTo>
                  <a:pt x="298" y="277"/>
                </a:lnTo>
                <a:lnTo>
                  <a:pt x="271" y="277"/>
                </a:lnTo>
                <a:lnTo>
                  <a:pt x="250" y="351"/>
                </a:lnTo>
                <a:lnTo>
                  <a:pt x="223" y="351"/>
                </a:lnTo>
                <a:lnTo>
                  <a:pt x="244" y="277"/>
                </a:lnTo>
                <a:lnTo>
                  <a:pt x="221" y="277"/>
                </a:lnTo>
                <a:lnTo>
                  <a:pt x="221" y="254"/>
                </a:lnTo>
                <a:lnTo>
                  <a:pt x="344" y="254"/>
                </a:lnTo>
                <a:close/>
                <a:moveTo>
                  <a:pt x="109" y="75"/>
                </a:moveTo>
                <a:cubicBezTo>
                  <a:pt x="129" y="75"/>
                  <a:pt x="145" y="91"/>
                  <a:pt x="145" y="111"/>
                </a:cubicBezTo>
                <a:cubicBezTo>
                  <a:pt x="145" y="130"/>
                  <a:pt x="129" y="146"/>
                  <a:pt x="109" y="146"/>
                </a:cubicBezTo>
                <a:cubicBezTo>
                  <a:pt x="90" y="146"/>
                  <a:pt x="74" y="130"/>
                  <a:pt x="74" y="111"/>
                </a:cubicBezTo>
                <a:cubicBezTo>
                  <a:pt x="74" y="91"/>
                  <a:pt x="90" y="75"/>
                  <a:pt x="109" y="7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 sz="2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Florian Bur - The Way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 cstate="print"/>
          <a:stretch>
            <a:fillRect/>
          </a:stretch>
        </p:blipFill>
        <p:spPr>
          <a:xfrm>
            <a:off x="-609600" y="6311900"/>
            <a:ext cx="406400" cy="4064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3959" y="591560"/>
            <a:ext cx="4624081" cy="12844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" presetClass="entr" presetSubtype="8" decel="533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2" decel="533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3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8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3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8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100000" numSld="100">
                <p:cTn id="46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8" grpId="0" animBg="1"/>
      <p:bldP spid="15" grpId="0"/>
      <p:bldP spid="13" grpId="0"/>
      <p:bldP spid="14" grpId="0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/>
        </p:nvSpPr>
        <p:spPr>
          <a:xfrm>
            <a:off x="-1791046" y="1892300"/>
            <a:ext cx="5651845" cy="3073400"/>
          </a:xfrm>
          <a:prstGeom prst="roundRect">
            <a:avLst>
              <a:gd name="adj" fmla="val 50000"/>
            </a:avLst>
          </a:prstGeom>
          <a:solidFill>
            <a:srgbClr val="9CC5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-1556426" y="1998319"/>
            <a:ext cx="5261917" cy="2861362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>
            <p:custDataLst>
              <p:tags r:id="rId1"/>
            </p:custDataLst>
          </p:nvPr>
        </p:nvSpPr>
        <p:spPr>
          <a:xfrm>
            <a:off x="5642044" y="217549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01</a:t>
            </a:r>
            <a:endParaRPr lang="zh-CN" altLang="en-US" b="1" dirty="0"/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5642044" y="3143417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02</a:t>
            </a:r>
            <a:endParaRPr lang="zh-CN" altLang="en-US" b="1" dirty="0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5642044" y="4111342"/>
            <a:ext cx="911156" cy="577144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 smtClean="0"/>
              <a:t>03</a:t>
            </a:r>
            <a:endParaRPr lang="zh-CN" altLang="en-US" b="1" dirty="0"/>
          </a:p>
        </p:txBody>
      </p:sp>
      <p:sp>
        <p:nvSpPr>
          <p:cNvPr id="59" name="圆角矩形 58"/>
          <p:cNvSpPr/>
          <p:nvPr>
            <p:custDataLst>
              <p:tags r:id="rId4"/>
            </p:custDataLst>
          </p:nvPr>
        </p:nvSpPr>
        <p:spPr>
          <a:xfrm>
            <a:off x="6746944" y="217549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 smtClean="0"/>
              <a:t>研究背景与</a:t>
            </a:r>
            <a:r>
              <a:rPr lang="zh-CN" altLang="en-US" sz="2000" b="1" dirty="0" smtClean="0"/>
              <a:t>目标</a:t>
            </a:r>
            <a:endParaRPr lang="zh-CN" altLang="en-US" sz="2000" b="1" dirty="0" smtClean="0"/>
          </a:p>
        </p:txBody>
      </p:sp>
      <p:sp>
        <p:nvSpPr>
          <p:cNvPr id="60" name="圆角矩形 59"/>
          <p:cNvSpPr/>
          <p:nvPr>
            <p:custDataLst>
              <p:tags r:id="rId5"/>
            </p:custDataLst>
          </p:nvPr>
        </p:nvSpPr>
        <p:spPr>
          <a:xfrm>
            <a:off x="6746944" y="3143417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已完成研究工作</a:t>
            </a:r>
            <a:endParaRPr lang="zh-CN" altLang="en-US" sz="2000" b="1" dirty="0"/>
          </a:p>
        </p:txBody>
      </p:sp>
      <p:sp>
        <p:nvSpPr>
          <p:cNvPr id="61" name="圆角矩形 60"/>
          <p:cNvSpPr/>
          <p:nvPr>
            <p:custDataLst>
              <p:tags r:id="rId6"/>
            </p:custDataLst>
          </p:nvPr>
        </p:nvSpPr>
        <p:spPr>
          <a:xfrm>
            <a:off x="6746944" y="4111342"/>
            <a:ext cx="3476556" cy="577144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/>
              <a:t>问题与后续计划</a:t>
            </a:r>
            <a:endParaRPr lang="zh-CN" altLang="en-US" sz="2000" b="1" dirty="0"/>
          </a:p>
        </p:txBody>
      </p:sp>
      <p:sp>
        <p:nvSpPr>
          <p:cNvPr id="64" name="TextBox 78"/>
          <p:cNvSpPr txBox="1"/>
          <p:nvPr/>
        </p:nvSpPr>
        <p:spPr>
          <a:xfrm>
            <a:off x="565975" y="3733289"/>
            <a:ext cx="2063385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665" b="1" dirty="0">
                <a:solidFill>
                  <a:schemeClr val="bg1"/>
                </a:solidFill>
                <a:latin typeface="Impact MT Std" pitchFamily="34" charset="0"/>
                <a:ea typeface="微软雅黑" panose="020B0503020204020204" pitchFamily="34" charset="-122"/>
              </a:rPr>
              <a:t>CONTENTS</a:t>
            </a:r>
            <a:endParaRPr lang="zh-CN" altLang="en-US" sz="2665" b="1" dirty="0">
              <a:solidFill>
                <a:schemeClr val="bg1"/>
              </a:solidFill>
              <a:latin typeface="Impact MT Std" pitchFamily="34" charset="0"/>
              <a:ea typeface="微软雅黑" panose="020B0503020204020204" pitchFamily="34" charset="-122"/>
            </a:endParaRPr>
          </a:p>
        </p:txBody>
      </p:sp>
      <p:sp>
        <p:nvSpPr>
          <p:cNvPr id="65" name="TextBox 79"/>
          <p:cNvSpPr txBox="1"/>
          <p:nvPr/>
        </p:nvSpPr>
        <p:spPr>
          <a:xfrm>
            <a:off x="641317" y="2677173"/>
            <a:ext cx="1912703" cy="995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865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zh-CN" altLang="en-US" sz="5865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533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2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" grpId="0" animBg="1"/>
      <p:bldP spid="5" grpId="0" bldLvl="0" animBg="1"/>
      <p:bldP spid="6" grpId="0" bldLvl="0" animBg="1"/>
      <p:bldP spid="7" grpId="0" bldLvl="0" animBg="1"/>
      <p:bldP spid="59" grpId="0" bldLvl="0" animBg="1"/>
      <p:bldP spid="60" grpId="0" bldLvl="0" animBg="1"/>
      <p:bldP spid="61" grpId="0" bldLvl="0" animBg="1"/>
      <p:bldP spid="64" grpId="0"/>
      <p:bldP spid="6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9CC5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491220" y="3502820"/>
            <a:ext cx="11963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Part.01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27401" y="4789616"/>
            <a:ext cx="5537198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lang="zh-CN" altLang="en-US" sz="4000" b="1" spc="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345" y="1592254"/>
            <a:ext cx="3943455" cy="922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2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1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8" grpId="0"/>
          <p:bldP spid="9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1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8" grpId="0"/>
          <p:bldP spid="9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>
            <p:custDataLst>
              <p:tags r:id="rId1"/>
            </p:custDataLst>
          </p:nvPr>
        </p:nvSpPr>
        <p:spPr>
          <a:xfrm>
            <a:off x="3232150" y="0"/>
            <a:ext cx="1781175" cy="7918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>
            <p:custDataLst>
              <p:tags r:id="rId2"/>
            </p:custDataLst>
          </p:nvPr>
        </p:nvSpPr>
        <p:spPr>
          <a:xfrm>
            <a:off x="3375025" y="215900"/>
            <a:ext cx="152273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>
            <p:custDataLst>
              <p:tags r:id="rId3"/>
            </p:custDataLst>
          </p:nvPr>
        </p:nvSpPr>
        <p:spPr>
          <a:xfrm>
            <a:off x="5203825" y="215900"/>
            <a:ext cx="145415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已完成研究工作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>
            <p:custDataLst>
              <p:tags r:id="rId4"/>
            </p:custDataLst>
          </p:nvPr>
        </p:nvSpPr>
        <p:spPr>
          <a:xfrm>
            <a:off x="7033895" y="213995"/>
            <a:ext cx="170878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问题与后续计划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5"/>
            </p:custDataLst>
          </p:nvPr>
        </p:nvCxnSpPr>
        <p:spPr>
          <a:xfrm>
            <a:off x="6854919" y="283187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78" y="59069"/>
            <a:ext cx="2425903" cy="673862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440180" y="1869440"/>
            <a:ext cx="931164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chemeClr val="tx1"/>
                </a:solidFill>
                <a:latin typeface="微软雅黑" panose="020B0503020204020204" pitchFamily="34" charset="-122"/>
              </a:rPr>
              <a:t>传统工业软件依赖定制开发，周期长、成本高、维护困难；零代码平台降低了页面搭建门槛，但前提是系统必须先理解工业设备数据的真实语义。</a:t>
            </a:r>
            <a:endParaRPr sz="1600" b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52" name="学论网-矩形 1"/>
          <p:cNvSpPr/>
          <p:nvPr/>
        </p:nvSpPr>
        <p:spPr>
          <a:xfrm>
            <a:off x="697865" y="2578735"/>
            <a:ext cx="2534285" cy="3509010"/>
          </a:xfrm>
          <a:prstGeom prst="rect">
            <a:avLst/>
          </a:prstGeom>
          <a:noFill/>
          <a:ln w="12700" cap="flat" cmpd="sng" algn="ctr">
            <a:solidFill>
              <a:srgbClr val="448AD7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3" name="学论网-矩形 1"/>
          <p:cNvSpPr/>
          <p:nvPr>
            <p:custDataLst>
              <p:tags r:id="rId7"/>
            </p:custDataLst>
          </p:nvPr>
        </p:nvSpPr>
        <p:spPr>
          <a:xfrm>
            <a:off x="3401060" y="2578735"/>
            <a:ext cx="2534285" cy="3509010"/>
          </a:xfrm>
          <a:prstGeom prst="rect">
            <a:avLst/>
          </a:prstGeom>
          <a:noFill/>
          <a:ln w="12700" cap="flat" cmpd="sng" algn="ctr">
            <a:solidFill>
              <a:srgbClr val="448AD7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4" name="学论网-矩形 1"/>
          <p:cNvSpPr/>
          <p:nvPr>
            <p:custDataLst>
              <p:tags r:id="rId8"/>
            </p:custDataLst>
          </p:nvPr>
        </p:nvSpPr>
        <p:spPr>
          <a:xfrm>
            <a:off x="6104255" y="2578735"/>
            <a:ext cx="2534285" cy="3509010"/>
          </a:xfrm>
          <a:prstGeom prst="rect">
            <a:avLst/>
          </a:prstGeom>
          <a:noFill/>
          <a:ln w="12700" cap="flat" cmpd="sng" algn="ctr">
            <a:solidFill>
              <a:srgbClr val="448AD7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5" name="学论网-www.xuelun.me"/>
          <p:cNvSpPr txBox="1"/>
          <p:nvPr/>
        </p:nvSpPr>
        <p:spPr>
          <a:xfrm>
            <a:off x="877570" y="2679065"/>
            <a:ext cx="2127250" cy="2435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设备数据异构</a:t>
            </a:r>
            <a:endParaRPr lang="en-US" altLang="zh-CN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不同厂家、不同设备的 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OPC UA 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节点命名和结构差异明显，字段含义不能靠简单字符串规则稳定判断。</a:t>
            </a:r>
            <a:endParaRPr lang="zh-CN" alt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zh-CN" alt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学论网-www.xuelun.me"/>
          <p:cNvSpPr txBox="1"/>
          <p:nvPr>
            <p:custDataLst>
              <p:tags r:id="rId9"/>
            </p:custDataLst>
          </p:nvPr>
        </p:nvSpPr>
        <p:spPr>
          <a:xfrm>
            <a:off x="3580765" y="2679065"/>
            <a:ext cx="2127250" cy="2435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开放知识补全</a:t>
            </a:r>
            <a:endParaRPr lang="zh-CN" altLang="en-US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ctr" fontAlgn="auto" latinLnBrk="1"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现场设备可能不断出现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的新传感器、扩展模块和自定义字段到 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 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的多阶段映射中，核心关系容易丢失。</a:t>
            </a:r>
            <a:endParaRPr lang="zh-CN" alt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学论网-www.xuelun.me"/>
          <p:cNvSpPr txBox="1"/>
          <p:nvPr>
            <p:custDataLst>
              <p:tags r:id="rId10"/>
            </p:custDataLst>
          </p:nvPr>
        </p:nvSpPr>
        <p:spPr>
          <a:xfrm>
            <a:off x="6261735" y="2688590"/>
            <a:ext cx="2218690" cy="2435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多阶段语义一致</a:t>
            </a:r>
            <a:endParaRPr lang="zh-CN" altLang="en-US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多次转换的链路中如何保证核心语义关系不丢失，如层级关系、描述关系、功能关系等</a:t>
            </a:r>
            <a:r>
              <a:rPr 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语义信息。</a:t>
            </a:r>
            <a:endParaRPr lang="zh-CN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学论网-矩形 1"/>
          <p:cNvSpPr/>
          <p:nvPr>
            <p:custDataLst>
              <p:tags r:id="rId11"/>
            </p:custDataLst>
          </p:nvPr>
        </p:nvSpPr>
        <p:spPr>
          <a:xfrm>
            <a:off x="8807450" y="2578735"/>
            <a:ext cx="2534285" cy="3509010"/>
          </a:xfrm>
          <a:prstGeom prst="rect">
            <a:avLst/>
          </a:prstGeom>
          <a:noFill/>
          <a:ln w="12700" cap="flat" cmpd="sng" algn="ctr">
            <a:solidFill>
              <a:srgbClr val="448AD7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" name="学论网-www.xuelun.me"/>
          <p:cNvSpPr txBox="1"/>
          <p:nvPr>
            <p:custDataLst>
              <p:tags r:id="rId12"/>
            </p:custDataLst>
          </p:nvPr>
        </p:nvSpPr>
        <p:spPr>
          <a:xfrm>
            <a:off x="8987790" y="2679065"/>
            <a:ext cx="2127250" cy="24358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可信验证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</a:t>
            </a:r>
            <a:endParaRPr lang="zh-CN" altLang="en-US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保证组件树结构合法、数据绑定一致、语义映射准确、运行时可用。若缺少分层验证机制，生成结果可能格式正确但无法稳定渲染或可靠运行。</a:t>
            </a:r>
            <a:endParaRPr lang="zh-CN" alt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8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 altLang="en-US" sz="1865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decel="533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decel="533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52" grpId="0" bldLvl="0" animBg="1"/>
      <p:bldP spid="53" grpId="0" bldLvl="0" animBg="1"/>
      <p:bldP spid="54" grpId="0" bldLvl="0" animBg="1"/>
      <p:bldP spid="55" grpId="0"/>
      <p:bldP spid="56" grpId="0"/>
      <p:bldP spid="57" grpId="0"/>
      <p:bldP spid="4" grpId="0" bldLvl="0" animBg="1"/>
      <p:bldP spid="5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>
            <p:custDataLst>
              <p:tags r:id="rId1"/>
            </p:custDataLst>
          </p:nvPr>
        </p:nvSpPr>
        <p:spPr>
          <a:xfrm>
            <a:off x="3232150" y="0"/>
            <a:ext cx="1781175" cy="7918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>
            <p:custDataLst>
              <p:tags r:id="rId2"/>
            </p:custDataLst>
          </p:nvPr>
        </p:nvSpPr>
        <p:spPr>
          <a:xfrm>
            <a:off x="3375025" y="215900"/>
            <a:ext cx="1522730" cy="58737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>
            <p:custDataLst>
              <p:tags r:id="rId3"/>
            </p:custDataLst>
          </p:nvPr>
        </p:nvSpPr>
        <p:spPr>
          <a:xfrm>
            <a:off x="5203825" y="215900"/>
            <a:ext cx="145415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已完成研究工作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>
            <p:custDataLst>
              <p:tags r:id="rId4"/>
            </p:custDataLst>
          </p:nvPr>
        </p:nvSpPr>
        <p:spPr>
          <a:xfrm>
            <a:off x="7033895" y="213995"/>
            <a:ext cx="170878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问题与后续计划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5"/>
            </p:custDataLst>
          </p:nvPr>
        </p:nvCxnSpPr>
        <p:spPr>
          <a:xfrm>
            <a:off x="6854919" y="283187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78" y="59069"/>
            <a:ext cx="2425903" cy="673862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480308" y="1379992"/>
            <a:ext cx="1283075" cy="4860235"/>
            <a:chOff x="1763643" y="1731147"/>
            <a:chExt cx="1283075" cy="4860235"/>
          </a:xfrm>
        </p:grpSpPr>
        <p:sp>
          <p:nvSpPr>
            <p:cNvPr id="37" name="学论网-www.xuelun.me"/>
            <p:cNvSpPr/>
            <p:nvPr/>
          </p:nvSpPr>
          <p:spPr>
            <a:xfrm rot="5400000">
              <a:off x="1763643" y="1731147"/>
              <a:ext cx="1283075" cy="1283075"/>
            </a:xfrm>
            <a:prstGeom prst="blockArc">
              <a:avLst>
                <a:gd name="adj1" fmla="val 10800000"/>
                <a:gd name="adj2" fmla="val 149699"/>
                <a:gd name="adj3" fmla="val 6982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学论网-www.xuelun.me"/>
            <p:cNvSpPr/>
            <p:nvPr/>
          </p:nvSpPr>
          <p:spPr>
            <a:xfrm rot="16200000" flipH="1">
              <a:off x="1763643" y="2922916"/>
              <a:ext cx="1283075" cy="1283075"/>
            </a:xfrm>
            <a:prstGeom prst="blockArc">
              <a:avLst>
                <a:gd name="adj1" fmla="val 10800000"/>
                <a:gd name="adj2" fmla="val 149699"/>
                <a:gd name="adj3" fmla="val 6982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学论网-www.xuelun.me"/>
            <p:cNvSpPr/>
            <p:nvPr/>
          </p:nvSpPr>
          <p:spPr>
            <a:xfrm rot="5400000">
              <a:off x="1763643" y="4116538"/>
              <a:ext cx="1283075" cy="1283075"/>
            </a:xfrm>
            <a:prstGeom prst="blockArc">
              <a:avLst>
                <a:gd name="adj1" fmla="val 10800000"/>
                <a:gd name="adj2" fmla="val 149699"/>
                <a:gd name="adj3" fmla="val 6982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学论网-www.xuelun.me"/>
            <p:cNvSpPr/>
            <p:nvPr/>
          </p:nvSpPr>
          <p:spPr>
            <a:xfrm rot="16200000" flipH="1">
              <a:off x="1763643" y="5308307"/>
              <a:ext cx="1283075" cy="1283075"/>
            </a:xfrm>
            <a:prstGeom prst="blockArc">
              <a:avLst>
                <a:gd name="adj1" fmla="val 10800000"/>
                <a:gd name="adj2" fmla="val 149699"/>
                <a:gd name="adj3" fmla="val 6982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学论网-www.xuelun.me"/>
          <p:cNvSpPr/>
          <p:nvPr/>
        </p:nvSpPr>
        <p:spPr>
          <a:xfrm>
            <a:off x="664645" y="1573341"/>
            <a:ext cx="914400" cy="9144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A.</a:t>
            </a:r>
            <a:endParaRPr lang="en-US" altLang="zh-CN" sz="3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学论网-www.xuelun.me"/>
          <p:cNvSpPr/>
          <p:nvPr/>
        </p:nvSpPr>
        <p:spPr>
          <a:xfrm>
            <a:off x="664645" y="2762503"/>
            <a:ext cx="914400" cy="9144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B.</a:t>
            </a:r>
            <a:endParaRPr lang="en-US" altLang="zh-CN" sz="3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学论网-www.xuelun.me"/>
          <p:cNvSpPr/>
          <p:nvPr/>
        </p:nvSpPr>
        <p:spPr>
          <a:xfrm>
            <a:off x="664645" y="3951665"/>
            <a:ext cx="914400" cy="9144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C.</a:t>
            </a:r>
            <a:endParaRPr lang="en-US" altLang="zh-CN" sz="3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学论网-www.xuelun.me"/>
          <p:cNvSpPr/>
          <p:nvPr/>
        </p:nvSpPr>
        <p:spPr>
          <a:xfrm>
            <a:off x="664645" y="5140827"/>
            <a:ext cx="914400" cy="9144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D.</a:t>
            </a:r>
            <a:endParaRPr lang="en-US" altLang="zh-CN" sz="32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学论网-www.xuelun.me"/>
          <p:cNvSpPr txBox="1"/>
          <p:nvPr/>
        </p:nvSpPr>
        <p:spPr>
          <a:xfrm>
            <a:off x="2104428" y="1380301"/>
            <a:ext cx="7572337" cy="110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面向不同工业设备字段命名差异大的问题，采用字符级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对设备数据帧进行建模，从字段名称中学习局部命名特征，实现设备类型自动识别。同时结合序列标注模型抽取组件、属性和操作等实体，为后续知识图谱构建提供结构化输入。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学论网-www.xuelun.me"/>
          <p:cNvSpPr txBox="1"/>
          <p:nvPr/>
        </p:nvSpPr>
        <p:spPr>
          <a:xfrm>
            <a:off x="2104428" y="2658363"/>
            <a:ext cx="7572337" cy="110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构建知识补全与信息模型生成方法。先对工业字段进行规范化处理，再利用子词语义表示和图谱结构推理对未知实体进行关系预测；随后将补全后的知识图谱转换为本体模型和信息模型，保持语义连续传递。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学论网-www.xuelun.me"/>
          <p:cNvSpPr txBox="1"/>
          <p:nvPr/>
        </p:nvSpPr>
        <p:spPr>
          <a:xfrm>
            <a:off x="2104428" y="3935988"/>
            <a:ext cx="7572337" cy="110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设备语义与实时数据融合的页面生成方法。将组件关系映射为页面层级结构，将属性和操作映射为对应控件，并进一步从布局结构、映射精度和文件体积等方面优化生成结果，提高页面结构清晰度和可用性。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学论网-www.xuelun.me"/>
          <p:cNvSpPr txBox="1"/>
          <p:nvPr/>
        </p:nvSpPr>
        <p:spPr>
          <a:xfrm>
            <a:off x="2104428" y="5141065"/>
            <a:ext cx="7572337" cy="110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搭建多层次可信验证方法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框架。围绕来源追溯、协议合规、结构完整、语义保真、数据一致和运行可用等维度进行检查，并建立综合可信度评分机制，对生成结果进行分级评价，为页面发布和修复提供依据。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学论网-www.xuelun.me"/>
          <p:cNvSpPr txBox="1"/>
          <p:nvPr/>
        </p:nvSpPr>
        <p:spPr>
          <a:xfrm>
            <a:off x="10201910" y="1379855"/>
            <a:ext cx="1763395" cy="50234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向端到端应用落地需求，集成设备识别、知识图谱构建、知识补全、信息模型生成、零代码页面生成和可信验证等模块。系统采用统一流程管理输入、模型、生成结果和验证报告，最终输出标准化模型文件、页面模式文件和质量评估结果。</a:t>
            </a:r>
            <a:endParaRPr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" grpId="0" bldLvl="0" animBg="1"/>
      <p:bldP spid="6" grpId="0" bldLvl="0" animBg="1"/>
      <p:bldP spid="7" grpId="0" bldLvl="0" animBg="1"/>
      <p:bldP spid="8" grpId="0" bldLvl="0" animBg="1"/>
      <p:bldP spid="9" grpId="0"/>
      <p:bldP spid="10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9CC5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491220" y="3502820"/>
            <a:ext cx="11963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Part.02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27401" y="4789616"/>
            <a:ext cx="5537198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已完成研究工作</a:t>
            </a:r>
            <a:endParaRPr lang="zh-CN" altLang="en-US" sz="4000" b="1" spc="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345" y="1592254"/>
            <a:ext cx="3943455" cy="922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2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1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ldLvl="0" animBg="1"/>
          <p:bldP spid="8" grpId="0"/>
          <p:bldP spid="9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1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ldLvl="0" animBg="1"/>
          <p:bldP spid="8" grpId="0"/>
          <p:bldP spid="9" grpId="0"/>
        </p:bldLst>
      </p:timing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5075555" y="0"/>
            <a:ext cx="1781175" cy="7918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5025" y="215900"/>
            <a:ext cx="152273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5238750" y="213995"/>
            <a:ext cx="145415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已完成研究工作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/>
        </p:nvSpPr>
        <p:spPr>
          <a:xfrm>
            <a:off x="7033895" y="213995"/>
            <a:ext cx="170878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问题与后续计划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78" y="59069"/>
            <a:ext cx="2425903" cy="673862"/>
          </a:xfrm>
          <a:prstGeom prst="rect">
            <a:avLst/>
          </a:prstGeom>
        </p:spPr>
      </p:pic>
      <p:pic>
        <p:nvPicPr>
          <p:cNvPr id="7" name="图片 7" descr="系统整体架构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838" y="1919923"/>
            <a:ext cx="5268595" cy="1127125"/>
          </a:xfrm>
          <a:prstGeom prst="rect">
            <a:avLst/>
          </a:prstGeom>
        </p:spPr>
      </p:pic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8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</a:t>
            </a:r>
            <a:r>
              <a:rPr lang="zh-CN" altLang="en-US" sz="18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整体架构</a:t>
            </a:r>
            <a:endParaRPr lang="zh-CN" altLang="en-US" sz="1865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6510528" y="1755648"/>
            <a:ext cx="5157216" cy="4041648"/>
          </a:xfrm>
          <a:prstGeom prst="rect">
            <a:avLst/>
          </a:prstGeom>
          <a:solidFill>
            <a:srgbClr val="F4FAFF"/>
          </a:solidFill>
          <a:ln w="1524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10528" y="1755648"/>
            <a:ext cx="45720" cy="404164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720840" y="1920240"/>
            <a:ext cx="4681728" cy="30556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000" b="0">
                <a:solidFill>
                  <a:srgbClr val="3F5268"/>
                </a:solidFill>
                <a:latin typeface="微软雅黑" panose="020B0503020204020204" pitchFamily="34" charset="-122"/>
              </a:rPr>
              <a:t>• </a:t>
            </a:r>
            <a:r>
              <a:rPr 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服务协议建模</a:t>
            </a:r>
            <a:r>
              <a:rPr sz="1000" b="0">
                <a:solidFill>
                  <a:srgbClr val="3F5268"/>
                </a:solidFill>
                <a:latin typeface="微软雅黑" panose="020B0503020204020204" pitchFamily="34" charset="-122"/>
              </a:rPr>
              <a:t>：从数据帧判断设备类型，避免规则混用</a:t>
            </a:r>
            <a:r>
              <a:rPr 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；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提取更细粒度的实体片段</a:t>
            </a:r>
            <a:endParaRPr lang="zh-CN" altLang="en-US"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从而为后续知识图谱对齐及</a:t>
            </a: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schema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优化提供补充信息</a:t>
            </a:r>
            <a:r>
              <a:rPr sz="1000" b="0">
                <a:solidFill>
                  <a:srgbClr val="3F5268"/>
                </a:solidFill>
                <a:latin typeface="微软雅黑" panose="020B0503020204020204" pitchFamily="34" charset="-122"/>
              </a:rPr>
              <a:t>。</a:t>
            </a:r>
            <a:endParaRPr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endParaRPr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000" b="0">
                <a:solidFill>
                  <a:srgbClr val="3F5268"/>
                </a:solidFill>
                <a:latin typeface="微软雅黑" panose="020B0503020204020204" pitchFamily="34" charset="-122"/>
              </a:rPr>
              <a:t>• </a:t>
            </a:r>
            <a:r>
              <a:rPr 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知识图谱补全</a:t>
            </a:r>
            <a:r>
              <a:rPr sz="1000" b="0">
                <a:solidFill>
                  <a:srgbClr val="3F5268"/>
                </a:solidFill>
                <a:latin typeface="微软雅黑" panose="020B0503020204020204" pitchFamily="34" charset="-122"/>
              </a:rPr>
              <a:t>：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根据识别出的设备类型加载对应 </a:t>
            </a: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IMKG，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结合既有企业知识库与已生成三元组，对数据帧中的未知字段进行语义匹配和关系预测，自动判断其所属组件、属性或操作关系，从而补全知识图谱，为后续模型转换和 </a:t>
            </a: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Schema 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生成提供语义骨架</a:t>
            </a:r>
            <a:r>
              <a:rPr sz="1000" b="0">
                <a:solidFill>
                  <a:srgbClr val="3F5268"/>
                </a:solidFill>
                <a:latin typeface="微软雅黑" panose="020B0503020204020204" pitchFamily="34" charset="-122"/>
              </a:rPr>
              <a:t>。</a:t>
            </a:r>
            <a:endParaRPr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endParaRPr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000" b="0">
                <a:solidFill>
                  <a:srgbClr val="3F5268"/>
                </a:solidFill>
                <a:latin typeface="微软雅黑" panose="020B0503020204020204" pitchFamily="34" charset="-122"/>
              </a:rPr>
              <a:t>• 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代码生成与优化</a:t>
            </a:r>
            <a:r>
              <a:rPr sz="1000" b="0">
                <a:solidFill>
                  <a:srgbClr val="3F5268"/>
                </a:solidFill>
                <a:latin typeface="微软雅黑" panose="020B0503020204020204" pitchFamily="34" charset="-122"/>
              </a:rPr>
              <a:t>：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将知识图谱中的组件、属性和操作关系映射为零代码页面结构，并融合 </a:t>
            </a: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OPC UA 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数据帧中的实时值生成 </a:t>
            </a: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Schema；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其中组件关系对应页面层级，属性关系对应输入、开关等控件，操作关系对应按钮，同时进行布局优化、空节点清理、重复映射去除和体积压缩。</a:t>
            </a:r>
            <a:endParaRPr lang="zh-CN" altLang="en-US"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endParaRPr lang="zh-CN" altLang="en-US"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000" b="0">
                <a:solidFill>
                  <a:srgbClr val="3F5268"/>
                </a:solidFill>
                <a:latin typeface="微软雅黑" panose="020B0503020204020204" pitchFamily="34" charset="-122"/>
              </a:rPr>
              <a:t>• </a:t>
            </a:r>
            <a:r>
              <a:rPr 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验证模块</a:t>
            </a:r>
            <a:r>
              <a:rPr sz="1000" b="0">
                <a:solidFill>
                  <a:srgbClr val="3F5268"/>
                </a:solidFill>
                <a:latin typeface="微软雅黑" panose="020B0503020204020204" pitchFamily="34" charset="-122"/>
              </a:rPr>
              <a:t>：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对生成的 </a:t>
            </a: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Schema 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进行六层可信验证，从溯源追溯、协议合规、结构完整、语义保真、数据一致和运行可用等方面检查生成结果；在此基础上计算综合可信度评分</a:t>
            </a: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FTS，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对页面质量进行分级评价，判断其是否具备发布和使用条件。</a:t>
            </a:r>
            <a:endParaRPr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6720840" y="4956048"/>
            <a:ext cx="23042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12279" y="5020056"/>
            <a:ext cx="21214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005B9F"/>
                </a:solidFill>
                <a:latin typeface="微软雅黑" panose="020B0503020204020204" pitchFamily="34" charset="-122"/>
              </a:rPr>
              <a:t>实现方式</a:t>
            </a:r>
            <a:endParaRPr sz="880" b="1">
              <a:solidFill>
                <a:srgbClr val="005B9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812279" y="5202936"/>
            <a:ext cx="2121408" cy="119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4A5D70"/>
                </a:solidFill>
                <a:latin typeface="微软雅黑" panose="020B0503020204020204" pitchFamily="34" charset="-122"/>
              </a:rPr>
              <a:t>Python + PyTorch + asyncua + Neo4j</a:t>
            </a:r>
            <a:endParaRPr sz="780" b="0">
              <a:solidFill>
                <a:srgbClr val="4A5D70"/>
              </a:solidFill>
              <a:latin typeface="微软雅黑" panose="020B0503020204020204" pitchFamily="3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9098280" y="4956048"/>
            <a:ext cx="2304288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7E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89719" y="5020056"/>
            <a:ext cx="212140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005B9F"/>
                </a:solidFill>
                <a:latin typeface="微软雅黑" panose="020B0503020204020204" pitchFamily="34" charset="-122"/>
              </a:rPr>
              <a:t>统一产物</a:t>
            </a:r>
            <a:endParaRPr sz="880" b="1">
              <a:solidFill>
                <a:srgbClr val="005B9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189719" y="5202936"/>
            <a:ext cx="212140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4A5D70"/>
                </a:solidFill>
                <a:latin typeface="微软雅黑" panose="020B0503020204020204" pitchFamily="34" charset="-122"/>
              </a:rPr>
              <a:t>OWL / Nodeset XML / ProjectSchema / JSON验证报告</a:t>
            </a:r>
            <a:endParaRPr sz="780" b="0">
              <a:solidFill>
                <a:srgbClr val="4A5D70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1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28" y="3542030"/>
            <a:ext cx="2050415" cy="171958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1992630" y="3089910"/>
            <a:ext cx="3256280" cy="328930"/>
          </a:xfrm>
          <a:prstGeom prst="rect">
            <a:avLst/>
          </a:prstGeom>
        </p:spPr>
        <p:txBody>
          <a:bodyPr>
            <a:noAutofit/>
          </a:bodyPr>
          <a:p>
            <a:pPr marL="0" indent="0" algn="ctr" defTabSz="266700" latinLnBrk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000">
                <a:solidFill>
                  <a:srgbClr val="3F5268"/>
                </a:solidFill>
                <a:latin typeface="微软雅黑" panose="020B0503020204020204" pitchFamily="34" charset="-122"/>
              </a:rPr>
              <a:t>图8 系统整体架构图——四大模块及数据流向</a:t>
            </a:r>
            <a:endParaRPr sz="1000">
              <a:solidFill>
                <a:srgbClr val="3F5268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38860" y="5261610"/>
            <a:ext cx="1937385" cy="334645"/>
          </a:xfrm>
          <a:prstGeom prst="rect">
            <a:avLst/>
          </a:prstGeom>
        </p:spPr>
        <p:txBody>
          <a:bodyPr>
            <a:noAutofit/>
          </a:bodyPr>
          <a:p>
            <a:pPr marL="0" indent="0" algn="ctr" defTabSz="266700" latinLnBrk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000">
                <a:solidFill>
                  <a:srgbClr val="3F5268"/>
                </a:solidFill>
                <a:latin typeface="微软雅黑" panose="020B0503020204020204" pitchFamily="34" charset="-122"/>
              </a:rPr>
              <a:t>图9 系统输出产物目录结构图</a:t>
            </a:r>
            <a:endParaRPr lang="zh-CN" altLang="en-US" sz="1000">
              <a:solidFill>
                <a:srgbClr val="3F526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375025" y="3542030"/>
            <a:ext cx="2879725" cy="20535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auto">
              <a:lnSpc>
                <a:spcPct val="104000"/>
              </a:lnSpc>
              <a:spcAft>
                <a:spcPts val="300"/>
              </a:spcAft>
              <a:buClrTx/>
              <a:buSzTx/>
              <a:buNone/>
            </a:pPr>
            <a:r>
              <a:rPr lang="zh-CN" sz="1000">
                <a:solidFill>
                  <a:srgbClr val="3F5268"/>
                </a:solidFill>
                <a:latin typeface="微软雅黑" panose="020B0503020204020204" pitchFamily="34" charset="-122"/>
              </a:rPr>
              <a:t>在系统基本架构之外做的流水线优化如下：</a:t>
            </a:r>
            <a:endParaRPr lang="zh-CN" sz="100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 indent="0" algn="l" fontAlgn="auto">
              <a:lnSpc>
                <a:spcPct val="104000"/>
              </a:lnSpc>
              <a:spcAft>
                <a:spcPts val="300"/>
              </a:spcAft>
              <a:buClrTx/>
              <a:buSzTx/>
              <a:buNone/>
            </a:pPr>
            <a:r>
              <a:rPr sz="1000">
                <a:solidFill>
                  <a:srgbClr val="3F5268"/>
                </a:solidFill>
                <a:latin typeface="微软雅黑" panose="020B0503020204020204" pitchFamily="34" charset="-122"/>
              </a:rPr>
              <a:t>在推理阶段采用批量化 TextCNN、FastText 向量缓存、ComplEx 候选打分缓存减少模型重复调用与向量重复计算；</a:t>
            </a:r>
            <a:endParaRPr sz="100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 indent="0" algn="l" fontAlgn="auto">
              <a:lnSpc>
                <a:spcPct val="104000"/>
              </a:lnSpc>
              <a:spcAft>
                <a:spcPts val="300"/>
              </a:spcAft>
              <a:buClrTx/>
              <a:buSzTx/>
              <a:buNone/>
            </a:pPr>
            <a:r>
              <a:rPr sz="1000">
                <a:solidFill>
                  <a:srgbClr val="3F5268"/>
                </a:solidFill>
                <a:latin typeface="微软雅黑" panose="020B0503020204020204" pitchFamily="34" charset="-122"/>
              </a:rPr>
              <a:t>在生成阶段并行执行知识补全与本体生成，将 Neo4j 同步改为异步任务，从而降低端到端等待时间</a:t>
            </a:r>
            <a:r>
              <a:rPr lang="zh-CN" sz="1000">
                <a:solidFill>
                  <a:srgbClr val="3F5268"/>
                </a:solidFill>
                <a:latin typeface="微软雅黑" panose="020B0503020204020204" pitchFamily="34" charset="-122"/>
              </a:rPr>
              <a:t>；</a:t>
            </a:r>
            <a:endParaRPr sz="100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 indent="0" algn="l" fontAlgn="auto">
              <a:lnSpc>
                <a:spcPct val="104000"/>
              </a:lnSpc>
              <a:spcAft>
                <a:spcPts val="300"/>
              </a:spcAft>
              <a:buClrTx/>
              <a:buSzTx/>
              <a:buNone/>
            </a:pPr>
            <a:r>
              <a:rPr lang="zh-CN" sz="1000">
                <a:solidFill>
                  <a:srgbClr val="3F5268"/>
                </a:solidFill>
                <a:latin typeface="微软雅黑" panose="020B0503020204020204" pitchFamily="34" charset="-122"/>
              </a:rPr>
              <a:t>后续还将进行分层验证和变化节点增量生成方面的优化，如暂存</a:t>
            </a:r>
            <a:r>
              <a:rPr lang="en-US" altLang="zh-CN" sz="1000">
                <a:solidFill>
                  <a:srgbClr val="3F5268"/>
                </a:solidFill>
                <a:latin typeface="微软雅黑" panose="020B0503020204020204" pitchFamily="34" charset="-122"/>
              </a:rPr>
              <a:t>UA</a:t>
            </a:r>
            <a:r>
              <a:rPr lang="zh-CN" altLang="en-US" sz="1000">
                <a:solidFill>
                  <a:srgbClr val="3F5268"/>
                </a:solidFill>
                <a:latin typeface="微软雅黑" panose="020B0503020204020204" pitchFamily="34" charset="-122"/>
              </a:rPr>
              <a:t>数据帧，在其他字段不变的情况下，只在变化字段上做知识补全和</a:t>
            </a:r>
            <a:r>
              <a:rPr lang="en-US" altLang="zh-CN" sz="1000">
                <a:solidFill>
                  <a:srgbClr val="3F5268"/>
                </a:solidFill>
                <a:latin typeface="微软雅黑" panose="020B0503020204020204" pitchFamily="34" charset="-122"/>
              </a:rPr>
              <a:t>schema</a:t>
            </a:r>
            <a:r>
              <a:rPr lang="zh-CN" altLang="en-US" sz="1000">
                <a:solidFill>
                  <a:srgbClr val="3F5268"/>
                </a:solidFill>
                <a:latin typeface="微软雅黑" panose="020B0503020204020204" pitchFamily="34" charset="-122"/>
              </a:rPr>
              <a:t>优化等。</a:t>
            </a:r>
            <a:endParaRPr lang="zh-CN" sz="1000">
              <a:solidFill>
                <a:srgbClr val="3F526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5075555" y="0"/>
            <a:ext cx="1781175" cy="7918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5025" y="215900"/>
            <a:ext cx="152273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5238750" y="213995"/>
            <a:ext cx="145415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已完成研究工作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/>
        </p:nvSpPr>
        <p:spPr>
          <a:xfrm>
            <a:off x="7033895" y="213995"/>
            <a:ext cx="170878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问题与后续计划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78" y="59069"/>
            <a:ext cx="2425903" cy="673862"/>
          </a:xfrm>
          <a:prstGeom prst="rect">
            <a:avLst/>
          </a:prstGeom>
        </p:spPr>
      </p:pic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8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设备类型识别</a:t>
            </a:r>
            <a:endParaRPr lang="zh-CN" altLang="en-US" sz="1865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67"/>
          <p:cNvSpPr/>
          <p:nvPr/>
        </p:nvSpPr>
        <p:spPr>
          <a:xfrm>
            <a:off x="6510655" y="1755775"/>
            <a:ext cx="5157470" cy="3912870"/>
          </a:xfrm>
          <a:prstGeom prst="rect">
            <a:avLst/>
          </a:prstGeom>
          <a:solidFill>
            <a:srgbClr val="F4FAFF"/>
          </a:solidFill>
          <a:ln w="1524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68"/>
          <p:cNvSpPr/>
          <p:nvPr/>
        </p:nvSpPr>
        <p:spPr>
          <a:xfrm flipH="1">
            <a:off x="6516370" y="1755775"/>
            <a:ext cx="76835" cy="391287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69"/>
          <p:cNvSpPr txBox="1"/>
          <p:nvPr/>
        </p:nvSpPr>
        <p:spPr>
          <a:xfrm>
            <a:off x="6720840" y="1920240"/>
            <a:ext cx="4681728" cy="146494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• 工业字段通常由英文单词、缩写和组合词构成，词级边界并不稳定，单纯规则或词向量难以适应厂商差异。</a:t>
            </a:r>
            <a:endParaRPr lang="zh-CN" altLang="en-US"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• TextCNN 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将字段序列转换为字符索引，再经过字符嵌入层获得稠密表示，从字符粒度学习命名模式。</a:t>
            </a:r>
            <a:endParaRPr lang="zh-CN" altLang="en-US"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• 模型采用多个不同尺寸卷积核，报告中对应 </a:t>
            </a: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kernel_size=2、3、4、5，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用于捕捉不同长度的局部字符片段。</a:t>
            </a:r>
            <a:endParaRPr lang="zh-CN" altLang="en-US"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• 经过池化、</a:t>
            </a: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Dropout 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和全连接层后输出六类设备概率分布，为后续选择对应 </a:t>
            </a: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IMKG 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和映射规则提供入口。</a:t>
            </a:r>
            <a:endParaRPr lang="zh-CN" altLang="en-US"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" name="Picture 11" descr="TextCNN模型架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07657"/>
            <a:ext cx="4928616" cy="585844"/>
          </a:xfrm>
          <a:prstGeom prst="rect">
            <a:avLst/>
          </a:prstGeom>
        </p:spPr>
      </p:pic>
      <p:sp>
        <p:nvSpPr>
          <p:cNvPr id="3" name="TextBox 12"/>
          <p:cNvSpPr txBox="1"/>
          <p:nvPr/>
        </p:nvSpPr>
        <p:spPr>
          <a:xfrm>
            <a:off x="1517650" y="2460625"/>
            <a:ext cx="3905250" cy="2476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defTabSz="266700" latinLnBrk="1">
              <a:lnSpc>
                <a:spcPct val="150000"/>
              </a:lnSpc>
              <a:buClrTx/>
              <a:buSzTx/>
              <a:buFontTx/>
            </a:pPr>
            <a:r>
              <a:rPr sz="1000" b="0">
                <a:solidFill>
                  <a:srgbClr val="3F5268"/>
                </a:solidFill>
                <a:latin typeface="微软雅黑" panose="020B0503020204020204" pitchFamily="34" charset="-122"/>
              </a:rPr>
              <a:t>图1 TextCNN模型架构图——嵌入层→多尺度卷积→池化→全连接</a:t>
            </a:r>
            <a:endParaRPr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195" y="2981325"/>
            <a:ext cx="856615" cy="2038985"/>
          </a:xfrm>
          <a:prstGeom prst="rect">
            <a:avLst/>
          </a:prstGeom>
        </p:spPr>
      </p:pic>
      <p:sp>
        <p:nvSpPr>
          <p:cNvPr id="4" name="Rectangle 17"/>
          <p:cNvSpPr/>
          <p:nvPr>
            <p:custDataLst>
              <p:tags r:id="rId4"/>
            </p:custDataLst>
          </p:nvPr>
        </p:nvSpPr>
        <p:spPr>
          <a:xfrm>
            <a:off x="6727190" y="3429000"/>
            <a:ext cx="2304415" cy="567055"/>
          </a:xfrm>
          <a:prstGeom prst="rect">
            <a:avLst/>
          </a:prstGeom>
          <a:solidFill>
            <a:srgbClr val="FFFFFF"/>
          </a:solidFill>
          <a:ln w="12700">
            <a:solidFill>
              <a:srgbClr val="D1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18"/>
          <p:cNvSpPr txBox="1"/>
          <p:nvPr>
            <p:custDataLst>
              <p:tags r:id="rId5"/>
            </p:custDataLst>
          </p:nvPr>
        </p:nvSpPr>
        <p:spPr>
          <a:xfrm>
            <a:off x="6809105" y="3502025"/>
            <a:ext cx="2125980" cy="146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0070C0"/>
                </a:solidFill>
                <a:latin typeface="微软雅黑" panose="020B0503020204020204" pitchFamily="34" charset="-122"/>
              </a:rPr>
              <a:t>设计理由</a:t>
            </a:r>
            <a:endParaRPr sz="9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19"/>
          <p:cNvSpPr txBox="1"/>
          <p:nvPr>
            <p:custDataLst>
              <p:tags r:id="rId6"/>
            </p:custDataLst>
          </p:nvPr>
        </p:nvSpPr>
        <p:spPr>
          <a:xfrm>
            <a:off x="6809105" y="3703320"/>
            <a:ext cx="2125980" cy="2012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20" b="0">
                <a:solidFill>
                  <a:srgbClr val="24364C"/>
                </a:solidFill>
                <a:latin typeface="微软雅黑" panose="020B0503020204020204" pitchFamily="34" charset="-122"/>
              </a:rPr>
              <a:t>短文本、缩写、组合词更适合字符级建模</a:t>
            </a:r>
            <a:endParaRPr sz="820" b="0">
              <a:solidFill>
                <a:srgbClr val="2436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Rectangle 20"/>
          <p:cNvSpPr/>
          <p:nvPr>
            <p:custDataLst>
              <p:tags r:id="rId7"/>
            </p:custDataLst>
          </p:nvPr>
        </p:nvSpPr>
        <p:spPr>
          <a:xfrm>
            <a:off x="9105265" y="3429000"/>
            <a:ext cx="2304415" cy="567055"/>
          </a:xfrm>
          <a:prstGeom prst="rect">
            <a:avLst/>
          </a:prstGeom>
          <a:solidFill>
            <a:srgbClr val="FFFFFF"/>
          </a:solidFill>
          <a:ln w="12700">
            <a:solidFill>
              <a:srgbClr val="D1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21"/>
          <p:cNvSpPr txBox="1"/>
          <p:nvPr>
            <p:custDataLst>
              <p:tags r:id="rId8"/>
            </p:custDataLst>
          </p:nvPr>
        </p:nvSpPr>
        <p:spPr>
          <a:xfrm>
            <a:off x="9173210" y="3502025"/>
            <a:ext cx="2125345" cy="146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00" b="1">
                <a:solidFill>
                  <a:srgbClr val="0070C0"/>
                </a:solidFill>
                <a:latin typeface="微软雅黑" panose="020B0503020204020204" pitchFamily="34" charset="-122"/>
              </a:rPr>
              <a:t>阶段作用</a:t>
            </a:r>
            <a:endParaRPr sz="9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22"/>
          <p:cNvSpPr txBox="1"/>
          <p:nvPr>
            <p:custDataLst>
              <p:tags r:id="rId9"/>
            </p:custDataLst>
          </p:nvPr>
        </p:nvSpPr>
        <p:spPr>
          <a:xfrm>
            <a:off x="9173210" y="3703320"/>
            <a:ext cx="2125345" cy="2012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820" b="0">
                <a:solidFill>
                  <a:srgbClr val="24364C"/>
                </a:solidFill>
                <a:latin typeface="微软雅黑" panose="020B0503020204020204" pitchFamily="34" charset="-122"/>
              </a:rPr>
              <a:t>先确定设备域，避免后续规则混用</a:t>
            </a:r>
            <a:endParaRPr sz="820" b="0">
              <a:solidFill>
                <a:srgbClr val="24364C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5700" y="2981325"/>
            <a:ext cx="2908935" cy="2038985"/>
          </a:xfrm>
          <a:prstGeom prst="rect">
            <a:avLst/>
          </a:prstGeom>
        </p:spPr>
      </p:pic>
      <p:sp>
        <p:nvSpPr>
          <p:cNvPr id="20" name="TextBox 12"/>
          <p:cNvSpPr txBox="1"/>
          <p:nvPr/>
        </p:nvSpPr>
        <p:spPr>
          <a:xfrm>
            <a:off x="2599055" y="5149850"/>
            <a:ext cx="2447290" cy="2940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 defTabSz="266700" latinLnBrk="1">
              <a:lnSpc>
                <a:spcPct val="150000"/>
              </a:lnSpc>
              <a:buClrTx/>
              <a:buSzTx/>
              <a:buFontTx/>
            </a:pP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OPC UA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帧字段说明及</a:t>
            </a: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CNN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输出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样例结果</a:t>
            </a:r>
            <a:endParaRPr lang="zh-CN" altLang="en-US"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727825" y="4265295"/>
            <a:ext cx="4681855" cy="12782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24364C"/>
                </a:solidFill>
                <a:latin typeface="微软雅黑" panose="020B0503020204020204" pitchFamily="34" charset="-122"/>
                <a:sym typeface="+mn-ea"/>
              </a:rPr>
              <a:t>报告中将 browse_name 作为主要输入，因为它能够较好反映设备结构、字段命名规律和组件语义线索。</a:t>
            </a:r>
            <a:endParaRPr sz="1100" b="0">
              <a:solidFill>
                <a:srgbClr val="24364C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24364C"/>
                </a:solidFill>
                <a:latin typeface="微软雅黑" panose="020B0503020204020204" pitchFamily="34" charset="-122"/>
                <a:sym typeface="+mn-ea"/>
              </a:rPr>
              <a:t>• 系统先学习不同设备字段命名中的字符级特征，再抽取更细粒度的实体片段，最后以三元组形式组织设备语义。</a:t>
            </a:r>
            <a:endParaRPr sz="1100" b="0">
              <a:solidFill>
                <a:srgbClr val="24364C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>
                <a:solidFill>
                  <a:srgbClr val="24364C"/>
                </a:solidFill>
                <a:latin typeface="微软雅黑" panose="020B0503020204020204" pitchFamily="34" charset="-122"/>
                <a:sym typeface="+mn-ea"/>
              </a:rPr>
              <a:t>• 选择六类设备作为实验对象，是为了兼顾制造场景代表性、字段结构差异性和端到端验证可控性。</a:t>
            </a:r>
            <a:endParaRPr lang="zh-CN" altLang="en-US" sz="1100">
              <a:solidFill>
                <a:srgbClr val="24364C"/>
              </a:solidFill>
              <a:latin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5075555" y="0"/>
            <a:ext cx="1781175" cy="7918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5025" y="215900"/>
            <a:ext cx="152273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5238750" y="213995"/>
            <a:ext cx="145415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已完成研究工作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/>
        </p:nvSpPr>
        <p:spPr>
          <a:xfrm>
            <a:off x="7033895" y="213995"/>
            <a:ext cx="170878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问题与后续计划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78" y="59069"/>
            <a:ext cx="2425903" cy="673862"/>
          </a:xfrm>
          <a:prstGeom prst="rect">
            <a:avLst/>
          </a:prstGeom>
        </p:spPr>
      </p:pic>
      <p:sp>
        <p:nvSpPr>
          <p:cNvPr id="8" name="Rectangle 67"/>
          <p:cNvSpPr/>
          <p:nvPr/>
        </p:nvSpPr>
        <p:spPr>
          <a:xfrm>
            <a:off x="6510020" y="2317750"/>
            <a:ext cx="5157470" cy="2416175"/>
          </a:xfrm>
          <a:prstGeom prst="rect">
            <a:avLst/>
          </a:prstGeom>
          <a:solidFill>
            <a:srgbClr val="F4FAFF"/>
          </a:solidFill>
          <a:ln w="1524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68"/>
          <p:cNvSpPr/>
          <p:nvPr/>
        </p:nvSpPr>
        <p:spPr>
          <a:xfrm flipH="1">
            <a:off x="6494780" y="2317750"/>
            <a:ext cx="76200" cy="241617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图片 3" descr="whiteboard_exported_image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660" y="1282065"/>
            <a:ext cx="5267960" cy="618490"/>
          </a:xfrm>
          <a:prstGeom prst="rect">
            <a:avLst/>
          </a:prstGeom>
        </p:spPr>
      </p:pic>
      <p:sp>
        <p:nvSpPr>
          <p:cNvPr id="25" name="TextBox 12"/>
          <p:cNvSpPr txBox="1"/>
          <p:nvPr/>
        </p:nvSpPr>
        <p:spPr>
          <a:xfrm>
            <a:off x="2510790" y="1896110"/>
            <a:ext cx="1918335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defTabSz="266700" latinLnBrk="1">
              <a:lnSpc>
                <a:spcPct val="150000"/>
              </a:lnSpc>
              <a:buClrTx/>
              <a:buSzTx/>
              <a:buFontTx/>
            </a:pPr>
            <a:r>
              <a:rPr sz="1000" b="0">
                <a:solidFill>
                  <a:srgbClr val="3F5268"/>
                </a:solidFill>
                <a:latin typeface="微软雅黑" panose="020B0503020204020204" pitchFamily="34" charset="-122"/>
              </a:rPr>
              <a:t>图2 BiLSTM-CRF结构图</a:t>
            </a:r>
            <a:endParaRPr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</p:txBody>
      </p:sp>
      <p:sp>
        <p:nvSpPr>
          <p:cNvPr id="30" name="TextBox 20"/>
          <p:cNvSpPr txBox="1"/>
          <p:nvPr/>
        </p:nvSpPr>
        <p:spPr>
          <a:xfrm>
            <a:off x="6720205" y="2489200"/>
            <a:ext cx="4370705" cy="1501775"/>
          </a:xfrm>
          <a:prstGeom prst="rect">
            <a:avLst/>
          </a:prstGeom>
          <a:noFill/>
        </p:spPr>
        <p:txBody>
          <a:bodyPr wrap="square" lIns="36576" tIns="27432" rIns="36576" bIns="27432">
            <a:noAutofit/>
          </a:bodyPr>
          <a:lstStyle/>
          <a:p>
            <a:pPr algn="l">
              <a:lnSpc>
                <a:spcPct val="104000"/>
              </a:lnSpc>
              <a:spcAft>
                <a:spcPts val="300"/>
              </a:spcAft>
              <a:buClrTx/>
              <a:buSzTx/>
              <a:buNone/>
            </a:pPr>
            <a:r>
              <a:rPr sz="1000" b="0">
                <a:solidFill>
                  <a:srgbClr val="3F5268"/>
                </a:solidFill>
                <a:latin typeface="微软雅黑" panose="020B0503020204020204" pitchFamily="34" charset="-122"/>
              </a:rPr>
              <a:t>• TextCNN 解决“这是什么设备”，BiLSTM-CRF 进一步解决“字段中包含哪些语义片段”。</a:t>
            </a:r>
            <a:endParaRPr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4000"/>
              </a:lnSpc>
              <a:spcAft>
                <a:spcPts val="300"/>
              </a:spcAft>
              <a:buClrTx/>
              <a:buSzTx/>
              <a:buNone/>
            </a:pPr>
            <a:r>
              <a:rPr sz="1000" b="0">
                <a:solidFill>
                  <a:srgbClr val="3F5268"/>
                </a:solidFill>
                <a:latin typeface="微软雅黑" panose="020B0503020204020204" pitchFamily="34" charset="-122"/>
              </a:rPr>
              <a:t>• BiLSTM 结合字段前后文进行序列编码，适合识别字段片段在上下文中的语义角色。</a:t>
            </a:r>
            <a:endParaRPr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4000"/>
              </a:lnSpc>
              <a:spcAft>
                <a:spcPts val="300"/>
              </a:spcAft>
              <a:buClrTx/>
              <a:buSzTx/>
              <a:buNone/>
            </a:pPr>
            <a:r>
              <a:rPr sz="1000" b="0">
                <a:solidFill>
                  <a:srgbClr val="3F5268"/>
                </a:solidFill>
                <a:latin typeface="微软雅黑" panose="020B0503020204020204" pitchFamily="34" charset="-122"/>
              </a:rPr>
              <a:t>• CRF 层用于约束标签序列，使组件、属性和操作边界更加稳定，减少不合法标签组合。</a:t>
            </a:r>
            <a:endParaRPr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4000"/>
              </a:lnSpc>
              <a:spcAft>
                <a:spcPts val="300"/>
              </a:spcAft>
              <a:buClrTx/>
              <a:buSzTx/>
              <a:buNone/>
            </a:pPr>
            <a:r>
              <a:rPr sz="1000" b="0">
                <a:solidFill>
                  <a:srgbClr val="3F5268"/>
                </a:solidFill>
                <a:latin typeface="微软雅黑" panose="020B0503020204020204" pitchFamily="34" charset="-122"/>
              </a:rPr>
              <a:t>• 实体抽取结果可作为 IMKG 对齐的候选节点，也为后续 Schema 结构优化提供细粒度语义补充。</a:t>
            </a:r>
            <a:endParaRPr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3097530"/>
            <a:ext cx="3087370" cy="2493645"/>
          </a:xfrm>
          <a:prstGeom prst="rect">
            <a:avLst/>
          </a:prstGeom>
        </p:spPr>
      </p:pic>
      <p:sp>
        <p:nvSpPr>
          <p:cNvPr id="54" name="Rectangle 21"/>
          <p:cNvSpPr/>
          <p:nvPr/>
        </p:nvSpPr>
        <p:spPr>
          <a:xfrm>
            <a:off x="6724015" y="3965575"/>
            <a:ext cx="2303780" cy="567055"/>
          </a:xfrm>
          <a:prstGeom prst="rect">
            <a:avLst/>
          </a:prstGeom>
          <a:solidFill>
            <a:srgbClr val="FFFFFF"/>
          </a:solidFill>
          <a:ln w="12700">
            <a:solidFill>
              <a:srgbClr val="D1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22"/>
          <p:cNvSpPr txBox="1"/>
          <p:nvPr/>
        </p:nvSpPr>
        <p:spPr>
          <a:xfrm>
            <a:off x="6805930" y="4038600"/>
            <a:ext cx="2125345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070C0"/>
                </a:solidFill>
                <a:latin typeface="微软雅黑" panose="020B0503020204020204" pitchFamily="34" charset="-122"/>
              </a:rPr>
              <a:t>与TextCNN关系</a:t>
            </a:r>
            <a:endParaRPr sz="9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" name="TextBox 23"/>
          <p:cNvSpPr txBox="1"/>
          <p:nvPr/>
        </p:nvSpPr>
        <p:spPr>
          <a:xfrm>
            <a:off x="6805930" y="4239895"/>
            <a:ext cx="2125345" cy="125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0" b="0">
                <a:solidFill>
                  <a:srgbClr val="24364C"/>
                </a:solidFill>
                <a:latin typeface="微软雅黑" panose="020B0503020204020204" pitchFamily="34" charset="-122"/>
              </a:rPr>
              <a:t>分类确定设备域，序列标注抽取字段语义</a:t>
            </a:r>
            <a:endParaRPr sz="820" b="0">
              <a:solidFill>
                <a:srgbClr val="2436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57" name="Rectangle 24"/>
          <p:cNvSpPr/>
          <p:nvPr/>
        </p:nvSpPr>
        <p:spPr>
          <a:xfrm>
            <a:off x="9097010" y="3965575"/>
            <a:ext cx="2304415" cy="567055"/>
          </a:xfrm>
          <a:prstGeom prst="rect">
            <a:avLst/>
          </a:prstGeom>
          <a:solidFill>
            <a:srgbClr val="FFFFFF"/>
          </a:solidFill>
          <a:ln w="12700">
            <a:solidFill>
              <a:srgbClr val="D1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25"/>
          <p:cNvSpPr txBox="1"/>
          <p:nvPr/>
        </p:nvSpPr>
        <p:spPr>
          <a:xfrm>
            <a:off x="9165590" y="4038600"/>
            <a:ext cx="2125345" cy="138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0070C0"/>
                </a:solidFill>
                <a:latin typeface="微软雅黑" panose="020B0503020204020204" pitchFamily="34" charset="-122"/>
              </a:rPr>
              <a:t>输出价值</a:t>
            </a:r>
            <a:endParaRPr sz="9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TextBox 26"/>
          <p:cNvSpPr txBox="1"/>
          <p:nvPr/>
        </p:nvSpPr>
        <p:spPr>
          <a:xfrm>
            <a:off x="9165590" y="4239895"/>
            <a:ext cx="2125345" cy="125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20" b="0">
                <a:solidFill>
                  <a:srgbClr val="24364C"/>
                </a:solidFill>
                <a:latin typeface="微软雅黑" panose="020B0503020204020204" pitchFamily="34" charset="-122"/>
              </a:rPr>
              <a:t>服务图谱对齐、知识补全和Schema优化</a:t>
            </a:r>
            <a:endParaRPr sz="820" b="0">
              <a:solidFill>
                <a:srgbClr val="2436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62" name="Rectangle 13"/>
          <p:cNvSpPr/>
          <p:nvPr/>
        </p:nvSpPr>
        <p:spPr>
          <a:xfrm>
            <a:off x="835660" y="2253615"/>
            <a:ext cx="5267960" cy="620395"/>
          </a:xfrm>
          <a:prstGeom prst="rect">
            <a:avLst/>
          </a:prstGeom>
          <a:solidFill>
            <a:srgbClr val="FFFFFF"/>
          </a:solidFill>
          <a:ln w="12700">
            <a:solidFill>
              <a:srgbClr val="D1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14"/>
          <p:cNvSpPr txBox="1"/>
          <p:nvPr/>
        </p:nvSpPr>
        <p:spPr>
          <a:xfrm>
            <a:off x="981710" y="2381885"/>
            <a:ext cx="1328420" cy="139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>
                <a:solidFill>
                  <a:srgbClr val="0070C0"/>
                </a:solidFill>
                <a:latin typeface="微软雅黑" panose="020B0503020204020204" pitchFamily="34" charset="-122"/>
              </a:rPr>
              <a:t>字段示例</a:t>
            </a:r>
            <a:endParaRPr sz="95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4" name="TextBox 15"/>
          <p:cNvSpPr txBox="1"/>
          <p:nvPr/>
        </p:nvSpPr>
        <p:spPr>
          <a:xfrm>
            <a:off x="1987550" y="2381885"/>
            <a:ext cx="3606800" cy="139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30" b="0">
                <a:solidFill>
                  <a:srgbClr val="24364C"/>
                </a:solidFill>
                <a:latin typeface="微软雅黑" panose="020B0503020204020204" pitchFamily="34" charset="-122"/>
              </a:rPr>
              <a:t>SpindleSpeed  →  Spindle（组件） + Speed（属性）</a:t>
            </a:r>
            <a:endParaRPr sz="930" b="0">
              <a:solidFill>
                <a:srgbClr val="24364C"/>
              </a:solidFill>
              <a:latin typeface="微软雅黑" panose="020B0503020204020204" pitchFamily="34" charset="-122"/>
            </a:endParaRPr>
          </a:p>
        </p:txBody>
      </p:sp>
      <p:sp>
        <p:nvSpPr>
          <p:cNvPr id="65" name="TextBox 16"/>
          <p:cNvSpPr txBox="1"/>
          <p:nvPr/>
        </p:nvSpPr>
        <p:spPr>
          <a:xfrm>
            <a:off x="981710" y="2642870"/>
            <a:ext cx="1328420" cy="139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50" b="1">
                <a:solidFill>
                  <a:srgbClr val="0070C0"/>
                </a:solidFill>
                <a:latin typeface="微软雅黑" panose="020B0503020204020204" pitchFamily="34" charset="-122"/>
              </a:rPr>
              <a:t>抽取结果</a:t>
            </a:r>
            <a:endParaRPr sz="95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66" name="TextBox 17"/>
          <p:cNvSpPr txBox="1"/>
          <p:nvPr/>
        </p:nvSpPr>
        <p:spPr>
          <a:xfrm>
            <a:off x="1987550" y="2642870"/>
            <a:ext cx="3606800" cy="1390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930" b="0">
                <a:solidFill>
                  <a:srgbClr val="24364C"/>
                </a:solidFill>
                <a:latin typeface="微软雅黑" panose="020B0503020204020204" pitchFamily="34" charset="-122"/>
              </a:rPr>
              <a:t>组件、属性、操作等实体片段进入图谱对齐流程</a:t>
            </a:r>
            <a:endParaRPr sz="930" b="0">
              <a:solidFill>
                <a:srgbClr val="24364C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5075555" y="0"/>
            <a:ext cx="1781175" cy="7918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5025" y="215900"/>
            <a:ext cx="152273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5238750" y="213995"/>
            <a:ext cx="145415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已完成研究工作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/>
        </p:nvSpPr>
        <p:spPr>
          <a:xfrm>
            <a:off x="7033895" y="213995"/>
            <a:ext cx="170878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问题与后续计划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78" y="59069"/>
            <a:ext cx="2425903" cy="67386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01700" y="1402715"/>
            <a:ext cx="10052050" cy="4316095"/>
          </a:xfrm>
          <a:prstGeom prst="rect">
            <a:avLst/>
          </a:prstGeom>
          <a:solidFill>
            <a:srgbClr val="EFF8FF"/>
          </a:solidFill>
          <a:ln w="12700">
            <a:solidFill>
              <a:srgbClr val="EFF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21"/>
          <p:cNvSpPr/>
          <p:nvPr/>
        </p:nvSpPr>
        <p:spPr>
          <a:xfrm>
            <a:off x="855980" y="1402715"/>
            <a:ext cx="45720" cy="4315968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2"/>
          <p:cNvSpPr txBox="1"/>
          <p:nvPr/>
        </p:nvSpPr>
        <p:spPr>
          <a:xfrm>
            <a:off x="1075690" y="1604010"/>
            <a:ext cx="9628505" cy="1173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4364C"/>
                </a:solidFill>
                <a:latin typeface="微软雅黑" panose="020B0503020204020204" pitchFamily="34" charset="-122"/>
              </a:rPr>
              <a:t>• 在完成设备类型识别和语义标签生成后，系统以三元组形式构建工业制造知识图谱。</a:t>
            </a:r>
            <a:endParaRPr sz="1100" b="0">
              <a:solidFill>
                <a:srgbClr val="24364C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4364C"/>
                </a:solidFill>
                <a:latin typeface="微软雅黑" panose="020B0503020204020204" pitchFamily="34" charset="-122"/>
              </a:rPr>
              <a:t>• 图谱使用 hasComponent、hasProperty、hasOperation、subtypeOf、controlledBy 五类核心关系，分别描述组成、属性、操作、类型继承和控制关系。</a:t>
            </a:r>
            <a:endParaRPr sz="1100" b="0">
              <a:solidFill>
                <a:srgbClr val="24364C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4364C"/>
                </a:solidFill>
                <a:latin typeface="微软雅黑" panose="020B0503020204020204" pitchFamily="34" charset="-122"/>
              </a:rPr>
              <a:t>• 以 CNC 为例，IMKG 可表达机床与主轴、刀库、工作台、冷却系统、控制器之间的层级关系，并关联转速、负载、刀具编号、进给速度等属性。</a:t>
            </a:r>
            <a:endParaRPr sz="1100" b="0">
              <a:solidFill>
                <a:srgbClr val="24364C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100" b="0">
                <a:solidFill>
                  <a:srgbClr val="24364C"/>
                </a:solidFill>
                <a:latin typeface="微软雅黑" panose="020B0503020204020204" pitchFamily="34" charset="-122"/>
              </a:rPr>
              <a:t>• 目前六类工业设备 IMKG 均已完成构建，为后续知识补全、OPC UA 信息模型生成和零代码 Schema 生成提供结构化知识基础。</a:t>
            </a:r>
            <a:endParaRPr sz="1100" b="0">
              <a:solidFill>
                <a:srgbClr val="24364C"/>
              </a:solidFill>
              <a:latin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099185" y="2907030"/>
            <a:ext cx="4911090" cy="2491740"/>
            <a:chOff x="10931" y="4431"/>
            <a:chExt cx="7734" cy="3924"/>
          </a:xfrm>
        </p:grpSpPr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97" y="4749"/>
              <a:ext cx="6423" cy="899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11597" y="5947"/>
              <a:ext cx="6423" cy="208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tail = 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设备数据帧中的未知字段（新实体）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head = 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需要预测的 </a:t>
              </a:r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IMKG 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中已有实体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r>
                <a:rPr lang="en-US" altLang="zh-CN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relation = HasComponent</a:t>
              </a:r>
              <a:r>
                <a:rPr lang="zh-CN" altLang="en-US" sz="160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（已知）</a:t>
              </a:r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53" name="学论网-矩形 1"/>
            <p:cNvSpPr/>
            <p:nvPr>
              <p:custDataLst>
                <p:tags r:id="rId3"/>
              </p:custDataLst>
            </p:nvPr>
          </p:nvSpPr>
          <p:spPr>
            <a:xfrm>
              <a:off x="10931" y="4431"/>
              <a:ext cx="7734" cy="3924"/>
            </a:xfrm>
            <a:prstGeom prst="rect">
              <a:avLst/>
            </a:prstGeom>
            <a:noFill/>
            <a:ln w="12700" cap="flat" cmpd="sng" algn="ctr">
              <a:solidFill>
                <a:srgbClr val="448AD7"/>
              </a:solidFill>
              <a:prstDash val="sysDot"/>
            </a:ln>
            <a:effectLst/>
          </p:spPr>
          <p:txBody>
            <a:bodyPr rtlCol="0" anchor="ctr"/>
            <a:lstStyle/>
            <a:p>
              <a:pPr lvl="0" algn="ctr"/>
              <a:endParaRPr lang="zh-CN" altLang="en-US" sz="2800" b="1" kern="0" dirty="0">
                <a:gradFill>
                  <a:gsLst>
                    <a:gs pos="100000">
                      <a:schemeClr val="bg1"/>
                    </a:gs>
                    <a:gs pos="0">
                      <a:schemeClr val="bg1">
                        <a:lumMod val="95000"/>
                      </a:schemeClr>
                    </a:gs>
                  </a:gsLst>
                  <a:path path="circle">
                    <a:fillToRect l="100000" b="100000"/>
                  </a:path>
                </a:gradFill>
                <a:ea typeface="微软雅黑" panose="020B0503020204020204" pitchFamily="34" charset="-122"/>
              </a:endParaRPr>
            </a:p>
          </p:txBody>
        </p:sp>
      </p:grpSp>
      <p:pic>
        <p:nvPicPr>
          <p:cNvPr id="13" name="Picture 11" descr="CNC设备IMKG知识图谱可视化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937" y="3108745"/>
            <a:ext cx="3191255" cy="1740329"/>
          </a:xfrm>
          <a:prstGeom prst="rect">
            <a:avLst/>
          </a:prstGeom>
        </p:spPr>
      </p:pic>
      <p:sp>
        <p:nvSpPr>
          <p:cNvPr id="15" name="TextBox 12"/>
          <p:cNvSpPr txBox="1"/>
          <p:nvPr/>
        </p:nvSpPr>
        <p:spPr>
          <a:xfrm>
            <a:off x="7325995" y="4848860"/>
            <a:ext cx="2009775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defTabSz="266700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图3 </a:t>
            </a: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CNC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设备</a:t>
            </a: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IMKG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知识图谱可视化</a:t>
            </a:r>
            <a:endParaRPr lang="zh-CN" altLang="en-US"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5075555" y="0"/>
            <a:ext cx="1781175" cy="7918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5025" y="215900"/>
            <a:ext cx="152273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5238750" y="213995"/>
            <a:ext cx="145415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已完成研究工作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/>
        </p:nvSpPr>
        <p:spPr>
          <a:xfrm>
            <a:off x="7033895" y="213995"/>
            <a:ext cx="170878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问题与后续计划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78" y="59069"/>
            <a:ext cx="2425903" cy="673862"/>
          </a:xfrm>
          <a:prstGeom prst="rect">
            <a:avLst/>
          </a:prstGeom>
        </p:spPr>
      </p:pic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8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</a:t>
            </a:r>
            <a:r>
              <a:rPr lang="zh-CN" altLang="en-US" sz="18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补全</a:t>
            </a:r>
            <a:endParaRPr lang="zh-CN" altLang="en-US" sz="1865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12" descr="whiteboard_exported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2588" y="3528060"/>
            <a:ext cx="3170555" cy="178181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12800" y="1680210"/>
            <a:ext cx="10436860" cy="12306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600" b="0">
                <a:solidFill>
                  <a:schemeClr val="tx1"/>
                </a:solidFill>
                <a:latin typeface="微软雅黑" panose="020B0503020204020204" pitchFamily="34" charset="-122"/>
              </a:rPr>
              <a:t>面对新设备、新传感器和扩展字段，系统不能只依赖已有 </a:t>
            </a:r>
            <a:r>
              <a:rPr lang="en-US" altLang="zh-CN" sz="1600" b="0">
                <a:solidFill>
                  <a:schemeClr val="tx1"/>
                </a:solidFill>
                <a:latin typeface="微软雅黑" panose="020B0503020204020204" pitchFamily="34" charset="-122"/>
              </a:rPr>
              <a:t>IMKG。</a:t>
            </a:r>
            <a:r>
              <a:rPr lang="zh-CN" altLang="en-US" sz="1600" b="0">
                <a:solidFill>
                  <a:schemeClr val="tx1"/>
                </a:solidFill>
                <a:latin typeface="微软雅黑" panose="020B0503020204020204" pitchFamily="34" charset="-122"/>
              </a:rPr>
              <a:t>该部分通过字段规整、候选生成、图谱打分和人工复核入口，将未知实体归入合理关系。</a:t>
            </a:r>
            <a:endParaRPr lang="zh-CN" altLang="en-US" sz="1600" b="0">
              <a:solidFill>
                <a:schemeClr val="tx1"/>
              </a:solidFill>
              <a:latin typeface="微软雅黑" panose="020B0503020204020204" pitchFamily="34" charset="-122"/>
            </a:endParaRPr>
          </a:p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zh-CN" altLang="en-US" sz="1600">
                <a:latin typeface="微软雅黑" panose="020B0503020204020204" pitchFamily="34" charset="-122"/>
                <a:sym typeface="+mn-ea"/>
              </a:rPr>
              <a:t>知识补全拆成三步：先用 FastText 表示字段名称，再通过 SpaceTransformer 映射到图谱嵌入空间，最后用 ComplEx 对候选三元组排序。</a:t>
            </a:r>
            <a:endParaRPr lang="zh-CN" altLang="en-US" sz="1600">
              <a:latin typeface="微软雅黑" panose="020B0503020204020204" pitchFamily="34" charset="-122"/>
              <a:sym typeface="+mn-ea"/>
            </a:endParaRPr>
          </a:p>
          <a:p>
            <a:pPr algn="l">
              <a:lnSpc>
                <a:spcPct val="100000"/>
              </a:lnSpc>
            </a:pPr>
            <a:endParaRPr lang="zh-CN" altLang="en-US" sz="1600" b="0">
              <a:solidFill>
                <a:schemeClr val="tx1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019165" y="2968498"/>
            <a:ext cx="5303520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20"/>
          <p:cNvSpPr txBox="1"/>
          <p:nvPr/>
        </p:nvSpPr>
        <p:spPr>
          <a:xfrm>
            <a:off x="6128893" y="3041650"/>
            <a:ext cx="5084064" cy="256032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500" b="1">
                <a:solidFill>
                  <a:srgbClr val="0070C0"/>
                </a:solidFill>
                <a:latin typeface="微软雅黑" panose="020B0503020204020204" pitchFamily="34" charset="-122"/>
              </a:rPr>
              <a:t>三阶段方法</a:t>
            </a:r>
            <a:endParaRPr sz="15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21"/>
          <p:cNvSpPr txBox="1"/>
          <p:nvPr/>
        </p:nvSpPr>
        <p:spPr>
          <a:xfrm>
            <a:off x="6128893" y="3352546"/>
            <a:ext cx="5084064" cy="859536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200" b="0">
                <a:solidFill>
                  <a:srgbClr val="20364D"/>
                </a:solidFill>
                <a:latin typeface="微软雅黑" panose="020B0503020204020204" pitchFamily="34" charset="-122"/>
              </a:rPr>
              <a:t>• FastText：字符 n-gram 聚合，适合缩写和未登录字段</a:t>
            </a:r>
            <a:endParaRPr sz="120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200" b="0">
                <a:solidFill>
                  <a:srgbClr val="20364D"/>
                </a:solidFill>
                <a:latin typeface="微软雅黑" panose="020B0503020204020204" pitchFamily="34" charset="-122"/>
              </a:rPr>
              <a:t>• SpaceTransformer：语义向量映射到图谱空间</a:t>
            </a:r>
            <a:endParaRPr sz="120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200" b="0">
                <a:solidFill>
                  <a:srgbClr val="20364D"/>
                </a:solidFill>
                <a:latin typeface="微软雅黑" panose="020B0503020204020204" pitchFamily="34" charset="-122"/>
              </a:rPr>
              <a:t>• ComplEx：对候选三元组打分，保留关系方向性</a:t>
            </a:r>
            <a:endParaRPr sz="1200" b="0">
              <a:solidFill>
                <a:srgbClr val="20364D"/>
              </a:solidFill>
              <a:latin typeface="微软雅黑" panose="020B0503020204020204" pitchFamily="34" charset="-122"/>
            </a:endParaRPr>
          </a:p>
        </p:txBody>
      </p:sp>
      <p:sp>
        <p:nvSpPr>
          <p:cNvPr id="47" name="Rectangle 67"/>
          <p:cNvSpPr/>
          <p:nvPr/>
        </p:nvSpPr>
        <p:spPr>
          <a:xfrm>
            <a:off x="6128385" y="4431665"/>
            <a:ext cx="5157470" cy="1452880"/>
          </a:xfrm>
          <a:prstGeom prst="rect">
            <a:avLst/>
          </a:prstGeom>
          <a:solidFill>
            <a:srgbClr val="F4FAFF"/>
          </a:solidFill>
          <a:ln w="15240">
            <a:solidFill>
              <a:srgbClr val="F4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68"/>
          <p:cNvSpPr/>
          <p:nvPr/>
        </p:nvSpPr>
        <p:spPr>
          <a:xfrm flipH="1">
            <a:off x="6127750" y="4431665"/>
            <a:ext cx="76200" cy="14535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69"/>
          <p:cNvSpPr txBox="1"/>
          <p:nvPr/>
        </p:nvSpPr>
        <p:spPr>
          <a:xfrm>
            <a:off x="6338570" y="4596130"/>
            <a:ext cx="4681728" cy="1106805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• </a:t>
            </a: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FastText: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适合处理工业字段命名短、缩写多、组合形式复杂的问题，能够增强系统对未知字段和命名变体的泛化能力。</a:t>
            </a:r>
            <a:endParaRPr lang="zh-CN" altLang="en-US"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•SpaceTransformer: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用于连接文本语义表示与知识图谱表示空间，使字段名称中蕴含的语义能够参与图谱补全推理。</a:t>
            </a:r>
            <a:endParaRPr lang="zh-CN" altLang="en-US"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lang="en-US" altLang="zh-CN" sz="1000">
                <a:solidFill>
                  <a:srgbClr val="3F5268"/>
                </a:solidFill>
                <a:latin typeface="微软雅黑" panose="020B0503020204020204" pitchFamily="34" charset="-122"/>
                <a:sym typeface="+mn-ea"/>
              </a:rPr>
              <a:t>•</a:t>
            </a: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ComplEx: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适合建模知识图谱中的方向性关系，可对候选三元组进行可信度排序，提升未知实体归属判断的准确性。</a:t>
            </a:r>
            <a:endParaRPr lang="zh-CN" altLang="en-US"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TextBox 12"/>
          <p:cNvSpPr txBox="1"/>
          <p:nvPr/>
        </p:nvSpPr>
        <p:spPr>
          <a:xfrm>
            <a:off x="2026920" y="5309870"/>
            <a:ext cx="242189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defTabSz="266700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图4 基于</a:t>
            </a: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FastText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的知识补全三阶段流程图</a:t>
            </a:r>
            <a:endParaRPr lang="zh-CN" altLang="en-US"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圆角矩形 54"/>
          <p:cNvSpPr/>
          <p:nvPr/>
        </p:nvSpPr>
        <p:spPr>
          <a:xfrm>
            <a:off x="1097280" y="986790"/>
            <a:ext cx="10032365" cy="186817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5075555" y="0"/>
            <a:ext cx="1781175" cy="7918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5025" y="215900"/>
            <a:ext cx="152273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5238750" y="213995"/>
            <a:ext cx="145415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已完成研究工作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/>
        </p:nvSpPr>
        <p:spPr>
          <a:xfrm>
            <a:off x="7033895" y="213995"/>
            <a:ext cx="170878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问题与后续计划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78" y="59069"/>
            <a:ext cx="2425903" cy="673862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1304925" y="1115060"/>
            <a:ext cx="1874520" cy="1216660"/>
          </a:xfrm>
          <a:prstGeom prst="roundRect">
            <a:avLst/>
          </a:prstGeom>
          <a:solidFill>
            <a:srgbClr val="EAF7FF"/>
          </a:solidFill>
          <a:ln w="12700">
            <a:solidFill>
              <a:srgbClr val="C9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4653" y="1188212"/>
            <a:ext cx="1655063" cy="256032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微软雅黑" panose="020B0503020204020204" pitchFamily="34" charset="-122"/>
              </a:rPr>
              <a:t>输入</a:t>
            </a:r>
            <a:endParaRPr sz="14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14653" y="1499108"/>
            <a:ext cx="1655063" cy="521208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080" b="0">
                <a:solidFill>
                  <a:srgbClr val="20364D"/>
                </a:solidFill>
                <a:latin typeface="微软雅黑" panose="020B0503020204020204" pitchFamily="34" charset="-122"/>
              </a:rPr>
              <a:t>字段名语义向量</a:t>
            </a:r>
            <a:endParaRPr sz="108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080" b="0">
                <a:solidFill>
                  <a:srgbClr val="20364D"/>
                </a:solidFill>
                <a:latin typeface="微软雅黑" panose="020B0503020204020204" pitchFamily="34" charset="-122"/>
              </a:rPr>
              <a:t>v_text ∈ R^128</a:t>
            </a:r>
            <a:endParaRPr sz="108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080" b="0">
                <a:solidFill>
                  <a:srgbClr val="20364D"/>
                </a:solidFill>
                <a:latin typeface="微软雅黑" panose="020B0503020204020204" pitchFamily="34" charset="-122"/>
              </a:rPr>
              <a:t>来源：FastText 子词聚合</a:t>
            </a:r>
            <a:endParaRPr sz="1080" b="0">
              <a:solidFill>
                <a:srgbClr val="20364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89173" y="1453388"/>
            <a:ext cx="320040" cy="274320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pPr algn="ctr"/>
            <a:r>
              <a:rPr sz="2100" b="1">
                <a:solidFill>
                  <a:srgbClr val="0070C0"/>
                </a:solidFill>
                <a:latin typeface="微软雅黑" panose="020B0503020204020204" pitchFamily="34" charset="-122"/>
              </a:rPr>
              <a:t>→</a:t>
            </a:r>
            <a:endParaRPr sz="21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Rounded Rectangle 20"/>
          <p:cNvSpPr/>
          <p:nvPr/>
        </p:nvSpPr>
        <p:spPr>
          <a:xfrm>
            <a:off x="3636645" y="1115060"/>
            <a:ext cx="1965960" cy="12166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21"/>
          <p:cNvSpPr txBox="1"/>
          <p:nvPr/>
        </p:nvSpPr>
        <p:spPr>
          <a:xfrm>
            <a:off x="3746373" y="1188212"/>
            <a:ext cx="1746504" cy="256032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微软雅黑" panose="020B0503020204020204" pitchFamily="34" charset="-122"/>
              </a:rPr>
              <a:t>变换网络</a:t>
            </a:r>
            <a:endParaRPr sz="14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746373" y="1499108"/>
            <a:ext cx="1746504" cy="624840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080" b="0">
                <a:solidFill>
                  <a:srgbClr val="20364D"/>
                </a:solidFill>
                <a:latin typeface="微软雅黑" panose="020B0503020204020204" pitchFamily="34" charset="-122"/>
              </a:rPr>
              <a:t>MLP</a:t>
            </a:r>
            <a:r>
              <a:rPr lang="en-US" sz="1080" b="0">
                <a:solidFill>
                  <a:srgbClr val="20364D"/>
                </a:solidFill>
                <a:latin typeface="微软雅黑" panose="020B0503020204020204" pitchFamily="34" charset="-122"/>
              </a:rPr>
              <a:t>             </a:t>
            </a:r>
            <a:r>
              <a:rPr sz="1080" b="0">
                <a:solidFill>
                  <a:srgbClr val="20364D"/>
                </a:solidFill>
                <a:latin typeface="微软雅黑" panose="020B0503020204020204" pitchFamily="34" charset="-122"/>
              </a:rPr>
              <a:t>128 → 128</a:t>
            </a:r>
            <a:endParaRPr sz="108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080" b="0">
                <a:solidFill>
                  <a:srgbClr val="20364D"/>
                </a:solidFill>
                <a:latin typeface="微软雅黑" panose="020B0503020204020204" pitchFamily="34" charset="-122"/>
              </a:rPr>
              <a:t>学习文本空间到 KG 空间的对应关系</a:t>
            </a:r>
            <a:endParaRPr sz="1080" b="0">
              <a:solidFill>
                <a:srgbClr val="20364D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TextBox 23"/>
          <p:cNvSpPr txBox="1"/>
          <p:nvPr/>
        </p:nvSpPr>
        <p:spPr>
          <a:xfrm>
            <a:off x="5758053" y="1453388"/>
            <a:ext cx="320040" cy="274320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pPr algn="ctr"/>
            <a:r>
              <a:rPr sz="2100" b="1">
                <a:solidFill>
                  <a:srgbClr val="0070C0"/>
                </a:solidFill>
                <a:latin typeface="微软雅黑" panose="020B0503020204020204" pitchFamily="34" charset="-122"/>
              </a:rPr>
              <a:t>→</a:t>
            </a:r>
            <a:endParaRPr sz="21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105525" y="1115060"/>
            <a:ext cx="1965960" cy="1216025"/>
          </a:xfrm>
          <a:prstGeom prst="roundRect">
            <a:avLst/>
          </a:prstGeom>
          <a:solidFill>
            <a:srgbClr val="EAF7FF"/>
          </a:solidFill>
          <a:ln w="12700">
            <a:solidFill>
              <a:srgbClr val="C9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25"/>
          <p:cNvSpPr txBox="1"/>
          <p:nvPr/>
        </p:nvSpPr>
        <p:spPr>
          <a:xfrm>
            <a:off x="6215253" y="1188212"/>
            <a:ext cx="1746504" cy="256032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微软雅黑" panose="020B0503020204020204" pitchFamily="34" charset="-122"/>
              </a:rPr>
              <a:t>输出</a:t>
            </a:r>
            <a:endParaRPr sz="14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TextBox 26"/>
          <p:cNvSpPr txBox="1"/>
          <p:nvPr/>
        </p:nvSpPr>
        <p:spPr>
          <a:xfrm>
            <a:off x="6215253" y="1499108"/>
            <a:ext cx="1746504" cy="521208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080" b="0">
                <a:solidFill>
                  <a:srgbClr val="20364D"/>
                </a:solidFill>
                <a:latin typeface="微软雅黑" panose="020B0503020204020204" pitchFamily="34" charset="-122"/>
              </a:rPr>
              <a:t>KG 空间向量</a:t>
            </a:r>
            <a:endParaRPr sz="108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080" b="0">
                <a:solidFill>
                  <a:srgbClr val="20364D"/>
                </a:solidFill>
                <a:latin typeface="微软雅黑" panose="020B0503020204020204" pitchFamily="34" charset="-122"/>
              </a:rPr>
              <a:t>z ∈ R^128</a:t>
            </a:r>
            <a:endParaRPr sz="108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080" b="0">
                <a:solidFill>
                  <a:srgbClr val="20364D"/>
                </a:solidFill>
                <a:latin typeface="微软雅黑" panose="020B0503020204020204" pitchFamily="34" charset="-122"/>
              </a:rPr>
              <a:t>与 ComplEx 实体嵌入维度一致</a:t>
            </a:r>
            <a:endParaRPr sz="1080" b="0">
              <a:solidFill>
                <a:srgbClr val="20364D"/>
              </a:solidFill>
              <a:latin typeface="微软雅黑" panose="020B0503020204020204" pitchFamily="34" charset="-122"/>
            </a:endParaRPr>
          </a:p>
        </p:txBody>
      </p:sp>
      <p:sp>
        <p:nvSpPr>
          <p:cNvPr id="9" name="TextBox 27"/>
          <p:cNvSpPr txBox="1"/>
          <p:nvPr/>
        </p:nvSpPr>
        <p:spPr>
          <a:xfrm>
            <a:off x="8236077" y="1453388"/>
            <a:ext cx="320040" cy="274320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pPr algn="ctr"/>
            <a:r>
              <a:rPr sz="2100" b="1">
                <a:solidFill>
                  <a:srgbClr val="0070C0"/>
                </a:solidFill>
                <a:latin typeface="微软雅黑" panose="020B0503020204020204" pitchFamily="34" charset="-122"/>
              </a:rPr>
              <a:t>→</a:t>
            </a:r>
            <a:endParaRPr sz="21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574405" y="1115060"/>
            <a:ext cx="2331720" cy="12153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4133" y="1188212"/>
            <a:ext cx="2112263" cy="256032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微软雅黑" panose="020B0503020204020204" pitchFamily="34" charset="-122"/>
              </a:rPr>
              <a:t>复数拆分</a:t>
            </a:r>
            <a:endParaRPr sz="14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84133" y="1499108"/>
            <a:ext cx="2112263" cy="521208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080" b="0">
                <a:solidFill>
                  <a:srgbClr val="20364D"/>
                </a:solidFill>
                <a:latin typeface="微软雅黑" panose="020B0503020204020204" pitchFamily="34" charset="-122"/>
              </a:rPr>
              <a:t>z = [Re(t), Im(t)]</a:t>
            </a:r>
            <a:endParaRPr sz="108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080" b="0">
                <a:solidFill>
                  <a:srgbClr val="20364D"/>
                </a:solidFill>
                <a:latin typeface="微软雅黑" panose="020B0503020204020204" pitchFamily="34" charset="-122"/>
              </a:rPr>
              <a:t>64 维实部 + 64 维虚部</a:t>
            </a:r>
            <a:endParaRPr sz="108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080" b="0">
                <a:solidFill>
                  <a:srgbClr val="20364D"/>
                </a:solidFill>
                <a:latin typeface="微软雅黑" panose="020B0503020204020204" pitchFamily="34" charset="-122"/>
              </a:rPr>
              <a:t>形成 t = Re(t) + i·Im(t)</a:t>
            </a:r>
            <a:endParaRPr sz="1080" b="0">
              <a:solidFill>
                <a:srgbClr val="20364D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1995" y="4669790"/>
            <a:ext cx="2618105" cy="457200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995" y="4549775"/>
            <a:ext cx="6384290" cy="696595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660400" y="5459095"/>
            <a:ext cx="10725150" cy="5835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1600">
                <a:latin typeface="微软雅黑" panose="020B0503020204020204" pitchFamily="34" charset="-122"/>
                <a:sym typeface="+mn-ea"/>
              </a:rPr>
              <a:t>ComplEx 的实体向量和关系向量都是从 IMKG 的真实三元组出发，通过随机初始化、正负样本训练、打分函数得到的。最终这些向量用于判断三元组的合理性，帮助未知字段找到正确的父节点，实现开放世界知识补全</a:t>
            </a:r>
            <a:endParaRPr lang="zh-CN" altLang="en-US" sz="1600">
              <a:latin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659765" y="3734435"/>
            <a:ext cx="10725785" cy="6026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algn="l">
              <a:lnSpc>
                <a:spcPct val="100000"/>
              </a:lnSpc>
              <a:buClrTx/>
              <a:buSzTx/>
              <a:buNone/>
            </a:pPr>
            <a:r>
              <a:rPr lang="zh-CN" altLang="en-US" sz="1600">
                <a:latin typeface="微软雅黑" panose="020B0503020204020204" pitchFamily="34" charset="-122"/>
                <a:sym typeface="+mn-ea"/>
              </a:rPr>
              <a:t>遍历所有可能的 head ∈ E（E 是 IMKG 中的实体集合）用 ComplEx 的打分函数，计算每个候选 head 的 score，选中分数最高的即为tail应该在IMKG中应该挂靠的节点</a:t>
            </a:r>
            <a:endParaRPr lang="zh-CN" altLang="en-US" sz="1600"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54" name="TextBox 14"/>
          <p:cNvSpPr txBox="1"/>
          <p:nvPr/>
        </p:nvSpPr>
        <p:spPr>
          <a:xfrm>
            <a:off x="686943" y="3109087"/>
            <a:ext cx="10698480" cy="475488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250" b="0">
                <a:solidFill>
                  <a:srgbClr val="687789"/>
                </a:solidFill>
                <a:latin typeface="微软雅黑" panose="020B0503020204020204" pitchFamily="34" charset="-122"/>
              </a:rPr>
              <a:t>经过 SpaceTransformer 后，未知字段已经被表示为 KG 空间中的复数向量。ComplEx 进一步把候选父实体、候选关系和未知实体组合成三元组，并计算可信度得分。</a:t>
            </a:r>
            <a:endParaRPr sz="1250" b="0">
              <a:solidFill>
                <a:srgbClr val="6877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TextBox 12"/>
          <p:cNvSpPr txBox="1"/>
          <p:nvPr/>
        </p:nvSpPr>
        <p:spPr>
          <a:xfrm>
            <a:off x="4567555" y="2429510"/>
            <a:ext cx="2421890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defTabSz="266700" latinLnBrk="1">
              <a:lnSpc>
                <a:spcPct val="150000"/>
              </a:lnSpc>
              <a:buClrTx/>
              <a:buSzTx/>
              <a:buFontTx/>
            </a:pPr>
            <a:r>
              <a:rPr sz="1000">
                <a:solidFill>
                  <a:srgbClr val="687789"/>
                </a:solidFill>
                <a:latin typeface="微软雅黑" panose="020B0503020204020204" pitchFamily="34" charset="-122"/>
                <a:sym typeface="+mn-ea"/>
              </a:rPr>
              <a:t>SpaceTransformer</a:t>
            </a:r>
            <a:endParaRPr lang="en-US"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5075555" y="0"/>
            <a:ext cx="1781175" cy="7918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5025" y="215900"/>
            <a:ext cx="152273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5238750" y="213995"/>
            <a:ext cx="145415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已完成研究工作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/>
        </p:nvSpPr>
        <p:spPr>
          <a:xfrm>
            <a:off x="7033895" y="213995"/>
            <a:ext cx="170878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问题与后续计划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78" y="59069"/>
            <a:ext cx="2425903" cy="673862"/>
          </a:xfrm>
          <a:prstGeom prst="rect">
            <a:avLst/>
          </a:prstGeom>
        </p:spPr>
      </p:pic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</a:t>
            </a:r>
            <a:r>
              <a:rPr lang="zh-CN" altLang="en-US" sz="18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endParaRPr lang="zh-CN" altLang="en-US" sz="1865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4"/>
          <p:cNvSpPr txBox="1"/>
          <p:nvPr/>
        </p:nvSpPr>
        <p:spPr>
          <a:xfrm>
            <a:off x="749808" y="1894967"/>
            <a:ext cx="10698480" cy="327025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300" b="0">
                <a:solidFill>
                  <a:srgbClr val="687789"/>
                </a:solidFill>
                <a:latin typeface="微软雅黑" panose="020B0503020204020204" pitchFamily="34" charset="-122"/>
              </a:rPr>
              <a:t>生成目标</a:t>
            </a:r>
            <a:r>
              <a:rPr lang="zh-CN" sz="1300" b="0">
                <a:solidFill>
                  <a:srgbClr val="687789"/>
                </a:solidFill>
                <a:latin typeface="微软雅黑" panose="020B0503020204020204" pitchFamily="34" charset="-122"/>
              </a:rPr>
              <a:t>是</a:t>
            </a:r>
            <a:r>
              <a:rPr sz="1300" b="0">
                <a:solidFill>
                  <a:srgbClr val="687789"/>
                </a:solidFill>
                <a:latin typeface="微软雅黑" panose="020B0503020204020204" pitchFamily="34" charset="-122"/>
              </a:rPr>
              <a:t>形成可渲染、可追溯的组件树。当前主流程采用 Merge 模式：KG 提供语义骨架，OPC UA Frame 提供实时值。</a:t>
            </a:r>
            <a:endParaRPr sz="1300" b="0">
              <a:solidFill>
                <a:srgbClr val="687789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4" name="Table 27"/>
          <p:cNvGraphicFramePr>
            <a:graphicFrameLocks noGrp="1"/>
          </p:cNvGraphicFramePr>
          <p:nvPr/>
        </p:nvGraphicFramePr>
        <p:xfrm>
          <a:off x="812800" y="2325243"/>
          <a:ext cx="8229600" cy="1517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828800"/>
                <a:gridCol w="1828800"/>
                <a:gridCol w="1828800"/>
                <a:gridCol w="1417320"/>
              </a:tblGrid>
              <a:tr h="37947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生成模式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输入依据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优点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不足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当前使用</a:t>
                      </a:r>
                      <a:endParaRPr sz="10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0070C0"/>
                    </a:solidFill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KG-only</a:t>
                      </a:r>
                      <a:endParaRPr sz="10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知识图谱</a:t>
                      </a:r>
                      <a:endParaRPr sz="10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结构清晰</a:t>
                      </a:r>
                      <a:endParaRPr sz="10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缺少实时值</a:t>
                      </a:r>
                      <a:endParaRPr sz="10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结构预览</a:t>
                      </a:r>
                      <a:endParaRPr sz="10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Frame-only</a:t>
                      </a:r>
                      <a:endParaRPr sz="10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数据帧</a:t>
                      </a:r>
                      <a:endParaRPr sz="10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生成快</a:t>
                      </a:r>
                      <a:endParaRPr sz="10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语义层级弱</a:t>
                      </a:r>
                      <a:endParaRPr sz="10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快速字段页</a:t>
                      </a:r>
                      <a:endParaRPr sz="10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</a:tr>
              <a:tr h="379476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Merge</a:t>
                      </a:r>
                      <a:endParaRPr sz="10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KG + Frame</a:t>
                      </a:r>
                      <a:endParaRPr sz="10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结构和值兼顾</a:t>
                      </a:r>
                      <a:endParaRPr sz="10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需要映射校验</a:t>
                      </a:r>
                      <a:endParaRPr sz="10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主流程</a:t>
                      </a:r>
                      <a:endParaRPr sz="10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017520" y="857885"/>
            <a:ext cx="1817370" cy="868680"/>
          </a:xfrm>
          <a:prstGeom prst="roundRect">
            <a:avLst/>
          </a:prstGeom>
          <a:solidFill>
            <a:srgbClr val="EAF7FF"/>
          </a:solidFill>
          <a:ln w="12700">
            <a:solidFill>
              <a:srgbClr val="C9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27375" y="930910"/>
            <a:ext cx="1635125" cy="357505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500" b="1">
                <a:solidFill>
                  <a:srgbClr val="0070C0"/>
                </a:solidFill>
                <a:latin typeface="微软雅黑" panose="020B0503020204020204" pitchFamily="34" charset="-122"/>
              </a:rPr>
              <a:t>IMKG</a:t>
            </a:r>
            <a:endParaRPr sz="15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27375" y="1242060"/>
            <a:ext cx="1635125" cy="495935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200" b="0">
                <a:solidFill>
                  <a:srgbClr val="20364D"/>
                </a:solidFill>
                <a:latin typeface="微软雅黑" panose="020B0503020204020204" pitchFamily="34" charset="-122"/>
              </a:rPr>
              <a:t>组件、属性、操作关系</a:t>
            </a:r>
            <a:endParaRPr sz="1200" b="0">
              <a:solidFill>
                <a:srgbClr val="20364D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41925" y="1057275"/>
            <a:ext cx="340995" cy="495935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pPr algn="ctr"/>
            <a:r>
              <a:rPr sz="2400" b="1">
                <a:solidFill>
                  <a:srgbClr val="0070C0"/>
                </a:solidFill>
                <a:latin typeface="微软雅黑" panose="020B0503020204020204" pitchFamily="34" charset="-122"/>
              </a:rPr>
              <a:t>+</a:t>
            </a:r>
            <a:endParaRPr sz="24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989320" y="857885"/>
            <a:ext cx="2044065" cy="868680"/>
          </a:xfrm>
          <a:prstGeom prst="roundRect">
            <a:avLst/>
          </a:prstGeom>
          <a:solidFill>
            <a:srgbClr val="EAF7FF"/>
          </a:solidFill>
          <a:ln w="12700">
            <a:solidFill>
              <a:srgbClr val="C9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21"/>
          <p:cNvSpPr txBox="1"/>
          <p:nvPr/>
        </p:nvSpPr>
        <p:spPr>
          <a:xfrm>
            <a:off x="6099175" y="930910"/>
            <a:ext cx="1862455" cy="357505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500" b="1">
                <a:solidFill>
                  <a:srgbClr val="0070C0"/>
                </a:solidFill>
                <a:latin typeface="微软雅黑" panose="020B0503020204020204" pitchFamily="34" charset="-122"/>
              </a:rPr>
              <a:t>OPC UA Frame</a:t>
            </a:r>
            <a:endParaRPr sz="15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99175" y="1242060"/>
            <a:ext cx="1862455" cy="495935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200" b="0">
                <a:solidFill>
                  <a:srgbClr val="20364D"/>
                </a:solidFill>
                <a:latin typeface="微软雅黑" panose="020B0503020204020204" pitchFamily="34" charset="-122"/>
              </a:rPr>
              <a:t>node_id、value、data_type</a:t>
            </a:r>
            <a:endParaRPr sz="1200" b="0">
              <a:solidFill>
                <a:srgbClr val="20364D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TextBox 23"/>
          <p:cNvSpPr txBox="1"/>
          <p:nvPr/>
        </p:nvSpPr>
        <p:spPr>
          <a:xfrm>
            <a:off x="8549640" y="1057275"/>
            <a:ext cx="416560" cy="495935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pPr algn="ctr"/>
            <a:r>
              <a:rPr sz="2400" b="1">
                <a:solidFill>
                  <a:srgbClr val="0070C0"/>
                </a:solidFill>
                <a:latin typeface="微软雅黑" panose="020B0503020204020204" pitchFamily="34" charset="-122"/>
              </a:rPr>
              <a:t>→</a:t>
            </a:r>
            <a:endParaRPr sz="24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372600" y="857885"/>
            <a:ext cx="2308860" cy="868680"/>
          </a:xfrm>
          <a:prstGeom prst="roundRect">
            <a:avLst/>
          </a:prstGeom>
          <a:solidFill>
            <a:srgbClr val="EAF7FF"/>
          </a:solidFill>
          <a:ln w="12700">
            <a:solidFill>
              <a:srgbClr val="C9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25"/>
          <p:cNvSpPr txBox="1"/>
          <p:nvPr/>
        </p:nvSpPr>
        <p:spPr>
          <a:xfrm>
            <a:off x="9482455" y="930910"/>
            <a:ext cx="2127250" cy="357505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500" b="1">
                <a:solidFill>
                  <a:srgbClr val="0070C0"/>
                </a:solidFill>
                <a:latin typeface="微软雅黑" panose="020B0503020204020204" pitchFamily="34" charset="-122"/>
              </a:rPr>
              <a:t>ProjectSchema</a:t>
            </a:r>
            <a:endParaRPr sz="15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TextBox 26"/>
          <p:cNvSpPr txBox="1"/>
          <p:nvPr/>
        </p:nvSpPr>
        <p:spPr>
          <a:xfrm>
            <a:off x="9482455" y="1242060"/>
            <a:ext cx="2127250" cy="311150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200" b="0">
                <a:solidFill>
                  <a:srgbClr val="20364D"/>
                </a:solidFill>
                <a:latin typeface="微软雅黑" panose="020B0503020204020204" pitchFamily="34" charset="-122"/>
              </a:rPr>
              <a:t>组件树、控件、绑定路径</a:t>
            </a:r>
            <a:endParaRPr sz="1200" b="0">
              <a:solidFill>
                <a:srgbClr val="20364D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66" name="Table 65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12800" y="4165600"/>
          <a:ext cx="5240655" cy="2089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595"/>
                <a:gridCol w="1522095"/>
                <a:gridCol w="942975"/>
                <a:gridCol w="1443990"/>
              </a:tblGrid>
              <a:tr h="298450">
                <a:tc>
                  <a:txBody>
                    <a:bodyPr wrap="square"/>
                    <a:lstStyle/>
                    <a:p>
                      <a:r>
                        <a:rPr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输入语义</a:t>
                      </a:r>
                      <a:endParaRPr sz="92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solidFill>
                      <a:srgbClr val="0070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Schema 生成结果</a:t>
                      </a:r>
                      <a:endParaRPr sz="92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solidFill>
                      <a:srgbClr val="0070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典型组件</a:t>
                      </a:r>
                      <a:endParaRPr sz="92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solidFill>
                      <a:srgbClr val="0070C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2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设计理由</a:t>
                      </a:r>
                      <a:endParaRPr sz="92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solidFill>
                      <a:srgbClr val="0070C0"/>
                    </a:solidFill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hasComponent(p,q)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p.children 包含 q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Card / Object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保留设备部件层级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hasProperty(p,v)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p.children 包含字段控件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Input / Switch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属性可展示、可绑定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hasOperation(p,o)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生成操作按钮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Button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操作与部件保持归属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Double / Float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数值输入或显示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NumberPicker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适配工业参数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Boolean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状态开关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Switch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适配启停、报警等状态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</a:tr>
              <a:tr h="298450"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String / ByteString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文本输入或显示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Input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860" b="0">
                          <a:solidFill>
                            <a:srgbClr val="34475D"/>
                          </a:solidFill>
                          <a:latin typeface="微软雅黑" panose="020B0503020204020204" pitchFamily="34" charset="-122"/>
                        </a:rPr>
                        <a:t>适配编号、模式、名称</a:t>
                      </a:r>
                      <a:endParaRPr sz="860" b="0">
                        <a:solidFill>
                          <a:srgbClr val="34475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6576" marR="36576" marT="27432" marB="27432">
                    <a:noFill/>
                  </a:tcPr>
                </a:tc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2173605" y="6257290"/>
            <a:ext cx="2519045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defTabSz="266700" latinLnBrk="1">
              <a:lnSpc>
                <a:spcPct val="150000"/>
              </a:lnSpc>
              <a:buClrTx/>
              <a:buSzTx/>
              <a:buFontTx/>
            </a:pP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三元组关系类型→零代码组件的映射规则表</a:t>
            </a:r>
            <a:endParaRPr lang="zh-CN" altLang="en-US"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3" name="Table 16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6495415" y="4011295"/>
          <a:ext cx="5257800" cy="239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2520"/>
                <a:gridCol w="4145280"/>
              </a:tblGrid>
              <a:tr h="2997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字段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作用说明</a:t>
                      </a:r>
                      <a:endParaRPr sz="8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>
                    <a:solidFill>
                      <a:srgbClr val="0070C0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version</a:t>
                      </a:r>
                      <a:endParaRPr sz="85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标明搭建协议版本</a:t>
                      </a:r>
                      <a:endParaRPr sz="85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>
                    <a:noFill/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componentsMap</a:t>
                      </a:r>
                      <a:endParaRPr sz="85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记录组件注册信息，说明页面中用到哪些物料</a:t>
                      </a:r>
                      <a:endParaRPr sz="85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>
                    <a:noFill/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componentsTree</a:t>
                      </a:r>
                      <a:endParaRPr sz="85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以 page 为根形成组件树，决定页面主要结构</a:t>
                      </a:r>
                      <a:endParaRPr sz="85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>
                    <a:noFill/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componentName</a:t>
                      </a:r>
                      <a:endParaRPr sz="85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标明每个节点对应的组件类型</a:t>
                      </a:r>
                      <a:endParaRPr sz="85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>
                    <a:noFill/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props</a:t>
                      </a:r>
                      <a:endParaRPr sz="85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记录组件属性、显示值和绑定信息</a:t>
                      </a:r>
                      <a:endParaRPr sz="85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>
                    <a:noFill/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constants</a:t>
                      </a:r>
                      <a:endParaRPr sz="85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保存全局常量，减少重复配置</a:t>
                      </a:r>
                      <a:endParaRPr sz="85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>
                    <a:noFill/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meta / config</a:t>
                      </a:r>
                      <a:endParaRPr sz="85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记录页面元信息和运行配置</a:t>
                      </a:r>
                      <a:endParaRPr sz="85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>
                    <a:noFill/>
                  </a:tcPr>
                </a:tc>
              </a:tr>
            </a:tbl>
          </a:graphicData>
        </a:graphic>
      </p:graphicFrame>
      <p:sp>
        <p:nvSpPr>
          <p:cNvPr id="14" name="TextBox 12"/>
          <p:cNvSpPr txBox="1"/>
          <p:nvPr/>
        </p:nvSpPr>
        <p:spPr>
          <a:xfrm>
            <a:off x="7967345" y="6409055"/>
            <a:ext cx="2009775" cy="2305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defTabSz="266700" latinLnBrk="1">
              <a:lnSpc>
                <a:spcPct val="150000"/>
              </a:lnSpc>
              <a:buClrTx/>
              <a:buSzTx/>
              <a:buFontTx/>
            </a:pPr>
            <a:r>
              <a:rPr lang="en-US" altLang="zh-CN" sz="1000" b="0">
                <a:solidFill>
                  <a:srgbClr val="3F5268"/>
                </a:solidFill>
                <a:latin typeface="微软雅黑" panose="020B0503020204020204" pitchFamily="34" charset="-122"/>
              </a:rPr>
              <a:t>Schema</a:t>
            </a:r>
            <a:r>
              <a:rPr lang="zh-CN" altLang="en-US" sz="1000" b="0">
                <a:solidFill>
                  <a:srgbClr val="3F5268"/>
                </a:solidFill>
                <a:latin typeface="微软雅黑" panose="020B0503020204020204" pitchFamily="34" charset="-122"/>
              </a:rPr>
              <a:t>关键字段说明</a:t>
            </a:r>
            <a:endParaRPr lang="zh-CN" altLang="en-US" sz="1000" b="0">
              <a:solidFill>
                <a:srgbClr val="3F526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5075555" y="0"/>
            <a:ext cx="1781175" cy="7918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5025" y="215900"/>
            <a:ext cx="152273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5238750" y="213995"/>
            <a:ext cx="145415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已完成研究工作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/>
        </p:nvSpPr>
        <p:spPr>
          <a:xfrm>
            <a:off x="7033895" y="213995"/>
            <a:ext cx="170878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问题与后续计划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78" y="59069"/>
            <a:ext cx="2425903" cy="673862"/>
          </a:xfrm>
          <a:prstGeom prst="rect">
            <a:avLst/>
          </a:prstGeom>
        </p:spPr>
      </p:pic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en-US" altLang="zh-CN" sz="18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</a:t>
            </a:r>
            <a:r>
              <a:rPr lang="zh-CN" altLang="en-US" sz="18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</a:t>
            </a:r>
            <a:endParaRPr lang="zh-CN" altLang="en-US" sz="1865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6" descr="whiteboard_exported_image (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33" y="1732598"/>
            <a:ext cx="2580005" cy="406971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2520" y="1887220"/>
            <a:ext cx="7770495" cy="574040"/>
          </a:xfrm>
          <a:prstGeom prst="rect">
            <a:avLst/>
          </a:prstGeom>
          <a:noFill/>
        </p:spPr>
        <p:txBody>
          <a:bodyPr wrap="square" lIns="88900" tIns="63500" rIns="88900" bIns="63500">
            <a:noAutofit/>
          </a:bodyPr>
          <a:lstStyle/>
          <a:p>
            <a:r>
              <a:rPr sz="1300" b="0">
                <a:solidFill>
                  <a:srgbClr val="687789"/>
                </a:solidFill>
                <a:latin typeface="微软雅黑" panose="020B0503020204020204" pitchFamily="34" charset="-122"/>
              </a:rPr>
              <a:t>生成器完成初始 Schema 后，会继续进行布局优化、映射精度优化和体积优化，使结果更紧凑、更清晰，也更适合进入后续可信验证。</a:t>
            </a:r>
            <a:endParaRPr sz="1300" b="0">
              <a:solidFill>
                <a:srgbClr val="687789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Rounded Rectangle 16"/>
          <p:cNvSpPr/>
          <p:nvPr/>
        </p:nvSpPr>
        <p:spPr>
          <a:xfrm>
            <a:off x="3542665" y="2647315"/>
            <a:ext cx="2519045" cy="1874520"/>
          </a:xfrm>
          <a:prstGeom prst="roundRect">
            <a:avLst/>
          </a:prstGeom>
          <a:solidFill>
            <a:srgbClr val="EAF7FF"/>
          </a:solidFill>
          <a:ln w="12700">
            <a:solidFill>
              <a:srgbClr val="C9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17"/>
          <p:cNvSpPr txBox="1"/>
          <p:nvPr/>
        </p:nvSpPr>
        <p:spPr>
          <a:xfrm>
            <a:off x="3652393" y="2720340"/>
            <a:ext cx="2798063" cy="274320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微软雅黑" panose="020B0503020204020204" pitchFamily="34" charset="-122"/>
              </a:rPr>
              <a:t>组件布局优化</a:t>
            </a:r>
            <a:endParaRPr sz="14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TextBox 18"/>
          <p:cNvSpPr txBox="1"/>
          <p:nvPr/>
        </p:nvSpPr>
        <p:spPr>
          <a:xfrm>
            <a:off x="3652520" y="3049270"/>
            <a:ext cx="2409190" cy="918845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030" b="0">
                <a:solidFill>
                  <a:srgbClr val="20364D"/>
                </a:solidFill>
                <a:latin typeface="微软雅黑" panose="020B0503020204020204" pitchFamily="34" charset="-122"/>
              </a:rPr>
              <a:t>• 单 Card 单职责</a:t>
            </a:r>
            <a:endParaRPr sz="103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030" b="0">
                <a:solidFill>
                  <a:srgbClr val="20364D"/>
                </a:solidFill>
                <a:latin typeface="微软雅黑" panose="020B0503020204020204" pitchFamily="34" charset="-122"/>
              </a:rPr>
              <a:t>• 递归计算组件树深度</a:t>
            </a:r>
            <a:endParaRPr sz="103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030" b="0">
                <a:solidFill>
                  <a:srgbClr val="20364D"/>
                </a:solidFill>
                <a:latin typeface="微软雅黑" panose="020B0503020204020204" pitchFamily="34" charset="-122"/>
              </a:rPr>
              <a:t>• 清理不包含有效控件和操作的空 Card</a:t>
            </a:r>
            <a:endParaRPr sz="103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030" b="0">
                <a:solidFill>
                  <a:srgbClr val="20364D"/>
                </a:solidFill>
                <a:latin typeface="微软雅黑" panose="020B0503020204020204" pitchFamily="34" charset="-122"/>
              </a:rPr>
              <a:t>• 避免页面层级过深，减少无意义容器</a:t>
            </a:r>
            <a:endParaRPr sz="1030" b="0">
              <a:solidFill>
                <a:srgbClr val="20364D"/>
              </a:solidFill>
              <a:latin typeface="微软雅黑" panose="020B0503020204020204" pitchFamily="34" charset="-122"/>
            </a:endParaRPr>
          </a:p>
        </p:txBody>
      </p:sp>
      <p:sp>
        <p:nvSpPr>
          <p:cNvPr id="33" name="Rounded Rectangle 19"/>
          <p:cNvSpPr/>
          <p:nvPr/>
        </p:nvSpPr>
        <p:spPr>
          <a:xfrm>
            <a:off x="6237605" y="2647315"/>
            <a:ext cx="2582545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20"/>
          <p:cNvSpPr txBox="1"/>
          <p:nvPr/>
        </p:nvSpPr>
        <p:spPr>
          <a:xfrm>
            <a:off x="6347460" y="2720340"/>
            <a:ext cx="2150110" cy="342265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微软雅黑" panose="020B0503020204020204" pitchFamily="34" charset="-122"/>
              </a:rPr>
              <a:t>映射精度优化</a:t>
            </a:r>
            <a:endParaRPr sz="14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37" name="TextBox 21"/>
          <p:cNvSpPr txBox="1"/>
          <p:nvPr/>
        </p:nvSpPr>
        <p:spPr>
          <a:xfrm>
            <a:off x="6347460" y="3049270"/>
            <a:ext cx="2287905" cy="1076960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030" b="0">
                <a:solidFill>
                  <a:srgbClr val="20364D"/>
                </a:solidFill>
                <a:latin typeface="微软雅黑" panose="020B0503020204020204" pitchFamily="34" charset="-122"/>
              </a:rPr>
              <a:t>• 利用 hasComponent 校正层级归属</a:t>
            </a:r>
            <a:endParaRPr sz="103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030" b="0">
                <a:solidFill>
                  <a:srgbClr val="20364D"/>
                </a:solidFill>
                <a:latin typeface="微软雅黑" panose="020B0503020204020204" pitchFamily="34" charset="-122"/>
              </a:rPr>
              <a:t>• 利用 hasProperty 校正字段控件</a:t>
            </a:r>
            <a:endParaRPr sz="103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030" b="0">
                <a:solidFill>
                  <a:srgbClr val="20364D"/>
                </a:solidFill>
                <a:latin typeface="微软雅黑" panose="020B0503020204020204" pitchFamily="34" charset="-122"/>
              </a:rPr>
              <a:t>• 利用 hasOperation 校正按钮归属</a:t>
            </a:r>
            <a:endParaRPr sz="103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030" b="0">
                <a:solidFill>
                  <a:srgbClr val="20364D"/>
                </a:solidFill>
                <a:latin typeface="微软雅黑" panose="020B0503020204020204" pitchFamily="34" charset="-122"/>
              </a:rPr>
              <a:t>• 处理类型歧义、重复映射和命名不一致</a:t>
            </a:r>
            <a:endParaRPr sz="1030" b="0">
              <a:solidFill>
                <a:srgbClr val="20364D"/>
              </a:solidFill>
              <a:latin typeface="微软雅黑" panose="020B0503020204020204" pitchFamily="34" charset="-122"/>
            </a:endParaRPr>
          </a:p>
        </p:txBody>
      </p:sp>
      <p:sp>
        <p:nvSpPr>
          <p:cNvPr id="38" name="Rounded Rectangle 22"/>
          <p:cNvSpPr/>
          <p:nvPr/>
        </p:nvSpPr>
        <p:spPr>
          <a:xfrm>
            <a:off x="9006205" y="2613025"/>
            <a:ext cx="2273935" cy="1874520"/>
          </a:xfrm>
          <a:prstGeom prst="roundRect">
            <a:avLst/>
          </a:prstGeom>
          <a:solidFill>
            <a:srgbClr val="EAF7FF"/>
          </a:solidFill>
          <a:ln w="12700">
            <a:solidFill>
              <a:srgbClr val="C9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23"/>
          <p:cNvSpPr txBox="1"/>
          <p:nvPr/>
        </p:nvSpPr>
        <p:spPr>
          <a:xfrm>
            <a:off x="9115933" y="2686050"/>
            <a:ext cx="2798063" cy="274320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400" b="1">
                <a:solidFill>
                  <a:srgbClr val="0070C0"/>
                </a:solidFill>
                <a:latin typeface="微软雅黑" panose="020B0503020204020204" pitchFamily="34" charset="-122"/>
              </a:rPr>
              <a:t>文件体积优化</a:t>
            </a:r>
            <a:endParaRPr sz="140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TextBox 24"/>
          <p:cNvSpPr txBox="1"/>
          <p:nvPr/>
        </p:nvSpPr>
        <p:spPr>
          <a:xfrm>
            <a:off x="9116060" y="3014980"/>
            <a:ext cx="2219325" cy="918845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030" b="0">
                <a:solidFill>
                  <a:srgbClr val="20364D"/>
                </a:solidFill>
                <a:latin typeface="微软雅黑" panose="020B0503020204020204" pitchFamily="34" charset="-122"/>
              </a:rPr>
              <a:t>• 删除未引用的组件注册项</a:t>
            </a:r>
            <a:endParaRPr sz="103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030" b="0">
                <a:solidFill>
                  <a:srgbClr val="20364D"/>
                </a:solidFill>
                <a:latin typeface="微软雅黑" panose="020B0503020204020204" pitchFamily="34" charset="-122"/>
              </a:rPr>
              <a:t>• 裁剪空字符串、空数组、空对象</a:t>
            </a:r>
            <a:endParaRPr sz="103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030" b="0">
                <a:solidFill>
                  <a:srgbClr val="20364D"/>
                </a:solidFill>
                <a:latin typeface="微软雅黑" panose="020B0503020204020204" pitchFamily="34" charset="-122"/>
              </a:rPr>
              <a:t>• 去掉与协议默认值一致的字段</a:t>
            </a:r>
            <a:endParaRPr sz="1030" b="0">
              <a:solidFill>
                <a:srgbClr val="20364D"/>
              </a:solidFill>
              <a:latin typeface="微软雅黑" panose="020B0503020204020204" pitchFamily="34" charset="-122"/>
            </a:endParaRPr>
          </a:p>
          <a:p>
            <a:r>
              <a:rPr sz="1030" b="0">
                <a:solidFill>
                  <a:srgbClr val="20364D"/>
                </a:solidFill>
                <a:latin typeface="微软雅黑" panose="020B0503020204020204" pitchFamily="34" charset="-122"/>
              </a:rPr>
              <a:t>• 将重复全局信息提升到 constants</a:t>
            </a:r>
            <a:endParaRPr sz="1030" b="0">
              <a:solidFill>
                <a:srgbClr val="20364D"/>
              </a:solidFill>
              <a:latin typeface="微软雅黑" panose="020B0503020204020204" pitchFamily="34" charset="-122"/>
            </a:endParaRPr>
          </a:p>
        </p:txBody>
      </p:sp>
      <p:sp>
        <p:nvSpPr>
          <p:cNvPr id="41" name="Rounded Rectangle 25"/>
          <p:cNvSpPr/>
          <p:nvPr/>
        </p:nvSpPr>
        <p:spPr>
          <a:xfrm>
            <a:off x="3542665" y="4869180"/>
            <a:ext cx="3742055" cy="8959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26"/>
          <p:cNvSpPr txBox="1"/>
          <p:nvPr/>
        </p:nvSpPr>
        <p:spPr>
          <a:xfrm>
            <a:off x="3652520" y="4942205"/>
            <a:ext cx="3568065" cy="334645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350" b="1">
                <a:solidFill>
                  <a:srgbClr val="0070C0"/>
                </a:solidFill>
                <a:latin typeface="微软雅黑" panose="020B0503020204020204" pitchFamily="34" charset="-122"/>
              </a:rPr>
              <a:t>优化依据</a:t>
            </a:r>
            <a:endParaRPr sz="135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TextBox 27"/>
          <p:cNvSpPr txBox="1"/>
          <p:nvPr/>
        </p:nvSpPr>
        <p:spPr>
          <a:xfrm>
            <a:off x="3652520" y="5271770"/>
            <a:ext cx="3568065" cy="615315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060" b="0">
                <a:solidFill>
                  <a:srgbClr val="20364D"/>
                </a:solidFill>
                <a:latin typeface="微软雅黑" panose="020B0503020204020204" pitchFamily="34" charset="-122"/>
              </a:rPr>
              <a:t>系统把 componentsTree 看成一棵带有设备语义信息的有根树，再结合 IMKG 关系进行校正。这比只按字段关键词写规则更稳定。</a:t>
            </a:r>
            <a:endParaRPr sz="1060" b="0">
              <a:solidFill>
                <a:srgbClr val="20364D"/>
              </a:solidFill>
              <a:latin typeface="微软雅黑" panose="020B0503020204020204" pitchFamily="34" charset="-122"/>
            </a:endParaRPr>
          </a:p>
        </p:txBody>
      </p:sp>
      <p:sp>
        <p:nvSpPr>
          <p:cNvPr id="44" name="Rounded Rectangle 28"/>
          <p:cNvSpPr/>
          <p:nvPr/>
        </p:nvSpPr>
        <p:spPr>
          <a:xfrm>
            <a:off x="7687945" y="4865370"/>
            <a:ext cx="3806190" cy="89598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D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29"/>
          <p:cNvSpPr txBox="1"/>
          <p:nvPr/>
        </p:nvSpPr>
        <p:spPr>
          <a:xfrm>
            <a:off x="7797800" y="4938395"/>
            <a:ext cx="3625215" cy="334645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350" b="1">
                <a:solidFill>
                  <a:srgbClr val="0070C0"/>
                </a:solidFill>
                <a:latin typeface="微软雅黑" panose="020B0503020204020204" pitchFamily="34" charset="-122"/>
              </a:rPr>
              <a:t>优化目标</a:t>
            </a:r>
            <a:endParaRPr sz="1350" b="1">
              <a:solidFill>
                <a:srgbClr val="0070C0"/>
              </a:solidFill>
              <a:latin typeface="微软雅黑" panose="020B0503020204020204" pitchFamily="34" charset="-122"/>
            </a:endParaRPr>
          </a:p>
        </p:txBody>
      </p:sp>
      <p:sp>
        <p:nvSpPr>
          <p:cNvPr id="46" name="TextBox 30"/>
          <p:cNvSpPr txBox="1"/>
          <p:nvPr/>
        </p:nvSpPr>
        <p:spPr>
          <a:xfrm>
            <a:off x="7797800" y="5267960"/>
            <a:ext cx="3625215" cy="452120"/>
          </a:xfrm>
          <a:prstGeom prst="rect">
            <a:avLst/>
          </a:prstGeom>
          <a:noFill/>
        </p:spPr>
        <p:txBody>
          <a:bodyPr wrap="square" lIns="88900" tIns="63500" rIns="88900" bIns="63500">
            <a:spAutoFit/>
          </a:bodyPr>
          <a:lstStyle/>
          <a:p>
            <a:r>
              <a:rPr sz="1060" b="0">
                <a:solidFill>
                  <a:srgbClr val="20364D"/>
                </a:solidFill>
                <a:latin typeface="微软雅黑" panose="020B0503020204020204" pitchFamily="34" charset="-122"/>
              </a:rPr>
              <a:t>在不改变页面渲染语义的前提下，提高结构清晰度、映射准确性和存储效率，让验证框架更容易定位问题。</a:t>
            </a:r>
            <a:endParaRPr sz="1060" b="0">
              <a:solidFill>
                <a:srgbClr val="20364D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5075555" y="0"/>
            <a:ext cx="1781175" cy="7918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5025" y="215900"/>
            <a:ext cx="152273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5238750" y="213995"/>
            <a:ext cx="145415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已完成研究工作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/>
        </p:nvSpPr>
        <p:spPr>
          <a:xfrm>
            <a:off x="7033895" y="213995"/>
            <a:ext cx="170878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问题与后续计划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78" y="59069"/>
            <a:ext cx="2425903" cy="673862"/>
          </a:xfrm>
          <a:prstGeom prst="rect">
            <a:avLst/>
          </a:prstGeom>
        </p:spPr>
      </p:pic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8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可信验证</a:t>
            </a:r>
            <a:endParaRPr lang="zh-CN" altLang="en-US" sz="1865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73455" y="4936490"/>
            <a:ext cx="3924300" cy="16611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970" b="0">
                <a:solidFill>
                  <a:srgbClr val="3F5268"/>
                </a:solidFill>
                <a:latin typeface="微软雅黑" panose="020B0503020204020204" pitchFamily="34" charset="-122"/>
              </a:rPr>
              <a:t>• 溯源追溯：检查 Schema 节点是否有来源标记。</a:t>
            </a:r>
            <a:endParaRPr sz="97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970" b="0">
                <a:solidFill>
                  <a:srgbClr val="3F5268"/>
                </a:solidFill>
                <a:latin typeface="微软雅黑" panose="020B0503020204020204" pitchFamily="34" charset="-122"/>
              </a:rPr>
              <a:t>• Schema 合规：检查协议字段、类型和结构约束。</a:t>
            </a:r>
            <a:endParaRPr sz="97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970" b="0">
                <a:solidFill>
                  <a:srgbClr val="3F5268"/>
                </a:solidFill>
                <a:latin typeface="微软雅黑" panose="020B0503020204020204" pitchFamily="34" charset="-122"/>
              </a:rPr>
              <a:t>• 结构完整性：检查</a:t>
            </a:r>
            <a:r>
              <a:rPr sz="970">
                <a:solidFill>
                  <a:srgbClr val="3F5268"/>
                </a:solidFill>
                <a:latin typeface="微软雅黑" panose="020B0503020204020204" pitchFamily="34" charset="-122"/>
                <a:sym typeface="+mn-ea"/>
              </a:rPr>
              <a:t>ID重复、孤立节点、环路</a:t>
            </a:r>
            <a:r>
              <a:rPr lang="zh-CN" sz="970">
                <a:solidFill>
                  <a:srgbClr val="3F5268"/>
                </a:solidFill>
                <a:latin typeface="微软雅黑" panose="020B0503020204020204" pitchFamily="34" charset="-122"/>
                <a:sym typeface="+mn-ea"/>
              </a:rPr>
              <a:t>、</a:t>
            </a:r>
            <a:r>
              <a:rPr sz="970">
                <a:solidFill>
                  <a:srgbClr val="3F5268"/>
                </a:solidFill>
                <a:latin typeface="微软雅黑" panose="020B0503020204020204" pitchFamily="34" charset="-122"/>
                <a:sym typeface="+mn-ea"/>
              </a:rPr>
              <a:t>过深嵌套</a:t>
            </a:r>
            <a:r>
              <a:rPr sz="970" b="0">
                <a:solidFill>
                  <a:srgbClr val="3F5268"/>
                </a:solidFill>
                <a:latin typeface="微软雅黑" panose="020B0503020204020204" pitchFamily="34" charset="-122"/>
              </a:rPr>
              <a:t>、空容器和层级异常</a:t>
            </a:r>
            <a:r>
              <a:rPr sz="970">
                <a:solidFill>
                  <a:srgbClr val="3F5268"/>
                </a:solidFill>
                <a:latin typeface="微软雅黑" panose="020B0503020204020204" pitchFamily="34" charset="-122"/>
                <a:sym typeface="+mn-ea"/>
              </a:rPr>
              <a:t>。</a:t>
            </a:r>
            <a:endParaRPr sz="97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970" b="0">
                <a:solidFill>
                  <a:srgbClr val="3F5268"/>
                </a:solidFill>
                <a:latin typeface="微软雅黑" panose="020B0503020204020204" pitchFamily="34" charset="-122"/>
              </a:rPr>
              <a:t>• 语义保真：检查 IMKG 关系是否在 Schema 中保留</a:t>
            </a:r>
            <a:r>
              <a:rPr lang="zh-CN" sz="970" b="0">
                <a:solidFill>
                  <a:srgbClr val="3F5268"/>
                </a:solidFill>
                <a:latin typeface="微软雅黑" panose="020B0503020204020204" pitchFamily="34" charset="-122"/>
              </a:rPr>
              <a:t>，</a:t>
            </a:r>
            <a:r>
              <a:rPr sz="970">
                <a:solidFill>
                  <a:srgbClr val="3F5268"/>
                </a:solidFill>
                <a:latin typeface="微软雅黑" panose="020B0503020204020204" pitchFamily="34" charset="-122"/>
                <a:sym typeface="+mn-ea"/>
              </a:rPr>
              <a:t>检查hasComponent、hasProperty、hasOperation三类核心关系覆盖率</a:t>
            </a:r>
            <a:r>
              <a:rPr sz="970" b="0">
                <a:solidFill>
                  <a:srgbClr val="3F5268"/>
                </a:solidFill>
                <a:latin typeface="微软雅黑" panose="020B0503020204020204" pitchFamily="34" charset="-122"/>
              </a:rPr>
              <a:t>。</a:t>
            </a:r>
            <a:endParaRPr sz="97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970" b="0">
                <a:solidFill>
                  <a:srgbClr val="3F5268"/>
                </a:solidFill>
                <a:latin typeface="微软雅黑" panose="020B0503020204020204" pitchFamily="34" charset="-122"/>
              </a:rPr>
              <a:t>• 数据一致性：检查控件绑定与 OPC UA 数据帧是否一致。</a:t>
            </a:r>
            <a:endParaRPr sz="970" b="0">
              <a:solidFill>
                <a:srgbClr val="3F5268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970" b="0">
                <a:solidFill>
                  <a:srgbClr val="3F5268"/>
                </a:solidFill>
                <a:latin typeface="微软雅黑" panose="020B0503020204020204" pitchFamily="34" charset="-122"/>
              </a:rPr>
              <a:t>• 运行时验证：检查生成结果能否被运行环境解析</a:t>
            </a:r>
            <a:r>
              <a:rPr lang="zh-CN" sz="970" b="0">
                <a:solidFill>
                  <a:srgbClr val="3F5268"/>
                </a:solidFill>
                <a:latin typeface="微软雅黑" panose="020B0503020204020204" pitchFamily="34" charset="-122"/>
              </a:rPr>
              <a:t>、</a:t>
            </a:r>
            <a:r>
              <a:rPr sz="970">
                <a:solidFill>
                  <a:srgbClr val="3F5268"/>
                </a:solidFill>
                <a:latin typeface="微软雅黑" panose="020B0503020204020204" pitchFamily="34" charset="-122"/>
                <a:sym typeface="+mn-ea"/>
              </a:rPr>
              <a:t>组件注册、方法引用和表达式格式等静态可渲染性。</a:t>
            </a:r>
            <a:endParaRPr sz="970" b="0">
              <a:solidFill>
                <a:srgbClr val="3F5268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" name="图片 9" descr="whiteboard_exported_image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455" y="1664970"/>
            <a:ext cx="3924300" cy="3143250"/>
          </a:xfrm>
          <a:prstGeom prst="rect">
            <a:avLst/>
          </a:prstGeom>
        </p:spPr>
      </p:pic>
      <p:graphicFrame>
        <p:nvGraphicFramePr>
          <p:cNvPr id="3" name="Table 19"/>
          <p:cNvGraphicFramePr>
            <a:graphicFrameLocks noGrp="1"/>
          </p:cNvGraphicFramePr>
          <p:nvPr/>
        </p:nvGraphicFramePr>
        <p:xfrm>
          <a:off x="5878195" y="4500245"/>
          <a:ext cx="5303520" cy="2117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450"/>
                <a:gridCol w="1113790"/>
                <a:gridCol w="1188720"/>
                <a:gridCol w="2194560"/>
              </a:tblGrid>
              <a:tr h="43497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FTS 区间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评级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含义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</a:rPr>
                        <a:t>处理建议</a:t>
                      </a:r>
                      <a:endParaRPr sz="90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chemeClr val="accent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≥ 0.90</a:t>
                      </a:r>
                      <a:endParaRPr sz="9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A</a:t>
                      </a:r>
                      <a:endParaRPr sz="9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高度可信</a:t>
                      </a:r>
                      <a:endParaRPr sz="9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可进入演示/发布流程</a:t>
                      </a:r>
                      <a:endParaRPr sz="9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0.75 - 0.90</a:t>
                      </a:r>
                      <a:endParaRPr sz="9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B</a:t>
                      </a:r>
                      <a:endParaRPr sz="9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基本可信</a:t>
                      </a:r>
                      <a:endParaRPr sz="9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人工复核后发布</a:t>
                      </a:r>
                      <a:endParaRPr sz="9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0.60 - 0.75</a:t>
                      </a:r>
                      <a:endParaRPr sz="9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C</a:t>
                      </a:r>
                      <a:endParaRPr sz="9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需关注</a:t>
                      </a:r>
                      <a:endParaRPr sz="9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修复关键问题后再验证</a:t>
                      </a:r>
                      <a:endParaRPr sz="9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&lt; 0.60</a:t>
                      </a:r>
                      <a:endParaRPr sz="9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D</a:t>
                      </a:r>
                      <a:endParaRPr sz="9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不可信</a:t>
                      </a:r>
                      <a:endParaRPr sz="9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回到生成流程排查</a:t>
                      </a:r>
                      <a:endParaRPr sz="900" b="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50800" marR="50800" marT="38100" marB="38100">
                    <a:noFill/>
                  </a:tcPr>
                </a:tc>
              </a:tr>
            </a:tbl>
          </a:graphicData>
        </a:graphic>
      </p:graphicFrame>
      <p:graphicFrame>
        <p:nvGraphicFramePr>
          <p:cNvPr id="52" name="表格 51"/>
          <p:cNvGraphicFramePr/>
          <p:nvPr>
            <p:custDataLst>
              <p:tags r:id="rId3"/>
            </p:custDataLst>
          </p:nvPr>
        </p:nvGraphicFramePr>
        <p:xfrm>
          <a:off x="5878195" y="1405255"/>
          <a:ext cx="530352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045"/>
                <a:gridCol w="817245"/>
                <a:gridCol w="1152525"/>
                <a:gridCol w="1028700"/>
                <a:gridCol w="1437005"/>
              </a:tblGrid>
              <a:tr h="381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</a:rPr>
                        <a:t>验证层</a:t>
                      </a:r>
                      <a:endParaRPr sz="900" b="0">
                        <a:solidFill>
                          <a:schemeClr val="bg1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</a:rPr>
                        <a:t>检查项数量</a:t>
                      </a:r>
                      <a:endParaRPr sz="900" b="0">
                        <a:solidFill>
                          <a:schemeClr val="bg1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</a:rPr>
                        <a:t>评分方式</a:t>
                      </a:r>
                      <a:endParaRPr sz="900" b="0">
                        <a:solidFill>
                          <a:schemeClr val="bg1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</a:rPr>
                        <a:t>通过条件</a:t>
                      </a:r>
                      <a:endParaRPr sz="900" b="0">
                        <a:solidFill>
                          <a:schemeClr val="bg1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</a:rPr>
                        <a:t>严重等级</a:t>
                      </a:r>
                      <a:endParaRPr sz="900" b="0">
                        <a:solidFill>
                          <a:schemeClr val="bg1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solidFill>
                      <a:schemeClr val="accent6"/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溯源追溯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1项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可溯源覆盖率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无幻影节点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fatal/error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Schema合规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6项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检查项得分平均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无fatal/error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  <a:sym typeface="+mn-ea"/>
                        </a:rPr>
                        <a:t>fatal/error/warning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结构完整性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6项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检查项得分平均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无致命结构问题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  <a:sym typeface="+mn-ea"/>
                        </a:rPr>
                        <a:t>fatal/error/warning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语义保真度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4项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总体覆盖率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coverage≥0.85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  <a:sym typeface="+mn-ea"/>
                        </a:rPr>
                        <a:t>error/warning/info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数据一致性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4项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值+类型+元信息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score≥0.90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  <a:sym typeface="+mn-ea"/>
                        </a:rPr>
                        <a:t>error/warning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运行时验证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4项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检查项得分平均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</a:rPr>
                        <a:t>无fatal/error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900">
                          <a:solidFill>
                            <a:srgbClr val="20364D"/>
                          </a:solidFill>
                          <a:latin typeface="微软雅黑" panose="020B0503020204020204" pitchFamily="34" charset="-122"/>
                          <a:sym typeface="+mn-ea"/>
                        </a:rPr>
                        <a:t>fatal/error/warning</a:t>
                      </a:r>
                      <a:endParaRPr sz="900">
                        <a:solidFill>
                          <a:srgbClr val="20364D"/>
                        </a:solidFill>
                        <a:latin typeface="微软雅黑" panose="020B0503020204020204" pitchFamily="34" charset="-122"/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3" name="Text 31"/>
          <p:cNvSpPr/>
          <p:nvPr/>
        </p:nvSpPr>
        <p:spPr>
          <a:xfrm>
            <a:off x="5356225" y="1010285"/>
            <a:ext cx="6347460" cy="279400"/>
          </a:xfrm>
          <a:prstGeom prst="rect">
            <a:avLst/>
          </a:prstGeom>
          <a:solidFill>
            <a:srgbClr val="F0F8FD"/>
          </a:solidFill>
          <a:ln>
            <a:solidFill>
              <a:srgbClr val="B5DBF2"/>
            </a:solidFill>
          </a:ln>
        </p:spPr>
        <p:txBody>
          <a:bodyPr wrap="square" lIns="1143" tIns="1143" rIns="1143" bIns="1143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六层验证问题分级暴露出来：fatal/error 阻断发布，warning 提醒人工复核，info 用于后续优化。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 rot="5400000">
            <a:off x="4227759" y="-4227756"/>
            <a:ext cx="3736490" cy="1219200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5321300" y="3044202"/>
            <a:ext cx="1549400" cy="1378900"/>
            <a:chOff x="5127859" y="2518592"/>
            <a:chExt cx="1936282" cy="1723208"/>
          </a:xfrm>
        </p:grpSpPr>
        <p:sp>
          <p:nvSpPr>
            <p:cNvPr id="6" name="任意多边形 5"/>
            <p:cNvSpPr/>
            <p:nvPr/>
          </p:nvSpPr>
          <p:spPr>
            <a:xfrm>
              <a:off x="5127859" y="2518592"/>
              <a:ext cx="1936282" cy="1723208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  <p:sp>
          <p:nvSpPr>
            <p:cNvPr id="7" name="任意多边形 6"/>
            <p:cNvSpPr/>
            <p:nvPr/>
          </p:nvSpPr>
          <p:spPr>
            <a:xfrm>
              <a:off x="5257193" y="2633694"/>
              <a:ext cx="1677614" cy="1493004"/>
            </a:xfrm>
            <a:custGeom>
              <a:avLst/>
              <a:gdLst>
                <a:gd name="connsiteX0" fmla="*/ 576168 w 1961391"/>
                <a:gd name="connsiteY0" fmla="*/ 0 h 1745551"/>
                <a:gd name="connsiteX1" fmla="*/ 863600 w 1961391"/>
                <a:gd name="connsiteY1" fmla="*/ 0 h 1745551"/>
                <a:gd name="connsiteX2" fmla="*/ 1097791 w 1961391"/>
                <a:gd name="connsiteY2" fmla="*/ 0 h 1745551"/>
                <a:gd name="connsiteX3" fmla="*/ 1385223 w 1961391"/>
                <a:gd name="connsiteY3" fmla="*/ 0 h 1745551"/>
                <a:gd name="connsiteX4" fmla="*/ 1539918 w 1961391"/>
                <a:gd name="connsiteY4" fmla="*/ 88854 h 1745551"/>
                <a:gd name="connsiteX5" fmla="*/ 1940980 w 1961391"/>
                <a:gd name="connsiteY5" fmla="*/ 783921 h 1745551"/>
                <a:gd name="connsiteX6" fmla="*/ 1961391 w 1961391"/>
                <a:gd name="connsiteY6" fmla="*/ 872775 h 1745551"/>
                <a:gd name="connsiteX7" fmla="*/ 1940980 w 1961391"/>
                <a:gd name="connsiteY7" fmla="*/ 961629 h 1745551"/>
                <a:gd name="connsiteX8" fmla="*/ 1539918 w 1961391"/>
                <a:gd name="connsiteY8" fmla="*/ 1656697 h 1745551"/>
                <a:gd name="connsiteX9" fmla="*/ 1385223 w 1961391"/>
                <a:gd name="connsiteY9" fmla="*/ 1745551 h 1745551"/>
                <a:gd name="connsiteX10" fmla="*/ 1120460 w 1961391"/>
                <a:gd name="connsiteY10" fmla="*/ 1745551 h 1745551"/>
                <a:gd name="connsiteX11" fmla="*/ 1097791 w 1961391"/>
                <a:gd name="connsiteY11" fmla="*/ 1745551 h 1745551"/>
                <a:gd name="connsiteX12" fmla="*/ 1039896 w 1961391"/>
                <a:gd name="connsiteY12" fmla="*/ 1745551 h 1745551"/>
                <a:gd name="connsiteX13" fmla="*/ 1013340 w 1961391"/>
                <a:gd name="connsiteY13" fmla="*/ 1745551 h 1745551"/>
                <a:gd name="connsiteX14" fmla="*/ 948051 w 1961391"/>
                <a:gd name="connsiteY14" fmla="*/ 1745551 h 1745551"/>
                <a:gd name="connsiteX15" fmla="*/ 921495 w 1961391"/>
                <a:gd name="connsiteY15" fmla="*/ 1745551 h 1745551"/>
                <a:gd name="connsiteX16" fmla="*/ 863600 w 1961391"/>
                <a:gd name="connsiteY16" fmla="*/ 1745551 h 1745551"/>
                <a:gd name="connsiteX17" fmla="*/ 840931 w 1961391"/>
                <a:gd name="connsiteY17" fmla="*/ 1745551 h 1745551"/>
                <a:gd name="connsiteX18" fmla="*/ 576168 w 1961391"/>
                <a:gd name="connsiteY18" fmla="*/ 1745551 h 1745551"/>
                <a:gd name="connsiteX19" fmla="*/ 421473 w 1961391"/>
                <a:gd name="connsiteY19" fmla="*/ 1656697 h 1745551"/>
                <a:gd name="connsiteX20" fmla="*/ 20411 w 1961391"/>
                <a:gd name="connsiteY20" fmla="*/ 961629 h 1745551"/>
                <a:gd name="connsiteX21" fmla="*/ 0 w 1961391"/>
                <a:gd name="connsiteY21" fmla="*/ 872775 h 1745551"/>
                <a:gd name="connsiteX22" fmla="*/ 20411 w 1961391"/>
                <a:gd name="connsiteY22" fmla="*/ 783921 h 1745551"/>
                <a:gd name="connsiteX23" fmla="*/ 421473 w 1961391"/>
                <a:gd name="connsiteY23" fmla="*/ 88854 h 1745551"/>
                <a:gd name="connsiteX24" fmla="*/ 576168 w 1961391"/>
                <a:gd name="connsiteY24" fmla="*/ 0 h 1745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61391" h="1745551">
                  <a:moveTo>
                    <a:pt x="576168" y="0"/>
                  </a:moveTo>
                  <a:lnTo>
                    <a:pt x="863600" y="0"/>
                  </a:lnTo>
                  <a:lnTo>
                    <a:pt x="1097791" y="0"/>
                  </a:lnTo>
                  <a:lnTo>
                    <a:pt x="1385223" y="0"/>
                  </a:lnTo>
                  <a:cubicBezTo>
                    <a:pt x="1441086" y="0"/>
                    <a:pt x="1511271" y="40128"/>
                    <a:pt x="1539918" y="88854"/>
                  </a:cubicBezTo>
                  <a:cubicBezTo>
                    <a:pt x="1940980" y="783921"/>
                    <a:pt x="1940980" y="783921"/>
                    <a:pt x="1940980" y="783921"/>
                  </a:cubicBezTo>
                  <a:cubicBezTo>
                    <a:pt x="1954587" y="808285"/>
                    <a:pt x="1961391" y="840530"/>
                    <a:pt x="1961391" y="872775"/>
                  </a:cubicBezTo>
                  <a:cubicBezTo>
                    <a:pt x="1961391" y="905021"/>
                    <a:pt x="1954587" y="937267"/>
                    <a:pt x="1940980" y="961629"/>
                  </a:cubicBezTo>
                  <a:cubicBezTo>
                    <a:pt x="1539918" y="1656697"/>
                    <a:pt x="1539918" y="1656697"/>
                    <a:pt x="1539918" y="1656697"/>
                  </a:cubicBezTo>
                  <a:cubicBezTo>
                    <a:pt x="1511271" y="1705424"/>
                    <a:pt x="1441086" y="1745551"/>
                    <a:pt x="1385223" y="1745551"/>
                  </a:cubicBezTo>
                  <a:cubicBezTo>
                    <a:pt x="1284958" y="1745551"/>
                    <a:pt x="1197225" y="1745551"/>
                    <a:pt x="1120460" y="1745551"/>
                  </a:cubicBezTo>
                  <a:lnTo>
                    <a:pt x="1097791" y="1745551"/>
                  </a:lnTo>
                  <a:lnTo>
                    <a:pt x="1039896" y="1745551"/>
                  </a:lnTo>
                  <a:lnTo>
                    <a:pt x="1013340" y="1745551"/>
                  </a:lnTo>
                  <a:lnTo>
                    <a:pt x="948051" y="1745551"/>
                  </a:lnTo>
                  <a:lnTo>
                    <a:pt x="921495" y="1745551"/>
                  </a:lnTo>
                  <a:lnTo>
                    <a:pt x="863600" y="1745551"/>
                  </a:lnTo>
                  <a:lnTo>
                    <a:pt x="840931" y="1745551"/>
                  </a:lnTo>
                  <a:cubicBezTo>
                    <a:pt x="764166" y="1745551"/>
                    <a:pt x="676433" y="1745551"/>
                    <a:pt x="576168" y="1745551"/>
                  </a:cubicBezTo>
                  <a:cubicBezTo>
                    <a:pt x="520305" y="1745551"/>
                    <a:pt x="450120" y="1705424"/>
                    <a:pt x="421473" y="1656697"/>
                  </a:cubicBezTo>
                  <a:cubicBezTo>
                    <a:pt x="421473" y="1656697"/>
                    <a:pt x="421473" y="1656697"/>
                    <a:pt x="20411" y="961629"/>
                  </a:cubicBezTo>
                  <a:cubicBezTo>
                    <a:pt x="6804" y="937267"/>
                    <a:pt x="0" y="905021"/>
                    <a:pt x="0" y="872775"/>
                  </a:cubicBezTo>
                  <a:cubicBezTo>
                    <a:pt x="0" y="840530"/>
                    <a:pt x="6804" y="808285"/>
                    <a:pt x="20411" y="783921"/>
                  </a:cubicBezTo>
                  <a:cubicBezTo>
                    <a:pt x="20411" y="783921"/>
                    <a:pt x="20411" y="783921"/>
                    <a:pt x="421473" y="88854"/>
                  </a:cubicBezTo>
                  <a:cubicBezTo>
                    <a:pt x="450120" y="40128"/>
                    <a:pt x="520305" y="0"/>
                    <a:pt x="576168" y="0"/>
                  </a:cubicBezTo>
                  <a:close/>
                </a:path>
              </a:pathLst>
            </a:custGeom>
            <a:solidFill>
              <a:srgbClr val="9CC5F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sz="2590"/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491220" y="3502820"/>
            <a:ext cx="11963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Part.03</a:t>
            </a:r>
            <a:endParaRPr lang="en-US" altLang="zh-CN" sz="24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27401" y="4789616"/>
            <a:ext cx="5537198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spc="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问题与后续计划</a:t>
            </a:r>
            <a:endParaRPr lang="zh-CN" altLang="en-US" sz="4000" b="1" spc="6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1345" y="1592254"/>
            <a:ext cx="3943455" cy="9229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4" fill="hold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2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1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ldLvl="0" animBg="1"/>
          <p:bldP spid="8" grpId="0"/>
          <p:bldP spid="9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decel="533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0" presetID="2" presetClass="entr" presetSubtype="4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75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2000"/>
                                </p:stCondLst>
                                <p:childTnLst>
                                  <p:par>
                                    <p:cTn id="15" presetID="53" presetClass="entr" presetSubtype="1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7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8" dur="5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9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21" presetID="50" presetClass="entr" presetSubtype="0" decel="10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bldLvl="0" animBg="1"/>
          <p:bldP spid="8" grpId="0"/>
          <p:bldP spid="9" grpId="0"/>
        </p:bldLst>
      </p:timing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/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/>
        </p:nvSpPr>
        <p:spPr>
          <a:xfrm>
            <a:off x="6964045" y="0"/>
            <a:ext cx="1781175" cy="7918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/>
        </p:nvSpPr>
        <p:spPr>
          <a:xfrm>
            <a:off x="3375025" y="215900"/>
            <a:ext cx="152273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/>
        </p:nvSpPr>
        <p:spPr>
          <a:xfrm>
            <a:off x="5203825" y="215900"/>
            <a:ext cx="145415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已完成研究工作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/>
        </p:nvSpPr>
        <p:spPr>
          <a:xfrm>
            <a:off x="7033895" y="213995"/>
            <a:ext cx="170878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问题与后续计划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5050884" y="283187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78" y="59069"/>
            <a:ext cx="2425903" cy="673862"/>
          </a:xfrm>
          <a:prstGeom prst="rect">
            <a:avLst/>
          </a:prstGeom>
        </p:spPr>
      </p:pic>
      <p:cxnSp>
        <p:nvCxnSpPr>
          <p:cNvPr id="34" name="直接连接符 33"/>
          <p:cNvCxnSpPr/>
          <p:nvPr/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/>
        </p:nvSpPr>
        <p:spPr>
          <a:xfrm>
            <a:off x="813104" y="1108968"/>
            <a:ext cx="1625296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sz="18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存在问题</a:t>
            </a:r>
            <a:endParaRPr lang="zh-CN" sz="1865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学论网-矩形 1"/>
          <p:cNvSpPr/>
          <p:nvPr/>
        </p:nvSpPr>
        <p:spPr>
          <a:xfrm>
            <a:off x="966470" y="1866900"/>
            <a:ext cx="3312160" cy="4249420"/>
          </a:xfrm>
          <a:prstGeom prst="rect">
            <a:avLst/>
          </a:prstGeom>
          <a:noFill/>
          <a:ln w="12700" cap="flat" cmpd="sng" algn="ctr">
            <a:solidFill>
              <a:srgbClr val="448AD7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3" name="学论网-矩形 1"/>
          <p:cNvSpPr/>
          <p:nvPr/>
        </p:nvSpPr>
        <p:spPr>
          <a:xfrm>
            <a:off x="4421505" y="1866900"/>
            <a:ext cx="3312160" cy="4249420"/>
          </a:xfrm>
          <a:prstGeom prst="rect">
            <a:avLst/>
          </a:prstGeom>
          <a:noFill/>
          <a:ln w="12700" cap="flat" cmpd="sng" algn="ctr">
            <a:solidFill>
              <a:srgbClr val="448AD7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4" name="学论网-矩形 1"/>
          <p:cNvSpPr/>
          <p:nvPr/>
        </p:nvSpPr>
        <p:spPr>
          <a:xfrm>
            <a:off x="7876540" y="1866900"/>
            <a:ext cx="3312160" cy="4249420"/>
          </a:xfrm>
          <a:prstGeom prst="rect">
            <a:avLst/>
          </a:prstGeom>
          <a:noFill/>
          <a:ln w="12700" cap="flat" cmpd="sng" algn="ctr">
            <a:solidFill>
              <a:srgbClr val="448AD7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5" name="学论网-www.xuelun.me"/>
          <p:cNvSpPr txBox="1"/>
          <p:nvPr/>
        </p:nvSpPr>
        <p:spPr>
          <a:xfrm>
            <a:off x="1066800" y="2057400"/>
            <a:ext cx="3154045" cy="38906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知识补全稳定性优化</a:t>
            </a:r>
            <a:endParaRPr lang="zh-CN" altLang="en-US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06400" algn="l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知识补全对字段命名变体的处理仍不够稳定。面对厂商缩写和行业别名时，未知字段的语义归属仍可能出现偏差。</a:t>
            </a:r>
            <a:endParaRPr lang="zh-CN" alt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06400" algn="l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后续将进一步完善字段预处理和术语规范化过程，采用多证据融合方式判断未知实体的父组件和关系类型，减少单纯依赖名称相似度造成的误判。</a:t>
            </a:r>
            <a:endParaRPr lang="zh-CN" alt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学论网-www.xuelun.me"/>
          <p:cNvSpPr txBox="1"/>
          <p:nvPr/>
        </p:nvSpPr>
        <p:spPr>
          <a:xfrm>
            <a:off x="4549775" y="2057400"/>
            <a:ext cx="3100705" cy="24961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生成质量评价</a:t>
            </a:r>
            <a:endParaRPr lang="zh-CN" altLang="en-US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06400" algn="l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生成质量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CQS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评价仍需进一步细化。当前评分更偏向验证可信度，对组件层级、命名一致性和文件体积等生成质量刻画不足。</a:t>
            </a:r>
            <a:endParaRPr lang="zh-CN" alt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06400" algn="l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后续将在现有验证结果基础上补充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CQS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生成质量评分模块，从结构质量、语义质量、数据绑定质量和可维护质量等方面评价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本身质量。</a:t>
            </a:r>
            <a:endParaRPr lang="zh-CN" alt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学论网-www.xuelun.me"/>
          <p:cNvSpPr txBox="1"/>
          <p:nvPr/>
        </p:nvSpPr>
        <p:spPr>
          <a:xfrm>
            <a:off x="8149590" y="2057400"/>
            <a:ext cx="2781300" cy="38906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验证报告解释性不足</a:t>
            </a:r>
            <a:endParaRPr lang="zh-CN" altLang="en-US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06400" algn="l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当前验证框架能够输出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fatal、error、warning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info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等问题等级，但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warning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info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级问题说明不够直观。部分提示只是补全实体、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Frame-only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节点或轻微浮点误差，不一定影响页面使用。若缺少问题来源、影响范围和处理建议，使用者容易误判严重性。</a:t>
            </a:r>
            <a:endParaRPr lang="zh-CN" alt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533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5" grpId="0"/>
      <p:bldP spid="52" grpId="0" bldLvl="0" animBg="1"/>
      <p:bldP spid="53" grpId="0" bldLvl="0" animBg="1"/>
      <p:bldP spid="54" grpId="0" bldLvl="0" animBg="1"/>
      <p:bldP spid="55" grpId="0"/>
      <p:bldP spid="56" grpId="0"/>
      <p:bldP spid="5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4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79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228600" dist="50800" dir="5400000" algn="t" rotWithShape="0">
              <a:prstClr val="black">
                <a:alpha val="2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80"/>
          </a:p>
        </p:txBody>
      </p:sp>
      <p:sp>
        <p:nvSpPr>
          <p:cNvPr id="24" name="矩形 23"/>
          <p:cNvSpPr/>
          <p:nvPr>
            <p:custDataLst>
              <p:tags r:id="rId2"/>
            </p:custDataLst>
          </p:nvPr>
        </p:nvSpPr>
        <p:spPr>
          <a:xfrm>
            <a:off x="6964045" y="0"/>
            <a:ext cx="1781175" cy="79184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26" name="TextBox 6"/>
          <p:cNvSpPr txBox="1"/>
          <p:nvPr>
            <p:custDataLst>
              <p:tags r:id="rId3"/>
            </p:custDataLst>
          </p:nvPr>
        </p:nvSpPr>
        <p:spPr>
          <a:xfrm>
            <a:off x="3375025" y="215900"/>
            <a:ext cx="152273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研究背景与目标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TextBox 7"/>
          <p:cNvSpPr txBox="1"/>
          <p:nvPr>
            <p:custDataLst>
              <p:tags r:id="rId4"/>
            </p:custDataLst>
          </p:nvPr>
        </p:nvSpPr>
        <p:spPr>
          <a:xfrm>
            <a:off x="5203825" y="215900"/>
            <a:ext cx="145415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已完成研究工作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9"/>
          <p:cNvSpPr txBox="1"/>
          <p:nvPr>
            <p:custDataLst>
              <p:tags r:id="rId5"/>
            </p:custDataLst>
          </p:nvPr>
        </p:nvSpPr>
        <p:spPr>
          <a:xfrm>
            <a:off x="7033895" y="213995"/>
            <a:ext cx="1708785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问题与后续计划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>
            <p:custDataLst>
              <p:tags r:id="rId6"/>
            </p:custDataLst>
          </p:nvPr>
        </p:nvCxnSpPr>
        <p:spPr>
          <a:xfrm>
            <a:off x="5050884" y="283187"/>
            <a:ext cx="0" cy="24581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78" y="59069"/>
            <a:ext cx="2425903" cy="673862"/>
          </a:xfrm>
          <a:prstGeom prst="rect">
            <a:avLst/>
          </a:prstGeom>
        </p:spPr>
      </p:pic>
      <p:cxnSp>
        <p:nvCxnSpPr>
          <p:cNvPr id="34" name="直接连接符 33"/>
          <p:cNvCxnSpPr/>
          <p:nvPr>
            <p:custDataLst>
              <p:tags r:id="rId9"/>
            </p:custDataLst>
          </p:nvPr>
        </p:nvCxnSpPr>
        <p:spPr>
          <a:xfrm>
            <a:off x="425752" y="1528840"/>
            <a:ext cx="240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6"/>
          <p:cNvSpPr txBox="1"/>
          <p:nvPr>
            <p:custDataLst>
              <p:tags r:id="rId10"/>
            </p:custDataLst>
          </p:nvPr>
        </p:nvSpPr>
        <p:spPr>
          <a:xfrm>
            <a:off x="652780" y="1108710"/>
            <a:ext cx="1945640" cy="382270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865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后期完成研究工作</a:t>
            </a:r>
            <a:endParaRPr lang="zh-CN" altLang="en-US" sz="1865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学论网-矩形 1"/>
          <p:cNvSpPr/>
          <p:nvPr>
            <p:custDataLst>
              <p:tags r:id="rId11"/>
            </p:custDataLst>
          </p:nvPr>
        </p:nvSpPr>
        <p:spPr>
          <a:xfrm>
            <a:off x="966470" y="1866900"/>
            <a:ext cx="3312160" cy="4249420"/>
          </a:xfrm>
          <a:prstGeom prst="rect">
            <a:avLst/>
          </a:prstGeom>
          <a:noFill/>
          <a:ln w="12700" cap="flat" cmpd="sng" algn="ctr">
            <a:solidFill>
              <a:srgbClr val="448AD7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3" name="学论网-矩形 1"/>
          <p:cNvSpPr/>
          <p:nvPr>
            <p:custDataLst>
              <p:tags r:id="rId12"/>
            </p:custDataLst>
          </p:nvPr>
        </p:nvSpPr>
        <p:spPr>
          <a:xfrm>
            <a:off x="4421505" y="1866900"/>
            <a:ext cx="3312160" cy="4249420"/>
          </a:xfrm>
          <a:prstGeom prst="rect">
            <a:avLst/>
          </a:prstGeom>
          <a:noFill/>
          <a:ln w="12700" cap="flat" cmpd="sng" algn="ctr">
            <a:solidFill>
              <a:srgbClr val="448AD7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4" name="学论网-矩形 1"/>
          <p:cNvSpPr/>
          <p:nvPr>
            <p:custDataLst>
              <p:tags r:id="rId13"/>
            </p:custDataLst>
          </p:nvPr>
        </p:nvSpPr>
        <p:spPr>
          <a:xfrm>
            <a:off x="7876540" y="1866900"/>
            <a:ext cx="3312160" cy="4249420"/>
          </a:xfrm>
          <a:prstGeom prst="rect">
            <a:avLst/>
          </a:prstGeom>
          <a:noFill/>
          <a:ln w="12700" cap="flat" cmpd="sng" algn="ctr">
            <a:solidFill>
              <a:srgbClr val="448AD7"/>
            </a:solidFill>
            <a:prstDash val="sysDot"/>
          </a:ln>
          <a:effectLst/>
        </p:spPr>
        <p:txBody>
          <a:bodyPr rtlCol="0" anchor="ctr"/>
          <a:lstStyle/>
          <a:p>
            <a:pPr lvl="0" algn="ctr"/>
            <a:endParaRPr lang="zh-CN" altLang="en-US" sz="2800" b="1" kern="0" dirty="0">
              <a:gradFill>
                <a:gsLst>
                  <a:gs pos="100000">
                    <a:schemeClr val="bg1"/>
                  </a:gs>
                  <a:gs pos="0">
                    <a:schemeClr val="bg1">
                      <a:lumMod val="95000"/>
                    </a:schemeClr>
                  </a:gs>
                </a:gsLst>
                <a:path path="circle">
                  <a:fillToRect l="100000" b="100000"/>
                </a:path>
              </a:gradFill>
              <a:ea typeface="微软雅黑" panose="020B0503020204020204" pitchFamily="34" charset="-122"/>
            </a:endParaRPr>
          </a:p>
        </p:txBody>
      </p:sp>
      <p:sp>
        <p:nvSpPr>
          <p:cNvPr id="55" name="学论网-www.xuelun.me"/>
          <p:cNvSpPr txBox="1"/>
          <p:nvPr>
            <p:custDataLst>
              <p:tags r:id="rId14"/>
            </p:custDataLst>
          </p:nvPr>
        </p:nvSpPr>
        <p:spPr>
          <a:xfrm>
            <a:off x="1066800" y="2057400"/>
            <a:ext cx="3154045" cy="38906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设备扩展与知识补全</a:t>
            </a:r>
            <a:endParaRPr lang="zh-CN" altLang="en-US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06400" algn="l">
              <a:lnSpc>
                <a:spcPct val="150000"/>
              </a:lnSpc>
              <a:buClrTx/>
              <a:buSzTx/>
              <a:buNone/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后续将扩大设备类型覆盖范围，从当前六类工业设备扩展到注塑机、冲压机、检测设备等场景，提升系统通用性。</a:t>
            </a:r>
            <a:endParaRPr lang="zh-CN" alt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06400" algn="l">
              <a:lnSpc>
                <a:spcPct val="150000"/>
              </a:lnSpc>
              <a:buClrTx/>
              <a:buSzTx/>
              <a:buNone/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同时丰富各类设备的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IMKG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知识图谱，补充更多组件、属性和操作三元组，并完善字段术语规范化、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FastText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表示与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ComplEx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推理融合机制，提高未知字段补全稳定性。</a:t>
            </a:r>
            <a:endParaRPr lang="zh-CN" alt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学论网-www.xuelun.me"/>
          <p:cNvSpPr txBox="1"/>
          <p:nvPr>
            <p:custDataLst>
              <p:tags r:id="rId15"/>
            </p:custDataLst>
          </p:nvPr>
        </p:nvSpPr>
        <p:spPr>
          <a:xfrm>
            <a:off x="4549775" y="2057400"/>
            <a:ext cx="3100705" cy="24961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生成质量评价</a:t>
            </a:r>
            <a:endParaRPr lang="zh-CN" altLang="en-US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06400" algn="l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后续将完善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生成质量优化方法，增强页面布局、组件联动和高级组件支持。</a:t>
            </a:r>
            <a:endParaRPr lang="zh-CN" alt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06400" algn="l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同时补充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CQS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生成质量评分模块，从结构质量、语义质量、数据绑定质量和可维护质量等方面评价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Schema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质量，并将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FTS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明确为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CQS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VTS</a:t>
            </a: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组合评分。</a:t>
            </a:r>
            <a:endParaRPr lang="zh-CN" alt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学论网-www.xuelun.me"/>
          <p:cNvSpPr txBox="1"/>
          <p:nvPr>
            <p:custDataLst>
              <p:tags r:id="rId16"/>
            </p:custDataLst>
          </p:nvPr>
        </p:nvSpPr>
        <p:spPr>
          <a:xfrm>
            <a:off x="8149590" y="2057400"/>
            <a:ext cx="2781300" cy="38906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动态数据场景覆盖</a:t>
            </a:r>
            <a:endParaRPr lang="zh-CN" altLang="en-US" sz="2400" b="1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06400" algn="l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1740828767"/>
                </a:ext>
              </a:extLst>
            </a:pPr>
            <a:r>
              <a:rPr lang="zh-CN" altLang="en-US" sz="1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运行时验证主要关注组件名、方法引用和表达式格式，对连续刷新、异步更新和异常值输入等场景覆盖有限。后续将补充数据变化时的控件同步、按钮可用性和异常值处理检查，提高验证结果对真实使用过程的参考价值。</a:t>
            </a:r>
            <a:endParaRPr lang="zh-CN" altLang="en-US" sz="1600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decel="533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533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decel="533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5" grpId="0"/>
      <p:bldP spid="52" grpId="0" bldLvl="0" animBg="1"/>
      <p:bldP spid="53" grpId="0" bldLvl="0" animBg="1"/>
      <p:bldP spid="54" grpId="0" bldLvl="0" animBg="1"/>
      <p:bldP spid="55" grpId="0"/>
      <p:bldP spid="56" grpId="0"/>
      <p:bldP spid="5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MH_Other_8"/>
          <p:cNvPicPr/>
          <p:nvPr>
            <p:custDataLst>
              <p:tags r:id="rId1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5400000" flipH="1">
            <a:off x="6024000" y="-3032194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MH_Other_8"/>
          <p:cNvPicPr/>
          <p:nvPr>
            <p:custDataLst>
              <p:tags r:id="rId3"/>
            </p:custDataLst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7"/>
          <a:stretch>
            <a:fillRect/>
          </a:stretch>
        </p:blipFill>
        <p:spPr bwMode="auto">
          <a:xfrm rot="16200000" flipH="1" flipV="1">
            <a:off x="6024001" y="-127232"/>
            <a:ext cx="144000" cy="10450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0" y="2204967"/>
            <a:ext cx="12192000" cy="286136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2590800" y="3137598"/>
            <a:ext cx="7010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</a:t>
            </a:r>
            <a:r>
              <a:rPr lang="zh-CN" altLang="en-US" sz="6600" b="1" dirty="0" smtClean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各位老师指正</a:t>
            </a:r>
            <a:endParaRPr lang="zh-CN" altLang="en-US" sz="6600" b="1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6"/>
          <p:cNvSpPr txBox="1"/>
          <p:nvPr/>
        </p:nvSpPr>
        <p:spPr>
          <a:xfrm>
            <a:off x="4093771" y="5644929"/>
            <a:ext cx="1723500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l"/>
            <a:r>
              <a:rPr lang="zh-CN" altLang="en-US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</a:t>
            </a:r>
            <a:r>
              <a:rPr lang="zh-CN" altLang="en-US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轻习</a:t>
            </a:r>
            <a:endParaRPr lang="zh-CN" altLang="en-US" dirty="0" smtClean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7"/>
          <p:cNvSpPr txBox="1"/>
          <p:nvPr/>
        </p:nvSpPr>
        <p:spPr>
          <a:xfrm>
            <a:off x="6925230" y="5644929"/>
            <a:ext cx="2055322" cy="400085"/>
          </a:xfrm>
          <a:prstGeom prst="rect">
            <a:avLst/>
          </a:prstGeom>
          <a:noFill/>
        </p:spPr>
        <p:txBody>
          <a:bodyPr wrap="none" lIns="91416" tIns="45708" rIns="91416" bIns="45708" rtlCol="0">
            <a:spAutoFit/>
          </a:bodyPr>
          <a:lstStyle/>
          <a:p>
            <a:pPr algn="l"/>
            <a:r>
              <a:rPr lang="zh-CN" altLang="en-US" sz="2000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</a:t>
            </a:r>
            <a:r>
              <a:rPr lang="zh-CN" altLang="en-US" sz="20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：轻习</a:t>
            </a: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Freeform 7"/>
          <p:cNvSpPr>
            <a:spLocks noChangeAspect="1" noEditPoints="1"/>
          </p:cNvSpPr>
          <p:nvPr/>
        </p:nvSpPr>
        <p:spPr bwMode="auto">
          <a:xfrm>
            <a:off x="3596444" y="5611849"/>
            <a:ext cx="462900" cy="466244"/>
          </a:xfrm>
          <a:custGeom>
            <a:avLst/>
            <a:gdLst>
              <a:gd name="T0" fmla="*/ 661 w 904"/>
              <a:gd name="T1" fmla="*/ 461 h 905"/>
              <a:gd name="T2" fmla="*/ 661 w 904"/>
              <a:gd name="T3" fmla="*/ 339 h 905"/>
              <a:gd name="T4" fmla="*/ 605 w 904"/>
              <a:gd name="T5" fmla="*/ 339 h 905"/>
              <a:gd name="T6" fmla="*/ 605 w 904"/>
              <a:gd name="T7" fmla="*/ 461 h 905"/>
              <a:gd name="T8" fmla="*/ 456 w 904"/>
              <a:gd name="T9" fmla="*/ 610 h 905"/>
              <a:gd name="T10" fmla="*/ 453 w 904"/>
              <a:gd name="T11" fmla="*/ 610 h 905"/>
              <a:gd name="T12" fmla="*/ 452 w 904"/>
              <a:gd name="T13" fmla="*/ 610 h 905"/>
              <a:gd name="T14" fmla="*/ 451 w 904"/>
              <a:gd name="T15" fmla="*/ 610 h 905"/>
              <a:gd name="T16" fmla="*/ 448 w 904"/>
              <a:gd name="T17" fmla="*/ 610 h 905"/>
              <a:gd name="T18" fmla="*/ 299 w 904"/>
              <a:gd name="T19" fmla="*/ 461 h 905"/>
              <a:gd name="T20" fmla="*/ 299 w 904"/>
              <a:gd name="T21" fmla="*/ 339 h 905"/>
              <a:gd name="T22" fmla="*/ 244 w 904"/>
              <a:gd name="T23" fmla="*/ 339 h 905"/>
              <a:gd name="T24" fmla="*/ 244 w 904"/>
              <a:gd name="T25" fmla="*/ 461 h 905"/>
              <a:gd name="T26" fmla="*/ 419 w 904"/>
              <a:gd name="T27" fmla="*/ 664 h 905"/>
              <a:gd name="T28" fmla="*/ 419 w 904"/>
              <a:gd name="T29" fmla="*/ 752 h 905"/>
              <a:gd name="T30" fmla="*/ 295 w 904"/>
              <a:gd name="T31" fmla="*/ 787 h 905"/>
              <a:gd name="T32" fmla="*/ 610 w 904"/>
              <a:gd name="T33" fmla="*/ 787 h 905"/>
              <a:gd name="T34" fmla="*/ 484 w 904"/>
              <a:gd name="T35" fmla="*/ 751 h 905"/>
              <a:gd name="T36" fmla="*/ 484 w 904"/>
              <a:gd name="T37" fmla="*/ 664 h 905"/>
              <a:gd name="T38" fmla="*/ 661 w 904"/>
              <a:gd name="T39" fmla="*/ 461 h 905"/>
              <a:gd name="T40" fmla="*/ 450 w 904"/>
              <a:gd name="T41" fmla="*/ 558 h 905"/>
              <a:gd name="T42" fmla="*/ 452 w 904"/>
              <a:gd name="T43" fmla="*/ 558 h 905"/>
              <a:gd name="T44" fmla="*/ 454 w 904"/>
              <a:gd name="T45" fmla="*/ 558 h 905"/>
              <a:gd name="T46" fmla="*/ 554 w 904"/>
              <a:gd name="T47" fmla="*/ 459 h 905"/>
              <a:gd name="T48" fmla="*/ 554 w 904"/>
              <a:gd name="T49" fmla="*/ 218 h 905"/>
              <a:gd name="T50" fmla="*/ 454 w 904"/>
              <a:gd name="T51" fmla="*/ 118 h 905"/>
              <a:gd name="T52" fmla="*/ 452 w 904"/>
              <a:gd name="T53" fmla="*/ 118 h 905"/>
              <a:gd name="T54" fmla="*/ 450 w 904"/>
              <a:gd name="T55" fmla="*/ 118 h 905"/>
              <a:gd name="T56" fmla="*/ 351 w 904"/>
              <a:gd name="T57" fmla="*/ 218 h 905"/>
              <a:gd name="T58" fmla="*/ 351 w 904"/>
              <a:gd name="T59" fmla="*/ 459 h 905"/>
              <a:gd name="T60" fmla="*/ 450 w 904"/>
              <a:gd name="T61" fmla="*/ 558 h 905"/>
              <a:gd name="T62" fmla="*/ 452 w 904"/>
              <a:gd name="T63" fmla="*/ 0 h 905"/>
              <a:gd name="T64" fmla="*/ 904 w 904"/>
              <a:gd name="T65" fmla="*/ 453 h 905"/>
              <a:gd name="T66" fmla="*/ 452 w 904"/>
              <a:gd name="T67" fmla="*/ 905 h 905"/>
              <a:gd name="T68" fmla="*/ 0 w 904"/>
              <a:gd name="T69" fmla="*/ 453 h 905"/>
              <a:gd name="T70" fmla="*/ 452 w 904"/>
              <a:gd name="T71" fmla="*/ 0 h 9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904" h="905">
                <a:moveTo>
                  <a:pt x="661" y="461"/>
                </a:moveTo>
                <a:lnTo>
                  <a:pt x="661" y="339"/>
                </a:lnTo>
                <a:cubicBezTo>
                  <a:pt x="661" y="304"/>
                  <a:pt x="605" y="304"/>
                  <a:pt x="605" y="339"/>
                </a:cubicBezTo>
                <a:lnTo>
                  <a:pt x="605" y="461"/>
                </a:lnTo>
                <a:cubicBezTo>
                  <a:pt x="605" y="543"/>
                  <a:pt x="538" y="610"/>
                  <a:pt x="456" y="610"/>
                </a:cubicBezTo>
                <a:cubicBezTo>
                  <a:pt x="455" y="610"/>
                  <a:pt x="454" y="610"/>
                  <a:pt x="453" y="610"/>
                </a:cubicBezTo>
                <a:lnTo>
                  <a:pt x="452" y="610"/>
                </a:lnTo>
                <a:lnTo>
                  <a:pt x="451" y="610"/>
                </a:lnTo>
                <a:cubicBezTo>
                  <a:pt x="450" y="610"/>
                  <a:pt x="449" y="610"/>
                  <a:pt x="448" y="610"/>
                </a:cubicBezTo>
                <a:cubicBezTo>
                  <a:pt x="366" y="610"/>
                  <a:pt x="299" y="543"/>
                  <a:pt x="299" y="461"/>
                </a:cubicBezTo>
                <a:lnTo>
                  <a:pt x="299" y="339"/>
                </a:lnTo>
                <a:cubicBezTo>
                  <a:pt x="299" y="304"/>
                  <a:pt x="244" y="304"/>
                  <a:pt x="244" y="339"/>
                </a:cubicBezTo>
                <a:cubicBezTo>
                  <a:pt x="244" y="355"/>
                  <a:pt x="244" y="461"/>
                  <a:pt x="244" y="461"/>
                </a:cubicBezTo>
                <a:cubicBezTo>
                  <a:pt x="244" y="564"/>
                  <a:pt x="320" y="650"/>
                  <a:pt x="419" y="664"/>
                </a:cubicBezTo>
                <a:lnTo>
                  <a:pt x="419" y="752"/>
                </a:lnTo>
                <a:lnTo>
                  <a:pt x="295" y="787"/>
                </a:lnTo>
                <a:lnTo>
                  <a:pt x="610" y="787"/>
                </a:lnTo>
                <a:lnTo>
                  <a:pt x="484" y="751"/>
                </a:lnTo>
                <a:lnTo>
                  <a:pt x="484" y="664"/>
                </a:lnTo>
                <a:cubicBezTo>
                  <a:pt x="584" y="650"/>
                  <a:pt x="661" y="564"/>
                  <a:pt x="661" y="461"/>
                </a:cubicBezTo>
                <a:close/>
                <a:moveTo>
                  <a:pt x="450" y="558"/>
                </a:moveTo>
                <a:cubicBezTo>
                  <a:pt x="451" y="558"/>
                  <a:pt x="451" y="558"/>
                  <a:pt x="452" y="558"/>
                </a:cubicBezTo>
                <a:cubicBezTo>
                  <a:pt x="453" y="558"/>
                  <a:pt x="453" y="558"/>
                  <a:pt x="454" y="558"/>
                </a:cubicBezTo>
                <a:cubicBezTo>
                  <a:pt x="509" y="558"/>
                  <a:pt x="554" y="514"/>
                  <a:pt x="554" y="459"/>
                </a:cubicBezTo>
                <a:lnTo>
                  <a:pt x="554" y="218"/>
                </a:lnTo>
                <a:cubicBezTo>
                  <a:pt x="554" y="163"/>
                  <a:pt x="509" y="118"/>
                  <a:pt x="454" y="118"/>
                </a:cubicBezTo>
                <a:cubicBezTo>
                  <a:pt x="453" y="118"/>
                  <a:pt x="453" y="118"/>
                  <a:pt x="452" y="118"/>
                </a:cubicBezTo>
                <a:cubicBezTo>
                  <a:pt x="452" y="118"/>
                  <a:pt x="451" y="118"/>
                  <a:pt x="450" y="118"/>
                </a:cubicBezTo>
                <a:cubicBezTo>
                  <a:pt x="395" y="118"/>
                  <a:pt x="351" y="163"/>
                  <a:pt x="351" y="218"/>
                </a:cubicBezTo>
                <a:lnTo>
                  <a:pt x="351" y="459"/>
                </a:lnTo>
                <a:cubicBezTo>
                  <a:pt x="351" y="514"/>
                  <a:pt x="395" y="558"/>
                  <a:pt x="450" y="558"/>
                </a:cubicBezTo>
                <a:close/>
                <a:moveTo>
                  <a:pt x="452" y="0"/>
                </a:moveTo>
                <a:cubicBezTo>
                  <a:pt x="702" y="0"/>
                  <a:pt x="904" y="203"/>
                  <a:pt x="904" y="453"/>
                </a:cubicBezTo>
                <a:cubicBezTo>
                  <a:pt x="904" y="702"/>
                  <a:pt x="702" y="905"/>
                  <a:pt x="452" y="905"/>
                </a:cubicBezTo>
                <a:cubicBezTo>
                  <a:pt x="202" y="905"/>
                  <a:pt x="0" y="702"/>
                  <a:pt x="0" y="453"/>
                </a:cubicBezTo>
                <a:cubicBezTo>
                  <a:pt x="0" y="203"/>
                  <a:pt x="202" y="0"/>
                  <a:pt x="452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8"/>
          <p:cNvSpPr>
            <a:spLocks noChangeAspect="1" noEditPoints="1"/>
          </p:cNvSpPr>
          <p:nvPr/>
        </p:nvSpPr>
        <p:spPr bwMode="auto">
          <a:xfrm>
            <a:off x="6438230" y="5611848"/>
            <a:ext cx="464288" cy="466246"/>
          </a:xfrm>
          <a:custGeom>
            <a:avLst/>
            <a:gdLst>
              <a:gd name="T0" fmla="*/ 422 w 422"/>
              <a:gd name="T1" fmla="*/ 211 h 422"/>
              <a:gd name="T2" fmla="*/ 0 w 422"/>
              <a:gd name="T3" fmla="*/ 211 h 422"/>
              <a:gd name="T4" fmla="*/ 340 w 422"/>
              <a:gd name="T5" fmla="*/ 117 h 422"/>
              <a:gd name="T6" fmla="*/ 345 w 422"/>
              <a:gd name="T7" fmla="*/ 123 h 422"/>
              <a:gd name="T8" fmla="*/ 344 w 422"/>
              <a:gd name="T9" fmla="*/ 226 h 422"/>
              <a:gd name="T10" fmla="*/ 340 w 422"/>
              <a:gd name="T11" fmla="*/ 227 h 422"/>
              <a:gd name="T12" fmla="*/ 217 w 422"/>
              <a:gd name="T13" fmla="*/ 226 h 422"/>
              <a:gd name="T14" fmla="*/ 215 w 422"/>
              <a:gd name="T15" fmla="*/ 222 h 422"/>
              <a:gd name="T16" fmla="*/ 286 w 422"/>
              <a:gd name="T17" fmla="*/ 164 h 422"/>
              <a:gd name="T18" fmla="*/ 215 w 422"/>
              <a:gd name="T19" fmla="*/ 171 h 422"/>
              <a:gd name="T20" fmla="*/ 217 w 422"/>
              <a:gd name="T21" fmla="*/ 119 h 422"/>
              <a:gd name="T22" fmla="*/ 220 w 422"/>
              <a:gd name="T23" fmla="*/ 117 h 422"/>
              <a:gd name="T24" fmla="*/ 220 w 422"/>
              <a:gd name="T25" fmla="*/ 96 h 422"/>
              <a:gd name="T26" fmla="*/ 202 w 422"/>
              <a:gd name="T27" fmla="*/ 104 h 422"/>
              <a:gd name="T28" fmla="*/ 194 w 422"/>
              <a:gd name="T29" fmla="*/ 174 h 422"/>
              <a:gd name="T30" fmla="*/ 186 w 422"/>
              <a:gd name="T31" fmla="*/ 166 h 422"/>
              <a:gd name="T32" fmla="*/ 137 w 422"/>
              <a:gd name="T33" fmla="*/ 151 h 422"/>
              <a:gd name="T34" fmla="*/ 54 w 422"/>
              <a:gd name="T35" fmla="*/ 173 h 422"/>
              <a:gd name="T36" fmla="*/ 77 w 422"/>
              <a:gd name="T37" fmla="*/ 243 h 422"/>
              <a:gd name="T38" fmla="*/ 81 w 422"/>
              <a:gd name="T39" fmla="*/ 192 h 422"/>
              <a:gd name="T40" fmla="*/ 81 w 422"/>
              <a:gd name="T41" fmla="*/ 256 h 422"/>
              <a:gd name="T42" fmla="*/ 106 w 422"/>
              <a:gd name="T43" fmla="*/ 350 h 422"/>
              <a:gd name="T44" fmla="*/ 112 w 422"/>
              <a:gd name="T45" fmla="*/ 272 h 422"/>
              <a:gd name="T46" fmla="*/ 137 w 422"/>
              <a:gd name="T47" fmla="*/ 350 h 422"/>
              <a:gd name="T48" fmla="*/ 137 w 422"/>
              <a:gd name="T49" fmla="*/ 256 h 422"/>
              <a:gd name="T50" fmla="*/ 137 w 422"/>
              <a:gd name="T51" fmla="*/ 192 h 422"/>
              <a:gd name="T52" fmla="*/ 162 w 422"/>
              <a:gd name="T53" fmla="*/ 192 h 422"/>
              <a:gd name="T54" fmla="*/ 186 w 422"/>
              <a:gd name="T55" fmla="*/ 185 h 422"/>
              <a:gd name="T56" fmla="*/ 194 w 422"/>
              <a:gd name="T57" fmla="*/ 222 h 422"/>
              <a:gd name="T58" fmla="*/ 202 w 422"/>
              <a:gd name="T59" fmla="*/ 240 h 422"/>
              <a:gd name="T60" fmla="*/ 220 w 422"/>
              <a:gd name="T61" fmla="*/ 248 h 422"/>
              <a:gd name="T62" fmla="*/ 359 w 422"/>
              <a:gd name="T63" fmla="*/ 240 h 422"/>
              <a:gd name="T64" fmla="*/ 366 w 422"/>
              <a:gd name="T65" fmla="*/ 222 h 422"/>
              <a:gd name="T66" fmla="*/ 359 w 422"/>
              <a:gd name="T67" fmla="*/ 104 h 422"/>
              <a:gd name="T68" fmla="*/ 220 w 422"/>
              <a:gd name="T69" fmla="*/ 96 h 422"/>
              <a:gd name="T70" fmla="*/ 344 w 422"/>
              <a:gd name="T71" fmla="*/ 277 h 422"/>
              <a:gd name="T72" fmla="*/ 346 w 422"/>
              <a:gd name="T73" fmla="*/ 351 h 422"/>
              <a:gd name="T74" fmla="*/ 298 w 422"/>
              <a:gd name="T75" fmla="*/ 277 h 422"/>
              <a:gd name="T76" fmla="*/ 250 w 422"/>
              <a:gd name="T77" fmla="*/ 351 h 422"/>
              <a:gd name="T78" fmla="*/ 244 w 422"/>
              <a:gd name="T79" fmla="*/ 277 h 422"/>
              <a:gd name="T80" fmla="*/ 221 w 422"/>
              <a:gd name="T81" fmla="*/ 254 h 422"/>
              <a:gd name="T82" fmla="*/ 109 w 422"/>
              <a:gd name="T83" fmla="*/ 75 h 422"/>
              <a:gd name="T84" fmla="*/ 109 w 422"/>
              <a:gd name="T85" fmla="*/ 146 h 422"/>
              <a:gd name="T86" fmla="*/ 109 w 422"/>
              <a:gd name="T87" fmla="*/ 75 h 4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422" h="422">
                <a:moveTo>
                  <a:pt x="211" y="0"/>
                </a:moveTo>
                <a:cubicBezTo>
                  <a:pt x="327" y="0"/>
                  <a:pt x="422" y="94"/>
                  <a:pt x="422" y="211"/>
                </a:cubicBezTo>
                <a:cubicBezTo>
                  <a:pt x="422" y="327"/>
                  <a:pt x="327" y="422"/>
                  <a:pt x="211" y="422"/>
                </a:cubicBezTo>
                <a:cubicBezTo>
                  <a:pt x="94" y="422"/>
                  <a:pt x="0" y="327"/>
                  <a:pt x="0" y="211"/>
                </a:cubicBezTo>
                <a:cubicBezTo>
                  <a:pt x="0" y="94"/>
                  <a:pt x="94" y="0"/>
                  <a:pt x="211" y="0"/>
                </a:cubicBezTo>
                <a:close/>
                <a:moveTo>
                  <a:pt x="340" y="117"/>
                </a:moveTo>
                <a:cubicBezTo>
                  <a:pt x="341" y="117"/>
                  <a:pt x="343" y="118"/>
                  <a:pt x="344" y="119"/>
                </a:cubicBezTo>
                <a:cubicBezTo>
                  <a:pt x="345" y="120"/>
                  <a:pt x="345" y="121"/>
                  <a:pt x="345" y="123"/>
                </a:cubicBezTo>
                <a:lnTo>
                  <a:pt x="345" y="222"/>
                </a:lnTo>
                <a:cubicBezTo>
                  <a:pt x="345" y="223"/>
                  <a:pt x="345" y="225"/>
                  <a:pt x="344" y="226"/>
                </a:cubicBezTo>
                <a:lnTo>
                  <a:pt x="344" y="226"/>
                </a:lnTo>
                <a:cubicBezTo>
                  <a:pt x="343" y="227"/>
                  <a:pt x="341" y="227"/>
                  <a:pt x="340" y="227"/>
                </a:cubicBezTo>
                <a:lnTo>
                  <a:pt x="220" y="227"/>
                </a:lnTo>
                <a:cubicBezTo>
                  <a:pt x="219" y="227"/>
                  <a:pt x="218" y="227"/>
                  <a:pt x="217" y="226"/>
                </a:cubicBezTo>
                <a:lnTo>
                  <a:pt x="217" y="226"/>
                </a:lnTo>
                <a:cubicBezTo>
                  <a:pt x="216" y="225"/>
                  <a:pt x="215" y="223"/>
                  <a:pt x="215" y="222"/>
                </a:cubicBezTo>
                <a:lnTo>
                  <a:pt x="215" y="179"/>
                </a:lnTo>
                <a:lnTo>
                  <a:pt x="286" y="164"/>
                </a:lnTo>
                <a:lnTo>
                  <a:pt x="286" y="162"/>
                </a:lnTo>
                <a:lnTo>
                  <a:pt x="215" y="171"/>
                </a:lnTo>
                <a:lnTo>
                  <a:pt x="215" y="123"/>
                </a:lnTo>
                <a:cubicBezTo>
                  <a:pt x="215" y="121"/>
                  <a:pt x="216" y="120"/>
                  <a:pt x="217" y="119"/>
                </a:cubicBezTo>
                <a:lnTo>
                  <a:pt x="217" y="119"/>
                </a:lnTo>
                <a:cubicBezTo>
                  <a:pt x="218" y="118"/>
                  <a:pt x="219" y="117"/>
                  <a:pt x="220" y="117"/>
                </a:cubicBezTo>
                <a:lnTo>
                  <a:pt x="340" y="117"/>
                </a:lnTo>
                <a:close/>
                <a:moveTo>
                  <a:pt x="220" y="96"/>
                </a:moveTo>
                <a:cubicBezTo>
                  <a:pt x="213" y="96"/>
                  <a:pt x="206" y="99"/>
                  <a:pt x="202" y="104"/>
                </a:cubicBezTo>
                <a:lnTo>
                  <a:pt x="202" y="104"/>
                </a:lnTo>
                <a:cubicBezTo>
                  <a:pt x="197" y="109"/>
                  <a:pt x="194" y="115"/>
                  <a:pt x="194" y="123"/>
                </a:cubicBezTo>
                <a:lnTo>
                  <a:pt x="194" y="174"/>
                </a:lnTo>
                <a:lnTo>
                  <a:pt x="186" y="175"/>
                </a:lnTo>
                <a:lnTo>
                  <a:pt x="186" y="166"/>
                </a:lnTo>
                <a:lnTo>
                  <a:pt x="162" y="166"/>
                </a:lnTo>
                <a:lnTo>
                  <a:pt x="137" y="151"/>
                </a:lnTo>
                <a:lnTo>
                  <a:pt x="77" y="151"/>
                </a:lnTo>
                <a:cubicBezTo>
                  <a:pt x="64" y="151"/>
                  <a:pt x="54" y="161"/>
                  <a:pt x="54" y="173"/>
                </a:cubicBezTo>
                <a:lnTo>
                  <a:pt x="54" y="243"/>
                </a:lnTo>
                <a:lnTo>
                  <a:pt x="77" y="243"/>
                </a:lnTo>
                <a:lnTo>
                  <a:pt x="77" y="192"/>
                </a:lnTo>
                <a:lnTo>
                  <a:pt x="81" y="192"/>
                </a:lnTo>
                <a:lnTo>
                  <a:pt x="81" y="243"/>
                </a:lnTo>
                <a:lnTo>
                  <a:pt x="81" y="256"/>
                </a:lnTo>
                <a:lnTo>
                  <a:pt x="81" y="350"/>
                </a:lnTo>
                <a:lnTo>
                  <a:pt x="106" y="350"/>
                </a:lnTo>
                <a:lnTo>
                  <a:pt x="106" y="272"/>
                </a:lnTo>
                <a:lnTo>
                  <a:pt x="112" y="272"/>
                </a:lnTo>
                <a:lnTo>
                  <a:pt x="112" y="350"/>
                </a:lnTo>
                <a:lnTo>
                  <a:pt x="137" y="350"/>
                </a:lnTo>
                <a:lnTo>
                  <a:pt x="137" y="336"/>
                </a:lnTo>
                <a:lnTo>
                  <a:pt x="137" y="256"/>
                </a:lnTo>
                <a:lnTo>
                  <a:pt x="137" y="243"/>
                </a:lnTo>
                <a:lnTo>
                  <a:pt x="137" y="192"/>
                </a:lnTo>
                <a:lnTo>
                  <a:pt x="137" y="177"/>
                </a:lnTo>
                <a:lnTo>
                  <a:pt x="162" y="192"/>
                </a:lnTo>
                <a:lnTo>
                  <a:pt x="186" y="192"/>
                </a:lnTo>
                <a:lnTo>
                  <a:pt x="186" y="185"/>
                </a:lnTo>
                <a:lnTo>
                  <a:pt x="194" y="184"/>
                </a:lnTo>
                <a:lnTo>
                  <a:pt x="194" y="222"/>
                </a:lnTo>
                <a:cubicBezTo>
                  <a:pt x="194" y="229"/>
                  <a:pt x="197" y="236"/>
                  <a:pt x="202" y="240"/>
                </a:cubicBezTo>
                <a:lnTo>
                  <a:pt x="202" y="240"/>
                </a:lnTo>
                <a:lnTo>
                  <a:pt x="202" y="241"/>
                </a:lnTo>
                <a:cubicBezTo>
                  <a:pt x="207" y="245"/>
                  <a:pt x="213" y="248"/>
                  <a:pt x="220" y="248"/>
                </a:cubicBezTo>
                <a:lnTo>
                  <a:pt x="340" y="248"/>
                </a:lnTo>
                <a:cubicBezTo>
                  <a:pt x="347" y="248"/>
                  <a:pt x="354" y="245"/>
                  <a:pt x="359" y="240"/>
                </a:cubicBezTo>
                <a:lnTo>
                  <a:pt x="359" y="241"/>
                </a:lnTo>
                <a:cubicBezTo>
                  <a:pt x="363" y="236"/>
                  <a:pt x="366" y="229"/>
                  <a:pt x="366" y="222"/>
                </a:cubicBezTo>
                <a:lnTo>
                  <a:pt x="366" y="123"/>
                </a:lnTo>
                <a:cubicBezTo>
                  <a:pt x="366" y="115"/>
                  <a:pt x="363" y="109"/>
                  <a:pt x="359" y="104"/>
                </a:cubicBezTo>
                <a:cubicBezTo>
                  <a:pt x="354" y="99"/>
                  <a:pt x="347" y="96"/>
                  <a:pt x="340" y="96"/>
                </a:cubicBezTo>
                <a:lnTo>
                  <a:pt x="220" y="96"/>
                </a:lnTo>
                <a:close/>
                <a:moveTo>
                  <a:pt x="344" y="254"/>
                </a:moveTo>
                <a:lnTo>
                  <a:pt x="344" y="277"/>
                </a:lnTo>
                <a:lnTo>
                  <a:pt x="325" y="277"/>
                </a:lnTo>
                <a:lnTo>
                  <a:pt x="346" y="351"/>
                </a:lnTo>
                <a:lnTo>
                  <a:pt x="319" y="351"/>
                </a:lnTo>
                <a:lnTo>
                  <a:pt x="298" y="277"/>
                </a:lnTo>
                <a:lnTo>
                  <a:pt x="271" y="277"/>
                </a:lnTo>
                <a:lnTo>
                  <a:pt x="250" y="351"/>
                </a:lnTo>
                <a:lnTo>
                  <a:pt x="223" y="351"/>
                </a:lnTo>
                <a:lnTo>
                  <a:pt x="244" y="277"/>
                </a:lnTo>
                <a:lnTo>
                  <a:pt x="221" y="277"/>
                </a:lnTo>
                <a:lnTo>
                  <a:pt x="221" y="254"/>
                </a:lnTo>
                <a:lnTo>
                  <a:pt x="344" y="254"/>
                </a:lnTo>
                <a:close/>
                <a:moveTo>
                  <a:pt x="109" y="75"/>
                </a:moveTo>
                <a:cubicBezTo>
                  <a:pt x="129" y="75"/>
                  <a:pt x="145" y="91"/>
                  <a:pt x="145" y="111"/>
                </a:cubicBezTo>
                <a:cubicBezTo>
                  <a:pt x="145" y="130"/>
                  <a:pt x="129" y="146"/>
                  <a:pt x="109" y="146"/>
                </a:cubicBezTo>
                <a:cubicBezTo>
                  <a:pt x="90" y="146"/>
                  <a:pt x="74" y="130"/>
                  <a:pt x="74" y="111"/>
                </a:cubicBezTo>
                <a:cubicBezTo>
                  <a:pt x="74" y="91"/>
                  <a:pt x="90" y="75"/>
                  <a:pt x="109" y="75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 vert="horz" wrap="square" lIns="91416" tIns="45708" rIns="91416" bIns="45708" numCol="1" anchor="t" anchorCtr="0" compatLnSpc="1"/>
          <a:lstStyle/>
          <a:p>
            <a:endParaRPr lang="zh-CN" altLang="en-US" sz="28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33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533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99"/>
                            </p:stCondLst>
                            <p:childTnLst>
                              <p:par>
                                <p:cTn id="2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599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99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599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5" grpId="0"/>
      <p:bldP spid="13" grpId="0"/>
      <p:bldP spid="14" grpId="0"/>
      <p:bldP spid="11" grpId="0" bldLvl="0" animBg="1"/>
      <p:bldP spid="12" grpId="0" bldLvl="0" animBg="1"/>
    </p:bldLst>
  </p:timing>
</p:sld>
</file>

<file path=ppt/tags/tag1.xml><?xml version="1.0" encoding="utf-8"?>
<p:tagLst xmlns:p="http://schemas.openxmlformats.org/presentationml/2006/main">
  <p:tag name="MH" val="20151121191650"/>
  <p:tag name="MH_LIBRARY" val="GRAPHIC"/>
  <p:tag name="MH_TYPE" val="Other"/>
  <p:tag name="MH_ORDER" val="8"/>
</p:tagLst>
</file>

<file path=ppt/tags/tag2.xml><?xml version="1.0" encoding="utf-8"?>
<p:tagLst xmlns:p="http://schemas.openxmlformats.org/presentationml/2006/main">
  <p:tag name="MH" val="20151121191650"/>
  <p:tag name="MH_LIBRARY" val="GRAPHIC"/>
  <p:tag name="MH_TYPE" val="Other"/>
  <p:tag name="MH_ORDER" val="8"/>
</p:tagLst>
</file>

<file path=ppt/tags/tag3.xml><?xml version="1.0" encoding="utf-8"?>
<p:tagLst xmlns:p="http://schemas.openxmlformats.org/presentationml/2006/main">
  <p:tag name="KSO_WM_DIAGRAM_VIRTUALLY_FRAME" val="{&quot;height&quot;:37.08110236220482,&quot;left&quot;:272.63385826771656,&quot;top&quot;:441.50889763779526,&quot;width&quot;:448.34358267716533}"/>
</p:tagLst>
</file>

<file path=ppt/tags/tag4.xml><?xml version="1.0" encoding="utf-8"?>
<p:tagLst xmlns:p="http://schemas.openxmlformats.org/presentationml/2006/main">
  <p:tag name="KSO_WM_DIAGRAM_VIRTUALLY_FRAME" val="{&quot;height&quot;:37.08110236220482,&quot;left&quot;:272.63385826771656,&quot;top&quot;:441.50889763779526,&quot;width&quot;:448.34358267716533}"/>
</p:tagLst>
</file>

<file path=ppt/tags/tag5.xml><?xml version="1.0" encoding="utf-8"?>
<p:tagLst xmlns:p="http://schemas.openxmlformats.org/presentationml/2006/main">
  <p:tag name="KSO_WM_DIAGRAM_VIRTUALLY_FRAME" val="{&quot;height&quot;:37.08110236220482,&quot;left&quot;:272.63385826771656,&quot;top&quot;:441.50889763779526,&quot;width&quot;:448.34358267716533}"/>
</p:tagLst>
</file>

<file path=ppt/tags/tag6.xml><?xml version="1.0" encoding="utf-8"?>
<p:tagLst xmlns:p="http://schemas.openxmlformats.org/presentationml/2006/main">
  <p:tag name="KSO_WM_DIAGRAM_VIRTUALLY_FRAME" val="{&quot;height&quot;:37.08110236220482,&quot;left&quot;:272.63385826771656,&quot;top&quot;:441.50889763779526,&quot;width&quot;:448.34358267716533}"/>
</p:tagLst>
</file>

<file path=ppt/tags/tag7.xml><?xml version="1.0" encoding="utf-8"?>
<p:tagLst xmlns:p="http://schemas.openxmlformats.org/presentationml/2006/main">
  <p:tag name="KSO_WM_DIAGRAM_VIRTUALLY_FRAME" val="{&quot;height&quot;:209.6528346456693,&quot;left&quot;:444.2554330708661,&quot;top&quot;:171.29858267716537,&quot;width&quot;:360.7445669291339}"/>
</p:tagLst>
</file>

<file path=ppt/tags/tag8.xml><?xml version="1.0" encoding="utf-8"?>
<p:tagLst xmlns:p="http://schemas.openxmlformats.org/presentationml/2006/main">
  <p:tag name="KSO_WM_DIAGRAM_VIRTUALLY_FRAME" val="{&quot;height&quot;:209.6528346456693,&quot;left&quot;:444.2554330708661,&quot;top&quot;:171.29858267716537,&quot;width&quot;:360.7445669291339}"/>
</p:tagLst>
</file>

<file path=ppt/tags/tag9.xml><?xml version="1.0" encoding="utf-8"?>
<p:tagLst xmlns:p="http://schemas.openxmlformats.org/presentationml/2006/main">
  <p:tag name="KSO_WM_DIAGRAM_VIRTUALLY_FRAME" val="{&quot;height&quot;:209.6528346456693,&quot;left&quot;:444.2554330708661,&quot;top&quot;:171.29858267716537,&quot;width&quot;:360.7445669291339}"/>
</p:tagLst>
</file>

<file path=ppt/tags/tag10.xml><?xml version="1.0" encoding="utf-8"?>
<p:tagLst xmlns:p="http://schemas.openxmlformats.org/presentationml/2006/main">
  <p:tag name="KSO_WM_DIAGRAM_VIRTUALLY_FRAME" val="{&quot;height&quot;:209.6528346456693,&quot;left&quot;:444.2554330708661,&quot;top&quot;:171.29858267716537,&quot;width&quot;:360.7445669291339}"/>
</p:tagLst>
</file>

<file path=ppt/tags/tag11.xml><?xml version="1.0" encoding="utf-8"?>
<p:tagLst xmlns:p="http://schemas.openxmlformats.org/presentationml/2006/main">
  <p:tag name="KSO_WM_DIAGRAM_VIRTUALLY_FRAME" val="{&quot;height&quot;:209.6528346456693,&quot;left&quot;:444.2554330708661,&quot;top&quot;:171.29858267716537,&quot;width&quot;:360.7445669291339}"/>
</p:tagLst>
</file>

<file path=ppt/tags/tag12.xml><?xml version="1.0" encoding="utf-8"?>
<p:tagLst xmlns:p="http://schemas.openxmlformats.org/presentationml/2006/main">
  <p:tag name="KSO_WM_DIAGRAM_VIRTUALLY_FRAME" val="{&quot;height&quot;:209.6528346456693,&quot;left&quot;:444.2554330708661,&quot;top&quot;:171.29858267716537,&quot;width&quot;:360.7445669291339}"/>
</p:tagLst>
</file>

<file path=ppt/tags/tag13.xml><?xml version="1.0" encoding="utf-8"?>
<p:tagLst xmlns:p="http://schemas.openxmlformats.org/presentationml/2006/main">
  <p:tag name="KSO_WM_DIAGRAM_VIRTUALLY_FRAME" val="{&quot;height&quot;:500.05,&quot;left&quot;:218,&quot;top&quot;:0,&quot;width&quot;:655.2}"/>
</p:tagLst>
</file>

<file path=ppt/tags/tag14.xml><?xml version="1.0" encoding="utf-8"?>
<p:tagLst xmlns:p="http://schemas.openxmlformats.org/presentationml/2006/main">
  <p:tag name="KSO_WM_DIAGRAM_VIRTUALLY_FRAME" val="{&quot;height&quot;:500.05,&quot;left&quot;:218,&quot;top&quot;:0,&quot;width&quot;:655.2}"/>
</p:tagLst>
</file>

<file path=ppt/tags/tag15.xml><?xml version="1.0" encoding="utf-8"?>
<p:tagLst xmlns:p="http://schemas.openxmlformats.org/presentationml/2006/main">
  <p:tag name="KSO_WM_DIAGRAM_VIRTUALLY_FRAME" val="{&quot;height&quot;:500.05,&quot;left&quot;:218,&quot;top&quot;:0,&quot;width&quot;:655.2}"/>
</p:tagLst>
</file>

<file path=ppt/tags/tag16.xml><?xml version="1.0" encoding="utf-8"?>
<p:tagLst xmlns:p="http://schemas.openxmlformats.org/presentationml/2006/main">
  <p:tag name="KSO_WM_DIAGRAM_VIRTUALLY_FRAME" val="{&quot;height&quot;:500.05,&quot;left&quot;:218,&quot;top&quot;:0,&quot;width&quot;:655.2}"/>
</p:tagLst>
</file>

<file path=ppt/tags/tag17.xml><?xml version="1.0" encoding="utf-8"?>
<p:tagLst xmlns:p="http://schemas.openxmlformats.org/presentationml/2006/main">
  <p:tag name="KSO_WM_DIAGRAM_VIRTUALLY_FRAME" val="{&quot;height&quot;:500.05,&quot;left&quot;:218,&quot;top&quot;:0,&quot;width&quot;:655.2}"/>
</p:tagLst>
</file>

<file path=ppt/tags/tag18.xml><?xml version="1.0" encoding="utf-8"?>
<p:tagLst xmlns:p="http://schemas.openxmlformats.org/presentationml/2006/main">
  <p:tag name="KSO_WM_DIAGRAM_VIRTUALLY_FRAME" val="{&quot;height&quot;:500.05,&quot;left&quot;:218,&quot;top&quot;:0,&quot;width&quot;:655.2}"/>
</p:tagLst>
</file>

<file path=ppt/tags/tag19.xml><?xml version="1.0" encoding="utf-8"?>
<p:tagLst xmlns:p="http://schemas.openxmlformats.org/presentationml/2006/main">
  <p:tag name="KSO_WM_DIAGRAM_VIRTUALLY_FRAME" val="{&quot;height&quot;:500.05,&quot;left&quot;:218,&quot;top&quot;:0,&quot;width&quot;:655.2}"/>
</p:tagLst>
</file>

<file path=ppt/tags/tag20.xml><?xml version="1.0" encoding="utf-8"?>
<p:tagLst xmlns:p="http://schemas.openxmlformats.org/presentationml/2006/main">
  <p:tag name="KSO_WM_DIAGRAM_VIRTUALLY_FRAME" val="{&quot;height&quot;:500.05,&quot;left&quot;:218,&quot;top&quot;:0,&quot;width&quot;:655.2}"/>
</p:tagLst>
</file>

<file path=ppt/tags/tag21.xml><?xml version="1.0" encoding="utf-8"?>
<p:tagLst xmlns:p="http://schemas.openxmlformats.org/presentationml/2006/main">
  <p:tag name="KSO_WM_DIAGRAM_VIRTUALLY_FRAME" val="{&quot;height&quot;:500.05,&quot;left&quot;:218,&quot;top&quot;:0,&quot;width&quot;:655.2}"/>
</p:tagLst>
</file>

<file path=ppt/tags/tag22.xml><?xml version="1.0" encoding="utf-8"?>
<p:tagLst xmlns:p="http://schemas.openxmlformats.org/presentationml/2006/main">
  <p:tag name="KSO_WM_DIAGRAM_VIRTUALLY_FRAME" val="{&quot;height&quot;:500.05,&quot;left&quot;:218,&quot;top&quot;:0,&quot;width&quot;:655.2}"/>
</p:tagLst>
</file>

<file path=ppt/tags/tag23.xml><?xml version="1.0" encoding="utf-8"?>
<p:tagLst xmlns:p="http://schemas.openxmlformats.org/presentationml/2006/main">
  <p:tag name="KSO_WM_DIAGRAM_VIRTUALLY_FRAME" val="{&quot;height&quot;:500.05,&quot;left&quot;:218,&quot;top&quot;:0,&quot;width&quot;:655.2}"/>
</p:tagLst>
</file>

<file path=ppt/tags/tag24.xml><?xml version="1.0" encoding="utf-8"?>
<p:tagLst xmlns:p="http://schemas.openxmlformats.org/presentationml/2006/main">
  <p:tag name="KSO_WM_DIAGRAM_VIRTUALLY_FRAME" val="{&quot;height&quot;:500.05,&quot;left&quot;:218,&quot;top&quot;:0,&quot;width&quot;:655.2}"/>
</p:tagLst>
</file>

<file path=ppt/tags/tag25.xml><?xml version="1.0" encoding="utf-8"?>
<p:tagLst xmlns:p="http://schemas.openxmlformats.org/presentationml/2006/main">
  <p:tag name="KSO_WM_DIAGRAM_VIRTUALLY_FRAME" val="{&quot;height&quot;:500.05,&quot;left&quot;:218,&quot;top&quot;:0,&quot;width&quot;:655.2}"/>
</p:tagLst>
</file>

<file path=ppt/tags/tag26.xml><?xml version="1.0" encoding="utf-8"?>
<p:tagLst xmlns:p="http://schemas.openxmlformats.org/presentationml/2006/main">
  <p:tag name="KSO_WM_DIAGRAM_VIRTUALLY_FRAME" val="{&quot;height&quot;:500.05,&quot;left&quot;:218,&quot;top&quot;:0,&quot;width&quot;:655.2}"/>
</p:tagLst>
</file>

<file path=ppt/tags/tag27.xml><?xml version="1.0" encoding="utf-8"?>
<p:tagLst xmlns:p="http://schemas.openxmlformats.org/presentationml/2006/main">
  <p:tag name="KSO_WM_DIAGRAM_VIRTUALLY_FRAME" val="{&quot;height&quot;:500.05,&quot;left&quot;:218,&quot;top&quot;:0,&quot;width&quot;:655.2}"/>
</p:tagLst>
</file>

<file path=ppt/tags/tag28.xml><?xml version="1.0" encoding="utf-8"?>
<p:tagLst xmlns:p="http://schemas.openxmlformats.org/presentationml/2006/main">
  <p:tag name="KSO_WM_DIAGRAM_VIRTUALLY_FRAME" val="{&quot;height&quot;:500.05,&quot;left&quot;:218,&quot;top&quot;:0,&quot;width&quot;:655.2}"/>
</p:tagLst>
</file>

<file path=ppt/tags/tag29.xml><?xml version="1.0" encoding="utf-8"?>
<p:tagLst xmlns:p="http://schemas.openxmlformats.org/presentationml/2006/main">
  <p:tag name="KSO_WM_DIAGRAM_VIRTUALLY_FRAME" val="{&quot;height&quot;:195.83999999999997,&quot;left&quot;:528.48,&quot;top&quot;:270,&quot;width&quot;:369.91999999999996}"/>
</p:tagLst>
</file>

<file path=ppt/tags/tag30.xml><?xml version="1.0" encoding="utf-8"?>
<p:tagLst xmlns:p="http://schemas.openxmlformats.org/presentationml/2006/main">
  <p:tag name="KSO_WM_DIAGRAM_VIRTUALLY_FRAME" val="{&quot;height&quot;:195.83999999999997,&quot;left&quot;:528.48,&quot;top&quot;:270,&quot;width&quot;:369.91999999999996}"/>
</p:tagLst>
</file>

<file path=ppt/tags/tag31.xml><?xml version="1.0" encoding="utf-8"?>
<p:tagLst xmlns:p="http://schemas.openxmlformats.org/presentationml/2006/main">
  <p:tag name="KSO_WM_DIAGRAM_VIRTUALLY_FRAME" val="{&quot;height&quot;:195.83999999999997,&quot;left&quot;:528.48,&quot;top&quot;:270,&quot;width&quot;:369.91999999999996}"/>
</p:tagLst>
</file>

<file path=ppt/tags/tag32.xml><?xml version="1.0" encoding="utf-8"?>
<p:tagLst xmlns:p="http://schemas.openxmlformats.org/presentationml/2006/main">
  <p:tag name="KSO_WM_DIAGRAM_VIRTUALLY_FRAME" val="{&quot;height&quot;:195.83999999999997,&quot;left&quot;:528.48,&quot;top&quot;:270,&quot;width&quot;:369.91999999999996}"/>
</p:tagLst>
</file>

<file path=ppt/tags/tag33.xml><?xml version="1.0" encoding="utf-8"?>
<p:tagLst xmlns:p="http://schemas.openxmlformats.org/presentationml/2006/main">
  <p:tag name="KSO_WM_DIAGRAM_VIRTUALLY_FRAME" val="{&quot;height&quot;:195.83999999999997,&quot;left&quot;:528.48,&quot;top&quot;:270,&quot;width&quot;:369.91999999999996}"/>
</p:tagLst>
</file>

<file path=ppt/tags/tag34.xml><?xml version="1.0" encoding="utf-8"?>
<p:tagLst xmlns:p="http://schemas.openxmlformats.org/presentationml/2006/main">
  <p:tag name="KSO_WM_DIAGRAM_VIRTUALLY_FRAME" val="{&quot;height&quot;:195.83999999999997,&quot;left&quot;:528.48,&quot;top&quot;:270,&quot;width&quot;:369.91999999999996}"/>
</p:tagLst>
</file>

<file path=ppt/tags/tag35.xml><?xml version="1.0" encoding="utf-8"?>
<p:tagLst xmlns:p="http://schemas.openxmlformats.org/presentationml/2006/main">
  <p:tag name="KSO_WM_DIAGRAM_VIRTUALLY_FRAME" val="{&quot;height&quot;:258.75,&quot;left&quot;:0,&quot;top&quot;:-0.05,&quot;width&quot;:960}"/>
</p:tagLst>
</file>

<file path=ppt/tags/tag36.xml><?xml version="1.0" encoding="utf-8"?>
<p:tagLst xmlns:p="http://schemas.openxmlformats.org/presentationml/2006/main">
  <p:tag name="TABLE_ENDDRAG_ORIGIN_RECT" val="364*164"/>
  <p:tag name="TABLE_ENDDRAG_RECT" val="41*144*364*164"/>
</p:tagLst>
</file>

<file path=ppt/tags/tag37.xml><?xml version="1.0" encoding="utf-8"?>
<p:tagLst xmlns:p="http://schemas.openxmlformats.org/presentationml/2006/main">
  <p:tag name="TABLE_ENDDRAG_ORIGIN_RECT" val="414*188"/>
  <p:tag name="TABLE_ENDDRAG_RECT" val="252*291*414*188"/>
</p:tagLst>
</file>

<file path=ppt/tags/tag38.xml><?xml version="1.0" encoding="utf-8"?>
<p:tagLst xmlns:p="http://schemas.openxmlformats.org/presentationml/2006/main">
  <p:tag name="TABLE_ENDDRAG_ORIGIN_RECT" val="417*210"/>
  <p:tag name="TABLE_ENDDRAG_RECT" val="403*105*417*210"/>
</p:tagLst>
</file>

<file path=ppt/tags/tag39.xml><?xml version="1.0" encoding="utf-8"?>
<p:tagLst xmlns:p="http://schemas.openxmlformats.org/presentationml/2006/main">
  <p:tag name="KSO_WM_DIAGRAM_VIRTUALLY_FRAME" val="{&quot;height&quot;:481.6,&quot;left&quot;:0,&quot;top&quot;:0,&quot;width&quot;:960}"/>
</p:tagLst>
</file>

<file path=ppt/tags/tag40.xml><?xml version="1.0" encoding="utf-8"?>
<p:tagLst xmlns:p="http://schemas.openxmlformats.org/presentationml/2006/main">
  <p:tag name="KSO_WM_DIAGRAM_VIRTUALLY_FRAME" val="{&quot;height&quot;:481.6,&quot;left&quot;:0,&quot;top&quot;:0,&quot;width&quot;:960}"/>
</p:tagLst>
</file>

<file path=ppt/tags/tag41.xml><?xml version="1.0" encoding="utf-8"?>
<p:tagLst xmlns:p="http://schemas.openxmlformats.org/presentationml/2006/main">
  <p:tag name="KSO_WM_DIAGRAM_VIRTUALLY_FRAME" val="{&quot;height&quot;:481.6,&quot;left&quot;:0,&quot;top&quot;:0,&quot;width&quot;:960}"/>
</p:tagLst>
</file>

<file path=ppt/tags/tag42.xml><?xml version="1.0" encoding="utf-8"?>
<p:tagLst xmlns:p="http://schemas.openxmlformats.org/presentationml/2006/main">
  <p:tag name="KSO_WM_DIAGRAM_VIRTUALLY_FRAME" val="{&quot;height&quot;:481.6,&quot;left&quot;:0,&quot;top&quot;:0,&quot;width&quot;:960}"/>
</p:tagLst>
</file>

<file path=ppt/tags/tag43.xml><?xml version="1.0" encoding="utf-8"?>
<p:tagLst xmlns:p="http://schemas.openxmlformats.org/presentationml/2006/main">
  <p:tag name="KSO_WM_DIAGRAM_VIRTUALLY_FRAME" val="{&quot;height&quot;:481.6,&quot;left&quot;:0,&quot;top&quot;:0,&quot;width&quot;:960}"/>
</p:tagLst>
</file>

<file path=ppt/tags/tag44.xml><?xml version="1.0" encoding="utf-8"?>
<p:tagLst xmlns:p="http://schemas.openxmlformats.org/presentationml/2006/main">
  <p:tag name="KSO_WM_DIAGRAM_VIRTUALLY_FRAME" val="{&quot;height&quot;:481.6,&quot;left&quot;:0,&quot;top&quot;:0,&quot;width&quot;:960}"/>
</p:tagLst>
</file>

<file path=ppt/tags/tag45.xml><?xml version="1.0" encoding="utf-8"?>
<p:tagLst xmlns:p="http://schemas.openxmlformats.org/presentationml/2006/main">
  <p:tag name="KSO_WM_DIAGRAM_VIRTUALLY_FRAME" val="{&quot;height&quot;:481.6,&quot;left&quot;:0,&quot;top&quot;:0,&quot;width&quot;:960}"/>
</p:tagLst>
</file>

<file path=ppt/tags/tag46.xml><?xml version="1.0" encoding="utf-8"?>
<p:tagLst xmlns:p="http://schemas.openxmlformats.org/presentationml/2006/main">
  <p:tag name="KSO_WM_DIAGRAM_VIRTUALLY_FRAME" val="{&quot;height&quot;:481.6,&quot;left&quot;:0,&quot;top&quot;:0,&quot;width&quot;:960}"/>
</p:tagLst>
</file>

<file path=ppt/tags/tag47.xml><?xml version="1.0" encoding="utf-8"?>
<p:tagLst xmlns:p="http://schemas.openxmlformats.org/presentationml/2006/main">
  <p:tag name="KSO_WM_DIAGRAM_VIRTUALLY_FRAME" val="{&quot;height&quot;:481.6,&quot;left&quot;:0,&quot;top&quot;:0,&quot;width&quot;:960}"/>
</p:tagLst>
</file>

<file path=ppt/tags/tag48.xml><?xml version="1.0" encoding="utf-8"?>
<p:tagLst xmlns:p="http://schemas.openxmlformats.org/presentationml/2006/main">
  <p:tag name="KSO_WM_DIAGRAM_VIRTUALLY_FRAME" val="{&quot;height&quot;:481.6,&quot;left&quot;:0,&quot;top&quot;:0,&quot;width&quot;:960}"/>
</p:tagLst>
</file>

<file path=ppt/tags/tag49.xml><?xml version="1.0" encoding="utf-8"?>
<p:tagLst xmlns:p="http://schemas.openxmlformats.org/presentationml/2006/main">
  <p:tag name="KSO_WM_DIAGRAM_VIRTUALLY_FRAME" val="{&quot;height&quot;:481.6,&quot;left&quot;:0,&quot;top&quot;:0,&quot;width&quot;:960}"/>
</p:tagLst>
</file>

<file path=ppt/tags/tag50.xml><?xml version="1.0" encoding="utf-8"?>
<p:tagLst xmlns:p="http://schemas.openxmlformats.org/presentationml/2006/main">
  <p:tag name="KSO_WM_DIAGRAM_VIRTUALLY_FRAME" val="{&quot;height&quot;:481.6,&quot;left&quot;:0,&quot;top&quot;:0,&quot;width&quot;:960}"/>
</p:tagLst>
</file>

<file path=ppt/tags/tag51.xml><?xml version="1.0" encoding="utf-8"?>
<p:tagLst xmlns:p="http://schemas.openxmlformats.org/presentationml/2006/main">
  <p:tag name="KSO_WM_DIAGRAM_VIRTUALLY_FRAME" val="{&quot;height&quot;:481.6,&quot;left&quot;:0,&quot;top&quot;:0,&quot;width&quot;:960}"/>
</p:tagLst>
</file>

<file path=ppt/tags/tag52.xml><?xml version="1.0" encoding="utf-8"?>
<p:tagLst xmlns:p="http://schemas.openxmlformats.org/presentationml/2006/main">
  <p:tag name="KSO_WM_DIAGRAM_VIRTUALLY_FRAME" val="{&quot;height&quot;:481.6,&quot;left&quot;:0,&quot;top&quot;:0,&quot;width&quot;:960}"/>
</p:tagLst>
</file>

<file path=ppt/tags/tag53.xml><?xml version="1.0" encoding="utf-8"?>
<p:tagLst xmlns:p="http://schemas.openxmlformats.org/presentationml/2006/main">
  <p:tag name="KSO_WM_DIAGRAM_VIRTUALLY_FRAME" val="{&quot;height&quot;:481.6,&quot;left&quot;:0,&quot;top&quot;:0,&quot;width&quot;:960}"/>
</p:tagLst>
</file>

<file path=ppt/tags/tag54.xml><?xml version="1.0" encoding="utf-8"?>
<p:tagLst xmlns:p="http://schemas.openxmlformats.org/presentationml/2006/main">
  <p:tag name="MH" val="20151121191650"/>
  <p:tag name="MH_LIBRARY" val="GRAPHIC"/>
  <p:tag name="MH_TYPE" val="Other"/>
  <p:tag name="MH_ORDER" val="8"/>
</p:tagLst>
</file>

<file path=ppt/tags/tag55.xml><?xml version="1.0" encoding="utf-8"?>
<p:tagLst xmlns:p="http://schemas.openxmlformats.org/presentationml/2006/main">
  <p:tag name="MH" val="20151121191650"/>
  <p:tag name="MH_LIBRARY" val="GRAPHIC"/>
  <p:tag name="MH_TYPE" val="Other"/>
  <p:tag name="MH_ORDER" val="8"/>
</p:tagLst>
</file>

<file path=ppt/theme/theme1.xml><?xml version="1.0" encoding="utf-8"?>
<a:theme xmlns:a="http://schemas.openxmlformats.org/drawingml/2006/main" name="Office 主题​​">
  <a:themeElements>
    <a:clrScheme name="蓝绿色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6672</Words>
  <Application>WPS 演示</Application>
  <PresentationFormat>宽屏</PresentationFormat>
  <Paragraphs>629</Paragraphs>
  <Slides>19</Slides>
  <Notes>31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Impact MT Std</vt:lpstr>
      <vt:lpstr>等线</vt:lpstr>
      <vt:lpstr>Arial Unicode MS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答辩-19</dc:title>
  <dc:creator>LP</dc:creator>
  <cp:lastModifiedBy>把酒祝东风</cp:lastModifiedBy>
  <cp:revision>124</cp:revision>
  <dcterms:created xsi:type="dcterms:W3CDTF">2016-11-24T09:20:00Z</dcterms:created>
  <dcterms:modified xsi:type="dcterms:W3CDTF">2026-06-21T08:02:49Z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2CA8020DE5AC4EC2872812A7E5E3C6E9_13</vt:lpwstr>
  </property>
</Properties>
</file>